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19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7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_rels/presentation.xml.rels" ContentType="application/vnd.openxmlformats-package.relationships+xml"/>
  <Override PartName="/ppt/media/image1.gif" ContentType="image/gif"/>
  <Override PartName="/ppt/media/image2.jpeg" ContentType="image/jpeg"/>
  <Override PartName="/ppt/media/image3.png" ContentType="image/png"/>
  <Override PartName="/ppt/media/image9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png" ContentType="image/png"/>
  <Override PartName="/ppt/media/image11.png" ContentType="image/png"/>
  <Override PartName="/ppt/media/image12.jpeg" ContentType="image/jpeg"/>
  <Override PartName="/ppt/media/image8.png" ContentType="image/png"/>
  <Override PartName="/ppt/media/image10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9040" cy="159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8960" cy="487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9040" cy="380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71CE4B-7DF6-497C-A781-6BE5005DEDE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23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9040" cy="159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8960" cy="487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9040" cy="380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C78D6E-3A5D-4974-82F6-D7867F5FFC6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23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0760" cy="238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4B7076D-049F-4CAC-88AB-35F5B282E0F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23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2360" cy="43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91EB33-5203-46F1-BADB-494B23692C7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23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5840" cy="580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1000" cy="580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C958BE-535E-456A-9F03-16A7B132D5B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23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2360" cy="43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BDAFF06-4423-49DD-AC08-8E37A0A56B5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23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2360" cy="284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2360" cy="149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C1F6720-9564-488F-8E22-19359D85F07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23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8240" cy="43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8240" cy="43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ACDCA9-24E2-4075-8DBE-1DB85AC0432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23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4480" cy="82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4480" cy="368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0040" cy="82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0040" cy="368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3943C1-5A9D-4CAA-8AB3-B2CE2BCBAE4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23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46869DC-E870-482E-8DA1-5E752A7B733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23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28746D-6BDF-4406-BBC3-48985E13E98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23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1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image" Target="../media/image6.jpeg"/><Relationship Id="rId4" Type="http://schemas.openxmlformats.org/officeDocument/2006/relationships/slideLayout" Target="../slideLayouts/slideLayout1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image" Target="../media/image9.jpeg"/><Relationship Id="rId4" Type="http://schemas.openxmlformats.org/officeDocument/2006/relationships/slideLayout" Target="../slideLayouts/slideLayout1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image" Target="../media/image12.jpeg"/><Relationship Id="rId4" Type="http://schemas.openxmlformats.org/officeDocument/2006/relationships/slideLayout" Target="../slideLayouts/slideLayout1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Rectangle 5"/>
          <p:cNvSpPr/>
          <p:nvPr/>
        </p:nvSpPr>
        <p:spPr>
          <a:xfrm>
            <a:off x="5141520" y="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6"/>
          <p:cNvSpPr/>
          <p:nvPr/>
        </p:nvSpPr>
        <p:spPr>
          <a:xfrm>
            <a:off x="5294520" y="646200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7"/>
          <p:cNvSpPr/>
          <p:nvPr/>
        </p:nvSpPr>
        <p:spPr>
          <a:xfrm>
            <a:off x="-59040" y="865080"/>
            <a:ext cx="12188880" cy="548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endParaRPr b="0" lang="en-US" sz="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MANAGEMENT OF OESTEOARTHRITIS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BY </a:t>
            </a:r>
            <a:br>
              <a:rPr sz="2400"/>
            </a:b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SMMA AMOKE KC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M6369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br>
              <a:rPr sz="2400"/>
            </a:b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THE DEPARTMENT OF PHARMACY TECHNICIAN </a:t>
            </a:r>
            <a:br>
              <a:rPr sz="2400"/>
            </a:b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NIGERIAN NAVY COLLEGE OF HEALTH SCIENCES OFFA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KWARA STATE      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JUN 25</a:t>
            </a:r>
            <a:br>
              <a:rPr sz="2400"/>
            </a:b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8"/>
          <p:cNvSpPr/>
          <p:nvPr/>
        </p:nvSpPr>
        <p:spPr>
          <a:xfrm>
            <a:off x="1729800" y="356400"/>
            <a:ext cx="8177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SEMINAR PRESENTATION ON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1"/>
          <p:cNvSpPr/>
          <p:nvPr/>
        </p:nvSpPr>
        <p:spPr>
          <a:xfrm>
            <a:off x="5151960" y="2544480"/>
            <a:ext cx="1825560" cy="182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3203280" y="2517480"/>
            <a:ext cx="1825560" cy="182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Num" idx="34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F917B3-65F0-4B7F-8926-79CC10CCD0FC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8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Rectangle 5"/>
          <p:cNvSpPr/>
          <p:nvPr/>
        </p:nvSpPr>
        <p:spPr>
          <a:xfrm>
            <a:off x="5141520" y="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6"/>
          <p:cNvSpPr/>
          <p:nvPr/>
        </p:nvSpPr>
        <p:spPr>
          <a:xfrm>
            <a:off x="5294520" y="646200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2"/>
          <p:cNvSpPr/>
          <p:nvPr/>
        </p:nvSpPr>
        <p:spPr>
          <a:xfrm>
            <a:off x="4239720" y="2820960"/>
            <a:ext cx="4200120" cy="6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INTRODUCTION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D173CB2-9594-467F-AF5E-F7018D5F80CB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4" name="Picture 28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29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Rectangle 58"/>
          <p:cNvSpPr/>
          <p:nvPr/>
        </p:nvSpPr>
        <p:spPr>
          <a:xfrm>
            <a:off x="5288760" y="0"/>
            <a:ext cx="1528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59"/>
          <p:cNvSpPr/>
          <p:nvPr/>
        </p:nvSpPr>
        <p:spPr>
          <a:xfrm>
            <a:off x="5441760" y="6462000"/>
            <a:ext cx="1528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3"/>
          <a:stretch/>
        </p:blipFill>
        <p:spPr>
          <a:xfrm>
            <a:off x="2667240" y="1143000"/>
            <a:ext cx="6932880" cy="460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C81977-A0D0-42F2-9597-C6EBEEC0F3EC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0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Rectangle 5"/>
          <p:cNvSpPr/>
          <p:nvPr/>
        </p:nvSpPr>
        <p:spPr>
          <a:xfrm>
            <a:off x="5141520" y="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6"/>
          <p:cNvSpPr/>
          <p:nvPr/>
        </p:nvSpPr>
        <p:spPr>
          <a:xfrm>
            <a:off x="5294520" y="646200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7"/>
          <p:cNvSpPr/>
          <p:nvPr/>
        </p:nvSpPr>
        <p:spPr>
          <a:xfrm>
            <a:off x="5436720" y="325800"/>
            <a:ext cx="1155960" cy="6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AIM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2"/>
          <p:cNvSpPr/>
          <p:nvPr/>
        </p:nvSpPr>
        <p:spPr>
          <a:xfrm>
            <a:off x="64080" y="972000"/>
            <a:ext cx="1212444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THE AIM OF THIS SEMINAR PRESENTATION  IS TO ACQUAINT THE AUDIENCE ON MANAGEMENT OF OSTEOARTHRITIS WITH A VIEW TO MAKING RECOMMENDATIONS.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Num" idx="37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B71E71-6B3C-4ACD-95E0-CD4E9219E318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7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Rectangle 5"/>
          <p:cNvSpPr/>
          <p:nvPr/>
        </p:nvSpPr>
        <p:spPr>
          <a:xfrm>
            <a:off x="5141520" y="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6"/>
          <p:cNvSpPr/>
          <p:nvPr/>
        </p:nvSpPr>
        <p:spPr>
          <a:xfrm>
            <a:off x="5294520" y="646200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7"/>
          <p:cNvSpPr/>
          <p:nvPr/>
        </p:nvSpPr>
        <p:spPr>
          <a:xfrm>
            <a:off x="5052240" y="325800"/>
            <a:ext cx="1925640" cy="6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SCOPE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8"/>
          <p:cNvSpPr/>
          <p:nvPr/>
        </p:nvSpPr>
        <p:spPr>
          <a:xfrm>
            <a:off x="112320" y="1064160"/>
            <a:ext cx="1218888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1. DEFINITION OF TERMS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2. EPIDEMIOLOGY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3. PATHOPHYSIOLOGY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4. CAUSES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5. RISK FACTORS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6. SYMPTOMS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7. DIAGNOSIS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8. MANAGEMENT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	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8E2448-7E0A-475D-BC59-43CA471A86FA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94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Rectangle 5"/>
          <p:cNvSpPr/>
          <p:nvPr/>
        </p:nvSpPr>
        <p:spPr>
          <a:xfrm>
            <a:off x="5141520" y="2088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6"/>
          <p:cNvSpPr/>
          <p:nvPr/>
        </p:nvSpPr>
        <p:spPr>
          <a:xfrm>
            <a:off x="5294520" y="646200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2"/>
          <p:cNvSpPr/>
          <p:nvPr/>
        </p:nvSpPr>
        <p:spPr>
          <a:xfrm>
            <a:off x="3521160" y="182880"/>
            <a:ext cx="52768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DEFINITION OF TERMS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8"/>
          <p:cNvSpPr/>
          <p:nvPr/>
        </p:nvSpPr>
        <p:spPr>
          <a:xfrm>
            <a:off x="112320" y="986040"/>
            <a:ext cx="11921040" cy="621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OSTEOARTHRITIS (OA)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CARTILAGE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SYNOVIAL FLUID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OSTEOPHYTES (BONE SPURS)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5.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CREPITUS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6.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SUBCHONDRAL BONE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7.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DEGENERATION</a:t>
            </a: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Noto Sans CJK SC"/>
              </a:rPr>
              <a:t>	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97BF023-AF94-4C86-943C-E27E910399A2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01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Rectangle 5"/>
          <p:cNvSpPr/>
          <p:nvPr/>
        </p:nvSpPr>
        <p:spPr>
          <a:xfrm>
            <a:off x="5141520" y="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6"/>
          <p:cNvSpPr/>
          <p:nvPr/>
        </p:nvSpPr>
        <p:spPr>
          <a:xfrm>
            <a:off x="5294520" y="646200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7"/>
          <p:cNvSpPr/>
          <p:nvPr/>
        </p:nvSpPr>
        <p:spPr>
          <a:xfrm>
            <a:off x="4257000" y="86400"/>
            <a:ext cx="38030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EPIDEMIOLOGY 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2"/>
          <p:cNvSpPr/>
          <p:nvPr/>
        </p:nvSpPr>
        <p:spPr>
          <a:xfrm>
            <a:off x="154440" y="1143000"/>
            <a:ext cx="12188880" cy="50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AS OF 2019, THE GLOBAL CASES OF THE KNEE AND HIP OA WERE APPROXIMATELY 364.6 MILLION AND 33 MILLION, RESPECTIVELY, WITH AN ESTIMATED ANNUAL INCREASE RATE OF 0.3% FOR BOTH TYPES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THE OVERALL PREVALENCE OF OSTEOARTHRITIS IN NIGERIA WAS LOWER THAN THE GLOBAL AVERAGE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THE ESTIMATED INCREASE IN CASES OF OA IN  NIGERIA FROM 1999 TO 2019 WAS BETWEEN 100 AND 150%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Num" idx="40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79318E-BA5F-4858-826E-974790A4E209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08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Rectangle 5"/>
          <p:cNvSpPr/>
          <p:nvPr/>
        </p:nvSpPr>
        <p:spPr>
          <a:xfrm>
            <a:off x="5141520" y="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6"/>
          <p:cNvSpPr/>
          <p:nvPr/>
        </p:nvSpPr>
        <p:spPr>
          <a:xfrm>
            <a:off x="5294520" y="646200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7"/>
          <p:cNvSpPr/>
          <p:nvPr/>
        </p:nvSpPr>
        <p:spPr>
          <a:xfrm>
            <a:off x="3781440" y="93600"/>
            <a:ext cx="4756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PATHOPHYSIOLOGY 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2"/>
          <p:cNvSpPr/>
          <p:nvPr/>
        </p:nvSpPr>
        <p:spPr>
          <a:xfrm>
            <a:off x="36000" y="1145520"/>
            <a:ext cx="12033360" cy="50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15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IN HEALTHY JOINTS, TWO BONES ARTICULATE WITH ONE ANOTHER SEPARATED BY SHOCK-ABSORBING CARTILAGE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WHEN JOINTS ARE SUBJECTED TO LARGE LOADS OR IMPACT, THE CARTILAGE AND BONE MAY BE DAMAGED.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NUMEROUS REPAIR MECHANISMS ATTEMPT TO RESTORE NORMAL FUNCTION WITHIN THE DAMAGED JOINT TO ENSURE THE JOINT CONTINUES TO DISSIPATE LOAD CORRECTLY.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164DBE-24E5-40DD-B388-81DD3E84E373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15" name="Picture 26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Picture 27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Rectangle 54"/>
          <p:cNvSpPr/>
          <p:nvPr/>
        </p:nvSpPr>
        <p:spPr>
          <a:xfrm>
            <a:off x="5288760" y="0"/>
            <a:ext cx="1528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55"/>
          <p:cNvSpPr/>
          <p:nvPr/>
        </p:nvSpPr>
        <p:spPr>
          <a:xfrm>
            <a:off x="5441760" y="6462000"/>
            <a:ext cx="1528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56"/>
          <p:cNvSpPr/>
          <p:nvPr/>
        </p:nvSpPr>
        <p:spPr>
          <a:xfrm>
            <a:off x="2819520" y="93600"/>
            <a:ext cx="66819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PATHOPHYSIOLOGY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57"/>
          <p:cNvSpPr/>
          <p:nvPr/>
        </p:nvSpPr>
        <p:spPr>
          <a:xfrm>
            <a:off x="36000" y="1001880"/>
            <a:ext cx="6821640" cy="49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15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THIS RESULTS IN A CYCLE OF BIOMECHANICAL AND BIOCHEMICAL DEGENERATION, WHERE THE SHOCK-ABSORBING CARTILAGE IS PROGRESSIVELY DESTROYED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5.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THIS EXPOSES THE BONE TO GREATER LOAD AND LEADING TO BONE DAMAGE (BONE MARROW LESIONS)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3"/>
          <a:stretch/>
        </p:blipFill>
        <p:spPr>
          <a:xfrm>
            <a:off x="6966720" y="1143000"/>
            <a:ext cx="4691520" cy="4244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060AE5-8E50-4F64-81BC-42AC9A5EDFC6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23" name="Picture 38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Picture 39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Rectangle 78"/>
          <p:cNvSpPr/>
          <p:nvPr/>
        </p:nvSpPr>
        <p:spPr>
          <a:xfrm>
            <a:off x="5288400" y="0"/>
            <a:ext cx="152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79"/>
          <p:cNvSpPr/>
          <p:nvPr/>
        </p:nvSpPr>
        <p:spPr>
          <a:xfrm>
            <a:off x="5441400" y="6462000"/>
            <a:ext cx="152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80"/>
          <p:cNvSpPr/>
          <p:nvPr/>
        </p:nvSpPr>
        <p:spPr>
          <a:xfrm>
            <a:off x="2820240" y="93600"/>
            <a:ext cx="66819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PATHOPHYSIOLOGY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81"/>
          <p:cNvSpPr/>
          <p:nvPr/>
        </p:nvSpPr>
        <p:spPr>
          <a:xfrm>
            <a:off x="36000" y="1145520"/>
            <a:ext cx="12033360" cy="16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15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3"/>
          <a:stretch/>
        </p:blipFill>
        <p:spPr>
          <a:xfrm>
            <a:off x="1878120" y="1371600"/>
            <a:ext cx="8179920" cy="4244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Num" idx="43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0B55AB-DC67-43A2-A135-2073CF572BFE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31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Rectangle 5"/>
          <p:cNvSpPr/>
          <p:nvPr/>
        </p:nvSpPr>
        <p:spPr>
          <a:xfrm>
            <a:off x="5141520" y="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6"/>
          <p:cNvSpPr/>
          <p:nvPr/>
        </p:nvSpPr>
        <p:spPr>
          <a:xfrm>
            <a:off x="5294520" y="646200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7"/>
          <p:cNvSpPr/>
          <p:nvPr/>
        </p:nvSpPr>
        <p:spPr>
          <a:xfrm>
            <a:off x="5211000" y="182880"/>
            <a:ext cx="18950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CAUSES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2"/>
          <p:cNvSpPr/>
          <p:nvPr/>
        </p:nvSpPr>
        <p:spPr>
          <a:xfrm>
            <a:off x="112320" y="1104120"/>
            <a:ext cx="1207656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OSTEOARTHRITIS CAN AFFECT WEIGHT-BEARING AND NON-WEIGHT-BEARING JOINTS, AND MAY INVOLVE SINGLE OR MULTIPLE JOINTS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THE EXACT ETIOLOGY OF OSTEOARTHRITIS IS UNKNOWN HOWEVER THERE ARE RISK FACTORS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AD312C-0CB8-45DF-8230-BB0FA5432DA3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38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Rectangle 5"/>
          <p:cNvSpPr/>
          <p:nvPr/>
        </p:nvSpPr>
        <p:spPr>
          <a:xfrm>
            <a:off x="5141520" y="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6"/>
          <p:cNvSpPr/>
          <p:nvPr/>
        </p:nvSpPr>
        <p:spPr>
          <a:xfrm>
            <a:off x="5294520" y="646200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7"/>
          <p:cNvSpPr/>
          <p:nvPr/>
        </p:nvSpPr>
        <p:spPr>
          <a:xfrm>
            <a:off x="4487760" y="182880"/>
            <a:ext cx="33426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RISK FACTORS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2"/>
          <p:cNvSpPr/>
          <p:nvPr/>
        </p:nvSpPr>
        <p:spPr>
          <a:xfrm>
            <a:off x="38160" y="1144800"/>
            <a:ext cx="12076560" cy="50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1. AGE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2. TRAUMA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3. OCCUPATION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4. EXERCISE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5. GENDER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6. GENETICS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7. OVERWEIGHT AND OBESITY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8. DIET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9. BONE DENSITY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48E82EF-F2D3-4171-A954-8EED87055BB6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45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Rectangle 5"/>
          <p:cNvSpPr/>
          <p:nvPr/>
        </p:nvSpPr>
        <p:spPr>
          <a:xfrm>
            <a:off x="5141520" y="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6"/>
          <p:cNvSpPr/>
          <p:nvPr/>
        </p:nvSpPr>
        <p:spPr>
          <a:xfrm>
            <a:off x="5294520" y="646200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2"/>
          <p:cNvSpPr/>
          <p:nvPr/>
        </p:nvSpPr>
        <p:spPr>
          <a:xfrm>
            <a:off x="36000" y="1143000"/>
            <a:ext cx="12033360" cy="39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1. PAIN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2. STIFFNESS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3. TENDERNESS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4. LOSS OF FLEXIBILITY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5. GRATING SENSATION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6. BONE SPURS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7. SWELLING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8"/>
          <p:cNvSpPr/>
          <p:nvPr/>
        </p:nvSpPr>
        <p:spPr>
          <a:xfrm>
            <a:off x="3471120" y="45360"/>
            <a:ext cx="53769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SIGNS AND SYMPTOMS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72"/>
          <p:cNvSpPr/>
          <p:nvPr/>
        </p:nvSpPr>
        <p:spPr>
          <a:xfrm>
            <a:off x="5257800" y="5259240"/>
            <a:ext cx="662904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AN IMAGE SHOWING THE SIGNS AND SYMPTOMS OF OA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" descr=""/>
          <p:cNvPicPr/>
          <p:nvPr/>
        </p:nvPicPr>
        <p:blipFill>
          <a:blip r:embed="rId3"/>
          <a:stretch/>
        </p:blipFill>
        <p:spPr>
          <a:xfrm>
            <a:off x="6400800" y="1143000"/>
            <a:ext cx="4920120" cy="388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Num" idx="46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69059A-FD25-472C-801C-F04B5D1D64DF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54" name="Picture 1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Picture 2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Rectangle 1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3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4"/>
          <p:cNvSpPr/>
          <p:nvPr/>
        </p:nvSpPr>
        <p:spPr>
          <a:xfrm>
            <a:off x="36000" y="929880"/>
            <a:ext cx="12033360" cy="39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THE DIAGNOSIS OF OSTEOARTHRITIS IS BASED ON SEVERAL FACTORS SUCH AS: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AGE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HISTORY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SYMPTOMS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LABORATORY TESTS TO RULE OUT OTHER DISEASES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5.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IMAGING TESTS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9"/>
          <p:cNvSpPr/>
          <p:nvPr/>
        </p:nvSpPr>
        <p:spPr>
          <a:xfrm>
            <a:off x="4786920" y="45360"/>
            <a:ext cx="27453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DIAGNOSIS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2"/>
          <p:cNvSpPr/>
          <p:nvPr/>
        </p:nvSpPr>
        <p:spPr>
          <a:xfrm>
            <a:off x="0" y="1371600"/>
            <a:ext cx="12033360" cy="50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OSTEOARTHRITIS IS MANAGED SYMPTOMATICALLY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THERE IS NO PHARMACOLOGICAL AGENT CAPABLE OF RETARDING THE PROGRESSION OF OSTEOARTHRITIS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TREATMENT IS FOCUSED ON RELIEF OF PAIN,  MAINTENANCE OF QUALITY OF LIFE, AND PRESERVATION OF FUNCTIONAL INDEPENDENCE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MANAGEMENT OF OA IS DIVIDED INTO NON PHARMACOLOGICAL, PHARMACOLOGICAL AND SURGICAL PROCEDURES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1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3666139-C4C0-4E36-A653-3DF4D1605858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62" name="Picture 3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Picture 5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Rectangle 10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11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13"/>
          <p:cNvSpPr/>
          <p:nvPr/>
        </p:nvSpPr>
        <p:spPr>
          <a:xfrm>
            <a:off x="4402440" y="45360"/>
            <a:ext cx="35157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MANAGEMENT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2895E9-C995-4555-942D-C3298ABC0883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68" name="Picture 6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Picture 7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Rectangle 14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15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16"/>
          <p:cNvSpPr/>
          <p:nvPr/>
        </p:nvSpPr>
        <p:spPr>
          <a:xfrm>
            <a:off x="81360" y="1371600"/>
            <a:ext cx="1203336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1.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WEIGHT MANAGEMENT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2.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EXERCISE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3.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MASSAGE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4.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HEAT AND COLD THERAPY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5.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PATIENT EDUCATION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17"/>
          <p:cNvSpPr/>
          <p:nvPr/>
        </p:nvSpPr>
        <p:spPr>
          <a:xfrm>
            <a:off x="1410840" y="45360"/>
            <a:ext cx="95029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NON-PHARMACOLOGICAL MANAGEMENT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Num" idx="49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A23EF6-B31C-4460-96EA-15506CC05665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75" name="Picture 8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Picture 9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Rectangle 18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19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20"/>
          <p:cNvSpPr/>
          <p:nvPr/>
        </p:nvSpPr>
        <p:spPr>
          <a:xfrm>
            <a:off x="80640" y="1168200"/>
            <a:ext cx="1203336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1.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ACETAMINOPHEN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2.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NON-STEROIDAL ANTI-INFLAMMATORY AGENTS (NSAIDS)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3.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TOPICAL AGENTS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4.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OPIOID ANALGESICS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5.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STEROID INJECTIONS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21"/>
          <p:cNvSpPr/>
          <p:nvPr/>
        </p:nvSpPr>
        <p:spPr>
          <a:xfrm>
            <a:off x="2035800" y="45360"/>
            <a:ext cx="82515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5366FD-D670-4E9F-A0D2-DD564E081BE4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82" name="Picture 10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Picture 11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Rectangle 22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23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24"/>
          <p:cNvSpPr/>
          <p:nvPr/>
        </p:nvSpPr>
        <p:spPr>
          <a:xfrm>
            <a:off x="36000" y="929880"/>
            <a:ext cx="1203336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ACETAMINOPHEN (PARACETAMOL)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25"/>
          <p:cNvSpPr/>
          <p:nvPr/>
        </p:nvSpPr>
        <p:spPr>
          <a:xfrm>
            <a:off x="904680" y="1728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8" name="" descr=""/>
          <p:cNvPicPr/>
          <p:nvPr/>
        </p:nvPicPr>
        <p:blipFill>
          <a:blip r:embed="rId3"/>
          <a:stretch/>
        </p:blipFill>
        <p:spPr>
          <a:xfrm>
            <a:off x="685800" y="1828800"/>
            <a:ext cx="10971720" cy="4342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Num" idx="51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492732-2247-4266-81FF-19AB79D3A0FD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90" name="Picture 18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Picture 19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Rectangle 38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39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40"/>
          <p:cNvSpPr/>
          <p:nvPr/>
        </p:nvSpPr>
        <p:spPr>
          <a:xfrm>
            <a:off x="36000" y="929880"/>
            <a:ext cx="12033360" cy="457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 </a:t>
            </a: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ACETAMINOPHEN (PARACETAMOL)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THIS IS THE FIRST LINE OF DRUG THERAPY IN OSTEOARTHRITIS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MOA: ACETAMINOPHEN'S EXACT MECHANISM OF ACTION HAS NOT BEEN FULLY ESTABLISHED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SIDE EFFECTS: HEPATOTOXICITY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DOSAGE: 3g-4g DAILY IN DIVIDED DOSES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41"/>
          <p:cNvSpPr/>
          <p:nvPr/>
        </p:nvSpPr>
        <p:spPr>
          <a:xfrm>
            <a:off x="1013400" y="4536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Num" idx="5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5A55C4-FAF4-4F73-AFF7-C5DA59C940AF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97" name="Picture 12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Picture 13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Rectangle 26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27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28"/>
          <p:cNvSpPr/>
          <p:nvPr/>
        </p:nvSpPr>
        <p:spPr>
          <a:xfrm>
            <a:off x="36000" y="929880"/>
            <a:ext cx="1203336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NON-STEROIDAL ANTI-INFLAMMATORY AGENTS (NSAIDS)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29"/>
          <p:cNvSpPr/>
          <p:nvPr/>
        </p:nvSpPr>
        <p:spPr>
          <a:xfrm>
            <a:off x="1013400" y="4536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3" name="" descr=""/>
          <p:cNvPicPr/>
          <p:nvPr/>
        </p:nvPicPr>
        <p:blipFill>
          <a:blip r:embed="rId3"/>
          <a:stretch/>
        </p:blipFill>
        <p:spPr>
          <a:xfrm>
            <a:off x="1828800" y="1828800"/>
            <a:ext cx="8915040" cy="388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Rectangle 85"/>
          <p:cNvSpPr/>
          <p:nvPr/>
        </p:nvSpPr>
        <p:spPr>
          <a:xfrm>
            <a:off x="2286000" y="5777640"/>
            <a:ext cx="9975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n-US" sz="20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AN IMAGE SHOWING A PACK OF DICLOFENAL INJECTIONS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583F045-1232-4051-93DC-52C5C7CB3500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06" name="Picture 20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7" name="Picture 21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Rectangle 42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43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44"/>
          <p:cNvSpPr/>
          <p:nvPr/>
        </p:nvSpPr>
        <p:spPr>
          <a:xfrm>
            <a:off x="36000" y="929880"/>
            <a:ext cx="12033360" cy="45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 </a:t>
            </a: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NON-STEROIDAL ANTI-INFLAMMATORY AGENTS (NSAIDS)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EXAMPLES: IBUPROFEN, NAPROXEN, DICLOFENAC, CELECOXIB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MOA: THEY INHIBIT COX-1 AND COX-2 ENZYMES WHICH ARE INVOLVED IN PROSTAGLANDIN SYNTHESIS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SIDE EFFECTS: PEPTIC ULCER, NEPHROTOXICITY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CAUTION: CO-PRESCRIPTION OF PROTON PUMP INHIBITORS (PPIS) IS ADVISED FOR HIGH-RISK PATIENTS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Rectangle 45"/>
          <p:cNvSpPr/>
          <p:nvPr/>
        </p:nvSpPr>
        <p:spPr>
          <a:xfrm>
            <a:off x="1013400" y="4536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Num" idx="54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825C07-6A00-424B-9305-6F35BC68FBFD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13" name="Picture 1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Picture 15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Rectangle 30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31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32"/>
          <p:cNvSpPr/>
          <p:nvPr/>
        </p:nvSpPr>
        <p:spPr>
          <a:xfrm>
            <a:off x="36000" y="929880"/>
            <a:ext cx="1203336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TOPICAL AGENTS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33"/>
          <p:cNvSpPr/>
          <p:nvPr/>
        </p:nvSpPr>
        <p:spPr>
          <a:xfrm>
            <a:off x="1013400" y="4536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9" name="" descr=""/>
          <p:cNvPicPr/>
          <p:nvPr/>
        </p:nvPicPr>
        <p:blipFill>
          <a:blip r:embed="rId3"/>
          <a:stretch/>
        </p:blipFill>
        <p:spPr>
          <a:xfrm>
            <a:off x="1600200" y="1828800"/>
            <a:ext cx="9371520" cy="411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Rectangle 84"/>
          <p:cNvSpPr/>
          <p:nvPr/>
        </p:nvSpPr>
        <p:spPr>
          <a:xfrm>
            <a:off x="2971800" y="6006240"/>
            <a:ext cx="6400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n-US" sz="20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AN IMAGE SHOWING AN ASPIRIN CREAM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Num" idx="5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3FF085-1C4B-4B42-A403-CE3319DDD0D5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22" name="Picture 2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Picture 25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Rectangle 50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Rectangle 51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52"/>
          <p:cNvSpPr/>
          <p:nvPr/>
        </p:nvSpPr>
        <p:spPr>
          <a:xfrm>
            <a:off x="36000" y="929880"/>
            <a:ext cx="12033360" cy="49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TOPICAL AGENTS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TOPICAL TREATMENTS ARE USEFUL FOR LOCALIZED OA PAIN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THEY ARE SAFER ALTERNATIVE FOR ELDERLY PATIENTS OR THOSE WITH SYSTEMIC RISK FACTORS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EXAMPLES: CAPSAICIN CREAM, DICLOFENAC GEL, ASPIRIN CREAMS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SIDE EFFECTS: SKIN IRRITATION, BURNING SENSATION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5.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CAUTION: PREFERRED IN OLDER ADULTS OR THOSE WITH CONTRAINDICATIONS TO ORAL NSAIDS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53"/>
          <p:cNvSpPr/>
          <p:nvPr/>
        </p:nvSpPr>
        <p:spPr>
          <a:xfrm>
            <a:off x="1013400" y="4536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Num" idx="56"/>
          </p:nvPr>
        </p:nvSpPr>
        <p:spPr>
          <a:xfrm>
            <a:off x="8915400" y="6400800"/>
            <a:ext cx="24350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F754EB-BFEC-4E68-AAB7-78D641F35410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29" name="Picture 16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0" name="Picture 17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Rectangle 34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35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Rectangle 36"/>
          <p:cNvSpPr/>
          <p:nvPr/>
        </p:nvSpPr>
        <p:spPr>
          <a:xfrm>
            <a:off x="36000" y="686880"/>
            <a:ext cx="1203336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OPIOID ANALGESICS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37"/>
          <p:cNvSpPr/>
          <p:nvPr/>
        </p:nvSpPr>
        <p:spPr>
          <a:xfrm>
            <a:off x="1013400" y="4536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5" name="" descr=""/>
          <p:cNvPicPr/>
          <p:nvPr/>
        </p:nvPicPr>
        <p:blipFill>
          <a:blip r:embed="rId3"/>
          <a:stretch/>
        </p:blipFill>
        <p:spPr>
          <a:xfrm>
            <a:off x="2781720" y="1600200"/>
            <a:ext cx="7504200" cy="434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Rectangle 83"/>
          <p:cNvSpPr/>
          <p:nvPr/>
        </p:nvSpPr>
        <p:spPr>
          <a:xfrm>
            <a:off x="3053880" y="6006240"/>
            <a:ext cx="83757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n-US" sz="20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AN IMAGE SHOWING A BOTTLE OF CODEINE PHOSPHATE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Num" idx="57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701728-7EB2-454A-ADD7-6AF1B54CE2CD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38" name="Picture 22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9" name="Picture 23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Rectangle 46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47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Rectangle 48"/>
          <p:cNvSpPr/>
          <p:nvPr/>
        </p:nvSpPr>
        <p:spPr>
          <a:xfrm>
            <a:off x="36000" y="929880"/>
            <a:ext cx="12033360" cy="50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OPIOID ANALGESICS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EXAMPLES: TRAMADOL, CODEINE, MORPHINE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MOA: BIND TO OPIOID RECEPTORS IN THE CENTRAL NERVOUS SYSTEM TO BLOCK PAIN SIGNALS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SIDE EFFECTS: CONSTIPATION, DEPENDENCE, ADDICTION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CAUTION: THEY SHOULD BE USED ONLY WHEN ABSOLUTELY NECESSARY, AT THE LOWEST EFFECTIVE DOSE AND FOR THE SHORTEST POSSIBLE DURATION, UNDER CLOSE SUPERVISION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Rectangle 49"/>
          <p:cNvSpPr/>
          <p:nvPr/>
        </p:nvSpPr>
        <p:spPr>
          <a:xfrm>
            <a:off x="1013400" y="4536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Num" idx="58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D8873E2-BF4F-4373-ABC3-B3FE1415A548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45" name="Picture 30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6" name="Picture 31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Rectangle 60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61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62"/>
          <p:cNvSpPr/>
          <p:nvPr/>
        </p:nvSpPr>
        <p:spPr>
          <a:xfrm>
            <a:off x="36000" y="929880"/>
            <a:ext cx="1203336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STEROID INJECTIONS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63"/>
          <p:cNvSpPr/>
          <p:nvPr/>
        </p:nvSpPr>
        <p:spPr>
          <a:xfrm>
            <a:off x="1013400" y="4536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1" name="" descr=""/>
          <p:cNvPicPr/>
          <p:nvPr/>
        </p:nvPicPr>
        <p:blipFill>
          <a:blip r:embed="rId3"/>
          <a:stretch/>
        </p:blipFill>
        <p:spPr>
          <a:xfrm>
            <a:off x="2514600" y="1828800"/>
            <a:ext cx="7314480" cy="41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Rectangle 82"/>
          <p:cNvSpPr/>
          <p:nvPr/>
        </p:nvSpPr>
        <p:spPr>
          <a:xfrm>
            <a:off x="1828800" y="5943600"/>
            <a:ext cx="9975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n-US" sz="20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AN IMAGE SHOWING A VIAL OF METHYLPREDNISOLONE INJECTION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6207A5-C563-4E97-96B8-EFFE87005165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54" name="Picture 32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5" name="Picture 33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Rectangle 64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Rectangle 65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Rectangle 66"/>
          <p:cNvSpPr/>
          <p:nvPr/>
        </p:nvSpPr>
        <p:spPr>
          <a:xfrm>
            <a:off x="36000" y="929880"/>
            <a:ext cx="12033360" cy="45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STEROID INJECTIONS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EXAMPLES: METHYLPREDNISOLONE, HYDROCORTISOL, TRIAMCINOLONE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MOA: THE BIND TO INTRA-CELLULAR STEROID RECEPTORS TO BRING ABOUT ANTI-INFLAMMATORY AND IMMUNOSUSUPPRESIVEPPRESIVE EFFECT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SIDE EFFECTS: PAIN AT THE SITE OF INJECTION,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CAUTION: SHOULD NOT BE USED FOR IMMUNO-COMPROMISED PATIENTS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Rectangle 67"/>
          <p:cNvSpPr/>
          <p:nvPr/>
        </p:nvSpPr>
        <p:spPr>
          <a:xfrm>
            <a:off x="1013400" y="4536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Num" idx="60"/>
          </p:nvPr>
        </p:nvSpPr>
        <p:spPr>
          <a:xfrm>
            <a:off x="10515600" y="6356520"/>
            <a:ext cx="8348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14C761-416E-479A-86A6-B49942AE8E50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61" name="Picture 36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2" name="Picture 37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Rectangle 73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74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75"/>
          <p:cNvSpPr/>
          <p:nvPr/>
        </p:nvSpPr>
        <p:spPr>
          <a:xfrm>
            <a:off x="82080" y="914400"/>
            <a:ext cx="120333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STEROID INJECTIONS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Rectangle 76"/>
          <p:cNvSpPr/>
          <p:nvPr/>
        </p:nvSpPr>
        <p:spPr>
          <a:xfrm>
            <a:off x="1013400" y="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7" name="" descr=""/>
          <p:cNvPicPr/>
          <p:nvPr/>
        </p:nvPicPr>
        <p:blipFill>
          <a:blip r:embed="rId3"/>
          <a:stretch/>
        </p:blipFill>
        <p:spPr>
          <a:xfrm>
            <a:off x="2971800" y="1600200"/>
            <a:ext cx="7052760" cy="411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Rectangle 77"/>
          <p:cNvSpPr/>
          <p:nvPr/>
        </p:nvSpPr>
        <p:spPr>
          <a:xfrm>
            <a:off x="1828800" y="5943600"/>
            <a:ext cx="9975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n-US" sz="20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AN IMAGE SHOWING THE SITE OF ADMINISTRATION OF STEROID INJECTIONS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Num" idx="61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A6141B-69A5-4F9B-A5BD-2EEC010AAC73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70" name="Picture 3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1" name="Picture 35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Rectangle 68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69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Rectangle 70"/>
          <p:cNvSpPr/>
          <p:nvPr/>
        </p:nvSpPr>
        <p:spPr>
          <a:xfrm>
            <a:off x="36000" y="929880"/>
            <a:ext cx="12033360" cy="442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JOINT REPLACEMENT SURGERY (ARTHROPLASTY)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JOINT FUSION SURGERY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OSTEOTOMY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JOINT REVISION SURGERY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71"/>
          <p:cNvSpPr/>
          <p:nvPr/>
        </p:nvSpPr>
        <p:spPr>
          <a:xfrm>
            <a:off x="3384000" y="45360"/>
            <a:ext cx="5553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SURGICAL PROCEDURES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1CAF56-7046-496D-8861-ED82A1C37065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77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8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Rectangle 5"/>
          <p:cNvSpPr/>
          <p:nvPr/>
        </p:nvSpPr>
        <p:spPr>
          <a:xfrm>
            <a:off x="5141520" y="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Rectangle 6"/>
          <p:cNvSpPr/>
          <p:nvPr/>
        </p:nvSpPr>
        <p:spPr>
          <a:xfrm>
            <a:off x="5294520" y="646200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Rectangle 7"/>
          <p:cNvSpPr/>
          <p:nvPr/>
        </p:nvSpPr>
        <p:spPr>
          <a:xfrm>
            <a:off x="4278240" y="2793240"/>
            <a:ext cx="3632040" cy="83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CONCLUSION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Num" idx="63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675FBCC-E2CE-49E6-B202-0123B66D71EB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83" name="Picture 4" descr="H:\CRAB\NN Logo.gif"/>
          <p:cNvPicPr/>
          <p:nvPr/>
        </p:nvPicPr>
        <p:blipFill>
          <a:blip r:embed="rId1"/>
          <a:stretch/>
        </p:blipFill>
        <p:spPr>
          <a:xfrm>
            <a:off x="64080" y="-1620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4" name="Picture 4" descr=""/>
          <p:cNvPicPr/>
          <p:nvPr/>
        </p:nvPicPr>
        <p:blipFill>
          <a:blip r:embed="rId2"/>
          <a:stretch/>
        </p:blipFill>
        <p:spPr>
          <a:xfrm>
            <a:off x="11186280" y="-1620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Rectangle 5"/>
          <p:cNvSpPr/>
          <p:nvPr/>
        </p:nvSpPr>
        <p:spPr>
          <a:xfrm>
            <a:off x="5141520" y="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Rectangle 6"/>
          <p:cNvSpPr/>
          <p:nvPr/>
        </p:nvSpPr>
        <p:spPr>
          <a:xfrm>
            <a:off x="5294520" y="646200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7"/>
          <p:cNvSpPr/>
          <p:nvPr/>
        </p:nvSpPr>
        <p:spPr>
          <a:xfrm>
            <a:off x="3334680" y="93600"/>
            <a:ext cx="5644080" cy="83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RECOMMENDATIONS 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Rectangle 2"/>
          <p:cNvSpPr/>
          <p:nvPr/>
        </p:nvSpPr>
        <p:spPr>
          <a:xfrm>
            <a:off x="81360" y="1006920"/>
            <a:ext cx="1203336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THE CNS SHOULD ENSURE THAT SCREENING FOR OSTEOARTHRITIS IS CARRIED OUT DURING RECRUITMENT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THE COMMANDANT SHOULD DIRECT THE MOIC TO CREATE ROUTINE AWARENESS ON ARTHRITIS ESPECIALLY OSTEOARTHRITIS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THE HOD PHARMACY DEPARTMENT SHOULD CONTINUE TO PROVIDE POTENT ANALGESICS FOR THE MANAGEMENT OF OSTEOARTHRITIS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THE CATERING OFFICER SHOULD CONTINUE TO PROVIDE BALANCE DIET IN ORDER TO REDUCE BINGE EATING AMONG STUDENTS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Num" idx="64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1E47CC-580B-41BA-8EBB-7A938A21CC87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90" name="Picture 40" descr="H:\CRAB\NN Logo.gif"/>
          <p:cNvPicPr/>
          <p:nvPr/>
        </p:nvPicPr>
        <p:blipFill>
          <a:blip r:embed="rId1"/>
          <a:stretch/>
        </p:blipFill>
        <p:spPr>
          <a:xfrm>
            <a:off x="64080" y="-1620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1" name="Picture 41" descr=""/>
          <p:cNvPicPr/>
          <p:nvPr/>
        </p:nvPicPr>
        <p:blipFill>
          <a:blip r:embed="rId2"/>
          <a:stretch/>
        </p:blipFill>
        <p:spPr>
          <a:xfrm>
            <a:off x="11186280" y="-1620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" name="Rectangle 86"/>
          <p:cNvSpPr/>
          <p:nvPr/>
        </p:nvSpPr>
        <p:spPr>
          <a:xfrm>
            <a:off x="5288400" y="0"/>
            <a:ext cx="152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Rectangle 87"/>
          <p:cNvSpPr/>
          <p:nvPr/>
        </p:nvSpPr>
        <p:spPr>
          <a:xfrm>
            <a:off x="5441400" y="6462000"/>
            <a:ext cx="152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Rectangle 88"/>
          <p:cNvSpPr/>
          <p:nvPr/>
        </p:nvSpPr>
        <p:spPr>
          <a:xfrm>
            <a:off x="4612680" y="93600"/>
            <a:ext cx="30906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REFERENCES 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Rectangle 89"/>
          <p:cNvSpPr/>
          <p:nvPr/>
        </p:nvSpPr>
        <p:spPr>
          <a:xfrm>
            <a:off x="81360" y="1006920"/>
            <a:ext cx="12033360" cy="52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Lawrence RC and Helmick CG. Estimates of the prevalence of arthritis and selected musculoskeletal disorders in the United States. Arthritis and rheumatism. 1998;41(5):778-799.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Hawker GA. Osteoarthritis is a serious disease. Clinical and experimental rheumatology. 2019;37(Suppl 120):3-6. 3.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Culliford D. Future projections of total hip and knee arthroplasty in the UK: results from the UK Clinical Practice Research Datalink. Osteoarthritis and cartilage.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Veronese N. Osteoarthritis and mortality: A prospective cohort study and systematic review with meta-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analysis. Seminars in arthritis and rheumatism. 2016;46(2):160-167.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324013-7257-48AA-A4D3-CDB8C5B3D126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97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8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708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Rectangle 5"/>
          <p:cNvSpPr/>
          <p:nvPr/>
        </p:nvSpPr>
        <p:spPr>
          <a:xfrm>
            <a:off x="5141520" y="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Rectangle 6"/>
          <p:cNvSpPr/>
          <p:nvPr/>
        </p:nvSpPr>
        <p:spPr>
          <a:xfrm>
            <a:off x="5294520" y="6462000"/>
            <a:ext cx="182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Rectangle 7"/>
          <p:cNvSpPr/>
          <p:nvPr/>
        </p:nvSpPr>
        <p:spPr>
          <a:xfrm>
            <a:off x="1378440" y="2578680"/>
            <a:ext cx="93488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50000"/>
              </a:lnSpc>
            </a:pPr>
            <a:r>
              <a:rPr b="1" lang="en-US" sz="36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THANK YOU FOR YOUR RAPT ATTENTION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5970</TotalTime>
  <Application>LibreOffice/25.2.4.3$Linux_X86_64 LibreOffice_project/520$Build-3</Application>
  <AppVersion>15.0000</AppVersion>
  <Words>1956</Words>
  <Paragraphs>374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2022-12-14T22:22:41Z</dcterms:created>
  <dc:creator>User</dc:creator>
  <dc:description/>
  <dc:language>en-US</dc:language>
  <cp:lastModifiedBy/>
  <dcterms:modified xsi:type="dcterms:W3CDTF">2025-07-09T20:59:52Z</dcterms:modified>
  <cp:revision>432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25</vt:i4>
  </property>
</Properties>
</file>