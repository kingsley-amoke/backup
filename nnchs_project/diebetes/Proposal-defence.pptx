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gif" ContentType="image/gif"/>
  <Override PartName="/ppt/media/image2.jpeg" ContentType="image/jpeg"/>
  <Override PartName="/ppt/media/image3.jpeg" ContentType="image/jpeg"/>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_rels/notesSlide6.xml.rels" ContentType="application/vnd.openxmlformats-package.relationships+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5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3"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4"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5"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BB16F598-34A0-4F81-A43C-CBE8CF0C7EBA}"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685800" y="1143000"/>
            <a:ext cx="5486040" cy="3085920"/>
          </a:xfrm>
          <a:prstGeom prst="rect">
            <a:avLst/>
          </a:prstGeom>
          <a:ln w="0">
            <a:noFill/>
          </a:ln>
        </p:spPr>
      </p:sp>
      <p:sp>
        <p:nvSpPr>
          <p:cNvPr id="14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50" name="PlaceHolder 3"/>
          <p:cNvSpPr>
            <a:spLocks noGrp="1"/>
          </p:cNvSpPr>
          <p:nvPr>
            <p:ph type="hdr"/>
          </p:nvPr>
        </p:nvSpPr>
        <p:spPr>
          <a:xfrm>
            <a:off x="0" y="0"/>
            <a:ext cx="2970720" cy="45756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RESTRICTED</a:t>
            </a:r>
            <a:endParaRPr b="0" lang="en-US" sz="1200" spc="-1" strike="noStrike">
              <a:solidFill>
                <a:srgbClr val="000000"/>
              </a:solidFill>
              <a:latin typeface="Times New Roman"/>
            </a:endParaRPr>
          </a:p>
        </p:txBody>
      </p:sp>
      <p:sp>
        <p:nvSpPr>
          <p:cNvPr id="151" name="PlaceHolder 4"/>
          <p:cNvSpPr>
            <a:spLocks noGrp="1"/>
          </p:cNvSpPr>
          <p:nvPr>
            <p:ph type="sldNum" idx="50"/>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DB482471-FA10-4DBB-B0D4-3573C1AF12C9}"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E85D378-BAB5-417C-9725-B7BA27DCCA57}"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FF901AD3-65A3-4D89-884C-FF04BB87B6A7}"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6DE9261E-AEB0-4FE4-8E01-9FBBADCF9A5F}"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1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3D076070-7474-44C7-B84F-005AC154A6C0}"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836D4F36-ACF7-4480-A78D-CEAA75DD8A0D}"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3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B310CB11-42AF-4F0C-A2EB-5419EF9C3499}"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137067E5-7CC9-4FAC-AE40-BDA1F166745E}"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44505961-C249-4F1A-B93C-178F8C18EFF5}"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754C81DB-348C-455C-85AB-D6A806E23A3D}"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1BF38E3C-6FF9-4A6C-8DE6-8250C4B44289}"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2A3EB7EC-5E75-4864-A9C2-AA41D981622A}"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12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1" name="PlaceHolder 2"/>
          <p:cNvSpPr>
            <a:spLocks noGrp="1"/>
          </p:cNvSpPr>
          <p:nvPr>
            <p:ph type="ftr" idx="1"/>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2" name="PlaceHolder 3"/>
          <p:cNvSpPr>
            <a:spLocks noGrp="1"/>
          </p:cNvSpPr>
          <p:nvPr>
            <p:ph type="sldNum" idx="2"/>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1553F3C8-51A8-4A30-A027-9A9147C35525}"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3" name="PlaceHolder 4"/>
          <p:cNvSpPr>
            <a:spLocks noGrp="1"/>
          </p:cNvSpPr>
          <p:nvPr>
            <p:ph type="dt" idx="3"/>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7" name="PlaceHolder 2"/>
          <p:cNvSpPr>
            <a:spLocks noGrp="1"/>
          </p:cNvSpPr>
          <p:nvPr>
            <p:ph type="sldNum" idx="5"/>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BAB0D6BE-620F-4317-B60C-D381117F42CE}"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8" name="PlaceHolder 3"/>
          <p:cNvSpPr>
            <a:spLocks noGrp="1"/>
          </p:cNvSpPr>
          <p:nvPr>
            <p:ph type="dt" idx="6"/>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10" name="PlaceHolder 2"/>
          <p:cNvSpPr>
            <a:spLocks noGrp="1"/>
          </p:cNvSpPr>
          <p:nvPr>
            <p:ph type="sldNum" idx="8"/>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F3062FFF-C80B-4EC8-AE93-06DA0C0CE260}"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11" name="PlaceHolder 3"/>
          <p:cNvSpPr>
            <a:spLocks noGrp="1"/>
          </p:cNvSpPr>
          <p:nvPr>
            <p:ph type="dt" idx="9"/>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0912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13" name="PlaceHolder 2"/>
          <p:cNvSpPr>
            <a:spLocks noGrp="1"/>
          </p:cNvSpPr>
          <p:nvPr>
            <p:ph type="body"/>
          </p:nvPr>
        </p:nvSpPr>
        <p:spPr>
          <a:xfrm>
            <a:off x="609120" y="1604520"/>
            <a:ext cx="10971720" cy="397692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ffffff"/>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14" name="PlaceHolder 3"/>
          <p:cNvSpPr>
            <a:spLocks noGrp="1"/>
          </p:cNvSpPr>
          <p:nvPr>
            <p:ph type="ftr" idx="10"/>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15" name="PlaceHolder 4"/>
          <p:cNvSpPr>
            <a:spLocks noGrp="1"/>
          </p:cNvSpPr>
          <p:nvPr>
            <p:ph type="sldNum" idx="11"/>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C619146F-0C0E-458F-92FE-64E90020654E}"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16" name="PlaceHolder 5"/>
          <p:cNvSpPr>
            <a:spLocks noGrp="1"/>
          </p:cNvSpPr>
          <p:nvPr>
            <p:ph type="dt" idx="12"/>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20" name="PlaceHolder 2"/>
          <p:cNvSpPr>
            <a:spLocks noGrp="1"/>
          </p:cNvSpPr>
          <p:nvPr>
            <p:ph type="sldNum" idx="14"/>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38477724-E1D8-4FD9-A977-4F06D13E4A4E}"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21" name="PlaceHolder 3"/>
          <p:cNvSpPr>
            <a:spLocks noGrp="1"/>
          </p:cNvSpPr>
          <p:nvPr>
            <p:ph type="dt" idx="15"/>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0912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23" name="PlaceHolder 2"/>
          <p:cNvSpPr>
            <a:spLocks noGrp="1"/>
          </p:cNvSpPr>
          <p:nvPr>
            <p:ph type="body"/>
          </p:nvPr>
        </p:nvSpPr>
        <p:spPr>
          <a:xfrm>
            <a:off x="609120" y="1604520"/>
            <a:ext cx="5353920" cy="397692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ffffff"/>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24" name="PlaceHolder 3"/>
          <p:cNvSpPr>
            <a:spLocks noGrp="1"/>
          </p:cNvSpPr>
          <p:nvPr>
            <p:ph type="body"/>
          </p:nvPr>
        </p:nvSpPr>
        <p:spPr>
          <a:xfrm>
            <a:off x="6231600" y="1604520"/>
            <a:ext cx="5353920" cy="397692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ffffff"/>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ffffff"/>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25" name="PlaceHolder 4"/>
          <p:cNvSpPr>
            <a:spLocks noGrp="1"/>
          </p:cNvSpPr>
          <p:nvPr>
            <p:ph type="ftr" idx="16"/>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26" name="PlaceHolder 5"/>
          <p:cNvSpPr>
            <a:spLocks noGrp="1"/>
          </p:cNvSpPr>
          <p:nvPr>
            <p:ph type="sldNum" idx="17"/>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F5128644-5FAC-4298-92C0-DC62FC0617C5}"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27" name="PlaceHolder 6"/>
          <p:cNvSpPr>
            <a:spLocks noGrp="1"/>
          </p:cNvSpPr>
          <p:nvPr>
            <p:ph type="dt" idx="18"/>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32" name="PlaceHolder 2"/>
          <p:cNvSpPr>
            <a:spLocks noGrp="1"/>
          </p:cNvSpPr>
          <p:nvPr>
            <p:ph type="sldNum" idx="20"/>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60B843F8-E46E-4E9B-A7E3-2A14F62AD4C9}"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33" name="PlaceHolder 3"/>
          <p:cNvSpPr>
            <a:spLocks noGrp="1"/>
          </p:cNvSpPr>
          <p:nvPr>
            <p:ph type="dt" idx="21"/>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609120" y="273600"/>
            <a:ext cx="10971720" cy="114444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35" name="PlaceHolder 2"/>
          <p:cNvSpPr>
            <a:spLocks noGrp="1"/>
          </p:cNvSpPr>
          <p:nvPr>
            <p:ph type="ftr" idx="22"/>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36" name="PlaceHolder 3"/>
          <p:cNvSpPr>
            <a:spLocks noGrp="1"/>
          </p:cNvSpPr>
          <p:nvPr>
            <p:ph type="sldNum" idx="23"/>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EE51457C-198C-4404-B57F-B251BA5A0C16}"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37" name="PlaceHolder 4"/>
          <p:cNvSpPr>
            <a:spLocks noGrp="1"/>
          </p:cNvSpPr>
          <p:nvPr>
            <p:ph type="dt" idx="24"/>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40" name="PlaceHolder 2"/>
          <p:cNvSpPr>
            <a:spLocks noGrp="1"/>
          </p:cNvSpPr>
          <p:nvPr>
            <p:ph type="sldNum" idx="26"/>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E5E9E445-6D7C-488C-AF70-3E4EEC916AD7}"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41" name="PlaceHolder 3"/>
          <p:cNvSpPr>
            <a:spLocks noGrp="1"/>
          </p:cNvSpPr>
          <p:nvPr>
            <p:ph type="dt" idx="27"/>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4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4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ffffff"/>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45" name="PlaceHolder 2"/>
          <p:cNvSpPr>
            <a:spLocks noGrp="1"/>
          </p:cNvSpPr>
          <p:nvPr>
            <p:ph type="sldNum" idx="29"/>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92F17730-6C1C-4383-B55F-DAC08F3750B8}"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46" name="PlaceHolder 3"/>
          <p:cNvSpPr>
            <a:spLocks noGrp="1"/>
          </p:cNvSpPr>
          <p:nvPr>
            <p:ph type="dt" idx="30"/>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060"/>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403812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ffffff"/>
              </a:solidFill>
              <a:latin typeface="Times New Roman"/>
            </a:endParaRPr>
          </a:p>
        </p:txBody>
      </p:sp>
      <p:sp>
        <p:nvSpPr>
          <p:cNvPr id="48" name="PlaceHolder 2"/>
          <p:cNvSpPr>
            <a:spLocks noGrp="1"/>
          </p:cNvSpPr>
          <p:nvPr>
            <p:ph type="sldNum" idx="32"/>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396908EC-BFAD-4790-A8D9-DEA9834B8EE4}" type="slidenum">
              <a:rPr b="0" lang="en-US" sz="1200" spc="-1" strike="noStrike">
                <a:solidFill>
                  <a:schemeClr val="dk1">
                    <a:tint val="75000"/>
                  </a:schemeClr>
                </a:solidFill>
                <a:latin typeface="Calibri"/>
              </a:rPr>
              <a:t>&lt;number&gt;</a:t>
            </a:fld>
            <a:endParaRPr b="0" lang="en-US" sz="1200" spc="-1" strike="noStrike">
              <a:solidFill>
                <a:srgbClr val="ffffff"/>
              </a:solidFill>
              <a:latin typeface="Times New Roman"/>
            </a:endParaRPr>
          </a:p>
        </p:txBody>
      </p:sp>
      <p:sp>
        <p:nvSpPr>
          <p:cNvPr id="49" name="PlaceHolder 3"/>
          <p:cNvSpPr>
            <a:spLocks noGrp="1"/>
          </p:cNvSpPr>
          <p:nvPr>
            <p:ph type="dt" idx="33"/>
          </p:nvPr>
        </p:nvSpPr>
        <p:spPr>
          <a:xfrm>
            <a:off x="83772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3.jpeg"/><Relationship Id="rId3"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3.jpeg"/><Relationship Id="rId3"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2.jpeg"/><Relationship Id="rId3"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56" name="Rectangle 2"/>
          <p:cNvSpPr/>
          <p:nvPr/>
        </p:nvSpPr>
        <p:spPr>
          <a:xfrm>
            <a:off x="360" y="363960"/>
            <a:ext cx="12190680" cy="636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200" spc="-1" strike="noStrike">
                <a:solidFill>
                  <a:srgbClr val="ffff00"/>
                </a:solidFill>
                <a:latin typeface="Arial Black"/>
                <a:ea typeface="Calibri"/>
              </a:rPr>
              <a:t>A PROJECT PROPOSAL PRESENTATION </a:t>
            </a: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ON THE</a:t>
            </a:r>
            <a:endParaRPr b="0" lang="en-US" sz="2200" spc="-1" strike="noStrike">
              <a:solidFill>
                <a:srgbClr val="ffffff"/>
              </a:solidFill>
              <a:latin typeface="Arial"/>
            </a:endParaRPr>
          </a:p>
          <a:p>
            <a:pPr algn="ctr" defTabSz="914400">
              <a:lnSpc>
                <a:spcPct val="100000"/>
              </a:lnSpc>
            </a:pP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IMPACT OF DIETARY MODIFICATION ON THE MANAGEMENT OF TYPE II DIABETES MELLITUS</a:t>
            </a: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(A CASE STUDY OF NIGERIAN NAVY REFERENCE HOSPITAL OJO)</a:t>
            </a:r>
            <a:endParaRPr b="0"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ea typeface="Calibri"/>
              </a:rPr>
              <a:t> </a:t>
            </a: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BY</a:t>
            </a: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OSMA AMOKE KC</a:t>
            </a:r>
            <a:endParaRPr b="0" lang="en-US" sz="2200" spc="-1" strike="noStrike">
              <a:solidFill>
                <a:srgbClr val="ffffff"/>
              </a:solidFill>
              <a:latin typeface="Arial"/>
            </a:endParaRPr>
          </a:p>
          <a:p>
            <a:pPr algn="ctr" defTabSz="914400">
              <a:lnSpc>
                <a:spcPct val="100000"/>
              </a:lnSpc>
            </a:pPr>
            <a:r>
              <a:rPr b="1" lang="en-US" sz="2200" spc="-1" strike="noStrike">
                <a:solidFill>
                  <a:srgbClr val="ffff00"/>
                </a:solidFill>
                <a:latin typeface="Arial Black"/>
                <a:ea typeface="Calibri"/>
              </a:rPr>
              <a:t>M6369</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  </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SUBMITTED TO</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 </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PHARMACY TECHNICIAN DEPARTMENT</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  </a:t>
            </a:r>
            <a:r>
              <a:rPr b="1" lang="en-GB" sz="2200" spc="-1" strike="noStrike">
                <a:solidFill>
                  <a:srgbClr val="ffff00"/>
                </a:solidFill>
                <a:latin typeface="Arial Black"/>
                <a:ea typeface="Calibri"/>
              </a:rPr>
              <a:t>NIGERIAN NAVY COLLEGE OF HEALTH SCIENCES</a:t>
            </a:r>
            <a:endParaRPr b="0" lang="en-US" sz="2200" spc="-1" strike="noStrike">
              <a:solidFill>
                <a:srgbClr val="ffffff"/>
              </a:solidFill>
              <a:latin typeface="Arial"/>
            </a:endParaRPr>
          </a:p>
          <a:p>
            <a:pPr algn="ctr" defTabSz="914400">
              <a:lnSpc>
                <a:spcPct val="100000"/>
              </a:lnSpc>
            </a:pPr>
            <a:r>
              <a:rPr b="1" lang="en-GB" sz="2200" spc="-1" strike="noStrike">
                <a:solidFill>
                  <a:srgbClr val="ffff00"/>
                </a:solidFill>
                <a:latin typeface="Arial Black"/>
                <a:ea typeface="Calibri"/>
              </a:rPr>
              <a:t> </a:t>
            </a:r>
            <a:r>
              <a:rPr b="1" lang="en-GB" sz="2200" spc="-1" strike="noStrike">
                <a:solidFill>
                  <a:srgbClr val="ffff00"/>
                </a:solidFill>
                <a:latin typeface="Arial Black"/>
                <a:ea typeface="Calibri"/>
              </a:rPr>
              <a:t>OFFA KWARA STATE</a:t>
            </a:r>
            <a:endParaRPr b="0" lang="en-US" sz="2200" spc="-1" strike="noStrike">
              <a:solidFill>
                <a:srgbClr val="ffffff"/>
              </a:solidFill>
              <a:latin typeface="Arial"/>
            </a:endParaRPr>
          </a:p>
          <a:p>
            <a:pPr algn="r" defTabSz="914400">
              <a:lnSpc>
                <a:spcPct val="100000"/>
              </a:lnSpc>
            </a:pPr>
            <a:r>
              <a:rPr b="1" lang="en-GB" sz="2400" spc="-1" strike="noStrike">
                <a:solidFill>
                  <a:srgbClr val="ffff00"/>
                </a:solidFill>
                <a:latin typeface="Arial Black"/>
                <a:ea typeface="Calibri"/>
              </a:rPr>
              <a:t>DECEMBER 2024.</a:t>
            </a:r>
            <a:endParaRPr b="0" lang="en-US" sz="2400" spc="-1" strike="noStrike">
              <a:solidFill>
                <a:srgbClr val="ffffff"/>
              </a:solidFill>
              <a:latin typeface="Arial"/>
            </a:endParaRPr>
          </a:p>
          <a:p>
            <a:pPr algn="ctr" defTabSz="914400">
              <a:lnSpc>
                <a:spcPct val="100000"/>
              </a:lnSpc>
            </a:pPr>
            <a:endParaRPr b="0" lang="en-US" sz="1800" spc="-1" strike="noStrike">
              <a:solidFill>
                <a:srgbClr val="ffffff"/>
              </a:solidFill>
              <a:latin typeface="Arial"/>
            </a:endParaRPr>
          </a:p>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pic>
        <p:nvPicPr>
          <p:cNvPr id="57" name="Picture 4" descr="H:\CRAB\NN Logo.gif"/>
          <p:cNvPicPr/>
          <p:nvPr/>
        </p:nvPicPr>
        <p:blipFill>
          <a:blip r:embed="rId1"/>
          <a:stretch/>
        </p:blipFill>
        <p:spPr>
          <a:xfrm>
            <a:off x="98280" y="80640"/>
            <a:ext cx="849240" cy="808200"/>
          </a:xfrm>
          <a:prstGeom prst="rect">
            <a:avLst/>
          </a:prstGeom>
          <a:ln w="0">
            <a:noFill/>
          </a:ln>
        </p:spPr>
      </p:pic>
      <p:pic>
        <p:nvPicPr>
          <p:cNvPr id="58" name="Picture 5" descr=""/>
          <p:cNvPicPr/>
          <p:nvPr/>
        </p:nvPicPr>
        <p:blipFill>
          <a:blip r:embed="rId2"/>
          <a:stretch/>
        </p:blipFill>
        <p:spPr>
          <a:xfrm>
            <a:off x="11225520" y="80640"/>
            <a:ext cx="849240" cy="808200"/>
          </a:xfrm>
          <a:prstGeom prst="rect">
            <a:avLst/>
          </a:prstGeom>
          <a:ln w="0">
            <a:noFill/>
          </a:ln>
        </p:spPr>
      </p:pic>
      <p:sp>
        <p:nvSpPr>
          <p:cNvPr id="59" name="Rectangle 6"/>
          <p:cNvSpPr/>
          <p:nvPr/>
        </p:nvSpPr>
        <p:spPr>
          <a:xfrm>
            <a:off x="5320440" y="745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Tree>
  </p:cSld>
  <mc:AlternateContent>
    <mc:Choice Requires="p14">
      <p:transition spd="med" p14:dur="700">
        <p:fade/>
      </p:transition>
    </mc:Choice>
    <mc:Fallback>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 presetSubtype="4">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repl">
                                        <p:cTn id="7" dur="500" fill="hold"/>
                                        <p:tgtEl>
                                          <p:spTgt spid="56"/>
                                        </p:tgtEl>
                                        <p:attrNameLst>
                                          <p:attrName>ppt_x</p:attrName>
                                        </p:attrNameLst>
                                      </p:cBhvr>
                                      <p:tavLst>
                                        <p:tav tm="0">
                                          <p:val>
                                            <p:strVal val="#ppt_x"/>
                                          </p:val>
                                        </p:tav>
                                        <p:tav tm="100000">
                                          <p:val>
                                            <p:strVal val="#ppt_x"/>
                                          </p:val>
                                        </p:tav>
                                      </p:tavLst>
                                    </p:anim>
                                    <p:anim calcmode="lin" valueType="num">
                                      <p:cBhvr additive="repl">
                                        <p:cTn id="8"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Num" idx="37"/>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2000" spc="-1" strike="noStrike">
                <a:solidFill>
                  <a:srgbClr val="ffff00"/>
                </a:solidFill>
                <a:latin typeface="Arial Black"/>
              </a:defRPr>
            </a:lvl1pPr>
          </a:lstStyle>
          <a:p>
            <a:pPr indent="0" algn="r" defTabSz="914400">
              <a:lnSpc>
                <a:spcPct val="100000"/>
              </a:lnSpc>
              <a:buNone/>
              <a:tabLst>
                <a:tab algn="l" pos="0"/>
              </a:tabLst>
            </a:pPr>
            <a:r>
              <a:rPr b="1" lang="en-US" sz="2000" spc="-1" strike="noStrike">
                <a:solidFill>
                  <a:srgbClr val="ffff00"/>
                </a:solidFill>
                <a:latin typeface="Arial Black"/>
              </a:rPr>
              <a:t>2</a:t>
            </a:r>
            <a:endParaRPr b="0" lang="en-US" sz="2000" spc="-1" strike="noStrike">
              <a:solidFill>
                <a:srgbClr val="ffffff"/>
              </a:solidFill>
              <a:latin typeface="Times New Roman"/>
            </a:endParaRPr>
          </a:p>
        </p:txBody>
      </p:sp>
      <p:sp>
        <p:nvSpPr>
          <p:cNvPr id="61" name="Rectangle 2"/>
          <p:cNvSpPr/>
          <p:nvPr/>
        </p:nvSpPr>
        <p:spPr>
          <a:xfrm>
            <a:off x="5338800" y="1207800"/>
            <a:ext cx="1002600" cy="57744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00000"/>
              </a:lnSpc>
            </a:pPr>
            <a:r>
              <a:rPr b="1" lang="en-US" sz="3200" spc="-1" strike="noStrike">
                <a:solidFill>
                  <a:srgbClr val="ffff00"/>
                </a:solidFill>
                <a:latin typeface="Arial Black"/>
                <a:ea typeface="Calibri"/>
              </a:rPr>
              <a:t>AIM</a:t>
            </a:r>
            <a:endParaRPr b="0" lang="en-US" sz="3200" spc="-1" strike="noStrike">
              <a:solidFill>
                <a:srgbClr val="ffffff"/>
              </a:solidFill>
              <a:latin typeface="Arial"/>
            </a:endParaRPr>
          </a:p>
        </p:txBody>
      </p:sp>
      <p:sp>
        <p:nvSpPr>
          <p:cNvPr id="62" name="Rectangle 3"/>
          <p:cNvSpPr/>
          <p:nvPr/>
        </p:nvSpPr>
        <p:spPr>
          <a:xfrm>
            <a:off x="948600" y="2427120"/>
            <a:ext cx="10275840" cy="1630440"/>
          </a:xfrm>
          <a:prstGeom prst="rect">
            <a:avLst/>
          </a:prstGeom>
          <a:noFill/>
          <a:ln w="0">
            <a:noFill/>
          </a:ln>
        </p:spPr>
        <p:style>
          <a:lnRef idx="0"/>
          <a:fillRef idx="0"/>
          <a:effectRef idx="0"/>
          <a:fontRef idx="minor"/>
        </p:style>
        <p:txBody>
          <a:bodyPr lIns="90000" rIns="90000" tIns="45000" bIns="45000" anchor="t">
            <a:spAutoFit/>
          </a:bodyPr>
          <a:p>
            <a:pPr marL="50760" algn="just" defTabSz="914400">
              <a:lnSpc>
                <a:spcPct val="115000"/>
              </a:lnSpc>
              <a:spcBef>
                <a:spcPts val="709"/>
              </a:spcBef>
            </a:pPr>
            <a:r>
              <a:rPr b="1" lang="en-US" sz="2200" spc="-1" strike="noStrike">
                <a:solidFill>
                  <a:srgbClr val="ffff00"/>
                </a:solidFill>
                <a:latin typeface="Arial Black"/>
                <a:ea typeface="Calibri"/>
              </a:rPr>
              <a:t>THE PRIMARY AIM OF THIS STUDY IS TO EXAMINE THE IMPACT OF DIETARY MODIFICATIONS ON THE MANAGEMENT OF tYPE ii DIABETES MELLITUS, WITH A FOCUS ON EVALUATING THEIR EFFECTIVENESS IN IMPROVING GLUCOSE CONTROL AND OVERALL HEALTH OUTCOMES</a:t>
            </a:r>
            <a:endParaRPr b="0" lang="en-US" sz="2200" spc="-1" strike="noStrike">
              <a:solidFill>
                <a:srgbClr val="ffffff"/>
              </a:solidFill>
              <a:latin typeface="Arial"/>
            </a:endParaRPr>
          </a:p>
        </p:txBody>
      </p:sp>
      <p:pic>
        <p:nvPicPr>
          <p:cNvPr id="63" name="Picture 4" descr="H:\CRAB\NN Logo.gif"/>
          <p:cNvPicPr/>
          <p:nvPr/>
        </p:nvPicPr>
        <p:blipFill>
          <a:blip r:embed="rId1"/>
          <a:stretch/>
        </p:blipFill>
        <p:spPr>
          <a:xfrm>
            <a:off x="98280" y="80640"/>
            <a:ext cx="849240" cy="808200"/>
          </a:xfrm>
          <a:prstGeom prst="rect">
            <a:avLst/>
          </a:prstGeom>
          <a:ln w="0">
            <a:noFill/>
          </a:ln>
        </p:spPr>
      </p:pic>
      <p:pic>
        <p:nvPicPr>
          <p:cNvPr id="64" name="Picture 5" descr=""/>
          <p:cNvPicPr/>
          <p:nvPr/>
        </p:nvPicPr>
        <p:blipFill>
          <a:blip r:embed="rId2"/>
          <a:stretch/>
        </p:blipFill>
        <p:spPr>
          <a:xfrm>
            <a:off x="11225520" y="80640"/>
            <a:ext cx="849240" cy="808200"/>
          </a:xfrm>
          <a:prstGeom prst="rect">
            <a:avLst/>
          </a:prstGeom>
          <a:ln w="0">
            <a:noFill/>
          </a:ln>
        </p:spPr>
      </p:pic>
      <p:sp>
        <p:nvSpPr>
          <p:cNvPr id="65" name="Rectangle 6"/>
          <p:cNvSpPr/>
          <p:nvPr/>
        </p:nvSpPr>
        <p:spPr>
          <a:xfrm>
            <a:off x="532044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66" name="Rectangle 7"/>
          <p:cNvSpPr/>
          <p:nvPr/>
        </p:nvSpPr>
        <p:spPr>
          <a:xfrm>
            <a:off x="5320440" y="645120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9" dur="indefinite" restart="never" nodeType="tmRoot">
          <p:childTnLst>
            <p:seq>
              <p:cTn id="10" dur="indefinite" nodeType="mainSeq">
                <p:childTnLst>
                  <p:par>
                    <p:cTn id="11" fill="hold">
                      <p:stCondLst>
                        <p:cond delay="indefinite"/>
                      </p:stCondLst>
                      <p:childTnLst>
                        <p:par>
                          <p:cTn id="12" fill="hold">
                            <p:stCondLst>
                              <p:cond delay="0"/>
                            </p:stCondLst>
                            <p:childTnLst>
                              <p:par>
                                <p:cTn id="13" nodeType="clickEffect" fill="hold" presetClass="entr" presetID="2" presetSubtype="4">
                                  <p:stCondLst>
                                    <p:cond delay="0"/>
                                  </p:stCondLst>
                                  <p:childTnLst>
                                    <p:set>
                                      <p:cBhvr>
                                        <p:cTn id="14" dur="1" fill="hold">
                                          <p:stCondLst>
                                            <p:cond delay="0"/>
                                          </p:stCondLst>
                                        </p:cTn>
                                        <p:tgtEl>
                                          <p:spTgt spid="61"/>
                                        </p:tgtEl>
                                        <p:attrNameLst>
                                          <p:attrName>style.visibility</p:attrName>
                                        </p:attrNameLst>
                                      </p:cBhvr>
                                      <p:to>
                                        <p:strVal val="visible"/>
                                      </p:to>
                                    </p:set>
                                    <p:anim calcmode="lin" valueType="num">
                                      <p:cBhvr additive="repl">
                                        <p:cTn id="15" dur="500" fill="hold"/>
                                        <p:tgtEl>
                                          <p:spTgt spid="61"/>
                                        </p:tgtEl>
                                        <p:attrNameLst>
                                          <p:attrName>ppt_x</p:attrName>
                                        </p:attrNameLst>
                                      </p:cBhvr>
                                      <p:tavLst>
                                        <p:tav tm="0">
                                          <p:val>
                                            <p:strVal val="#ppt_x"/>
                                          </p:val>
                                        </p:tav>
                                        <p:tav tm="100000">
                                          <p:val>
                                            <p:strVal val="#ppt_x"/>
                                          </p:val>
                                        </p:tav>
                                      </p:tavLst>
                                    </p:anim>
                                    <p:anim calcmode="lin" valueType="num">
                                      <p:cBhvr additive="repl">
                                        <p:cTn id="16" dur="500" fill="hold"/>
                                        <p:tgtEl>
                                          <p:spTgt spid="61"/>
                                        </p:tgtEl>
                                        <p:attrNameLst>
                                          <p:attrName>ppt_y</p:attrName>
                                        </p:attrNameLst>
                                      </p:cBhvr>
                                      <p:tavLst>
                                        <p:tav tm="0">
                                          <p:val>
                                            <p:strVal val="1+#ppt_h/2"/>
                                          </p:val>
                                        </p:tav>
                                        <p:tav tm="100000">
                                          <p:val>
                                            <p:strVal val="#ppt_y"/>
                                          </p:val>
                                        </p:tav>
                                      </p:tavLst>
                                    </p:anim>
                                  </p:childTnLst>
                                </p:cTn>
                              </p:par>
                              <p:par>
                                <p:cTn id="17" nodeType="withEffect" fill="hold" presetClass="entr" presetID="2" presetSubtype="4">
                                  <p:stCondLst>
                                    <p:cond delay="0"/>
                                  </p:stCondLst>
                                  <p:childTnLst>
                                    <p:set>
                                      <p:cBhvr>
                                        <p:cTn id="18" dur="1" fill="hold">
                                          <p:stCondLst>
                                            <p:cond delay="0"/>
                                          </p:stCondLst>
                                        </p:cTn>
                                        <p:tgtEl>
                                          <p:spTgt spid="62"/>
                                        </p:tgtEl>
                                        <p:attrNameLst>
                                          <p:attrName>style.visibility</p:attrName>
                                        </p:attrNameLst>
                                      </p:cBhvr>
                                      <p:to>
                                        <p:strVal val="visible"/>
                                      </p:to>
                                    </p:set>
                                    <p:anim calcmode="lin" valueType="num">
                                      <p:cBhvr additive="repl">
                                        <p:cTn id="19" dur="500" fill="hold"/>
                                        <p:tgtEl>
                                          <p:spTgt spid="62"/>
                                        </p:tgtEl>
                                        <p:attrNameLst>
                                          <p:attrName>ppt_x</p:attrName>
                                        </p:attrNameLst>
                                      </p:cBhvr>
                                      <p:tavLst>
                                        <p:tav tm="0">
                                          <p:val>
                                            <p:strVal val="#ppt_x"/>
                                          </p:val>
                                        </p:tav>
                                        <p:tav tm="100000">
                                          <p:val>
                                            <p:strVal val="#ppt_x"/>
                                          </p:val>
                                        </p:tav>
                                      </p:tavLst>
                                    </p:anim>
                                    <p:anim calcmode="lin" valueType="num">
                                      <p:cBhvr additive="repl">
                                        <p:cTn id="20"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Num" idx="38"/>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000" spc="-1" strike="noStrike">
                <a:solidFill>
                  <a:srgbClr val="ffff00"/>
                </a:solidFill>
                <a:latin typeface="Arial Black"/>
              </a:defRPr>
            </a:lvl1pPr>
          </a:lstStyle>
          <a:p>
            <a:pPr indent="0" algn="r" defTabSz="914400">
              <a:lnSpc>
                <a:spcPct val="100000"/>
              </a:lnSpc>
              <a:buNone/>
              <a:tabLst>
                <a:tab algn="l" pos="0"/>
              </a:tabLst>
            </a:pPr>
            <a:r>
              <a:rPr b="0" lang="en-US" sz="2000" spc="-1" strike="noStrike">
                <a:solidFill>
                  <a:srgbClr val="ffff00"/>
                </a:solidFill>
                <a:latin typeface="Arial Black"/>
              </a:rPr>
              <a:t>4</a:t>
            </a:r>
            <a:endParaRPr b="0" lang="en-US" sz="2000" spc="-1" strike="noStrike">
              <a:solidFill>
                <a:srgbClr val="ffffff"/>
              </a:solidFill>
              <a:latin typeface="Times New Roman"/>
            </a:endParaRPr>
          </a:p>
        </p:txBody>
      </p:sp>
      <p:sp>
        <p:nvSpPr>
          <p:cNvPr id="68" name="Rectangle 4"/>
          <p:cNvSpPr/>
          <p:nvPr/>
        </p:nvSpPr>
        <p:spPr>
          <a:xfrm>
            <a:off x="948600" y="772560"/>
            <a:ext cx="10275840" cy="3120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200" spc="-1" strike="noStrike">
                <a:solidFill>
                  <a:srgbClr val="ffff00"/>
                </a:solidFill>
                <a:latin typeface="Arial Black"/>
                <a:ea typeface="Calibri"/>
              </a:rPr>
              <a:t>SCOPE</a:t>
            </a:r>
            <a:endParaRPr b="0" lang="en-US" sz="2200" spc="-1" strike="noStrike">
              <a:solidFill>
                <a:srgbClr val="ffffff"/>
              </a:solidFill>
              <a:latin typeface="Arial"/>
            </a:endParaRPr>
          </a:p>
          <a:p>
            <a:pPr marL="457200" indent="-457200" defTabSz="914400">
              <a:lnSpc>
                <a:spcPct val="150000"/>
              </a:lnSpc>
              <a:buClr>
                <a:srgbClr val="ffff00"/>
              </a:buClr>
              <a:buFont typeface="Calibri Light"/>
              <a:buAutoNum type="arabicPeriod"/>
            </a:pPr>
            <a:r>
              <a:rPr b="1" lang="en-US" sz="2200" spc="-1" strike="noStrike">
                <a:solidFill>
                  <a:srgbClr val="ffff00"/>
                </a:solidFill>
                <a:latin typeface="Arial Black"/>
                <a:ea typeface="Tahoma"/>
              </a:rPr>
              <a:t>STATEMENT OF PROBLEM</a:t>
            </a:r>
            <a:endParaRPr b="0" lang="en-US" sz="2200" spc="-1" strike="noStrike">
              <a:solidFill>
                <a:srgbClr val="ffffff"/>
              </a:solidFill>
              <a:latin typeface="Arial"/>
            </a:endParaRPr>
          </a:p>
          <a:p>
            <a:pPr marL="457200" indent="-457200" defTabSz="914400">
              <a:lnSpc>
                <a:spcPct val="150000"/>
              </a:lnSpc>
              <a:buClr>
                <a:srgbClr val="ffff00"/>
              </a:buClr>
              <a:buFont typeface="Calibri Light"/>
              <a:buAutoNum type="arabicPeriod"/>
            </a:pPr>
            <a:r>
              <a:rPr b="1" lang="en-US" sz="2200" spc="-1" strike="noStrike">
                <a:solidFill>
                  <a:srgbClr val="ffff00"/>
                </a:solidFill>
                <a:latin typeface="Arial Black"/>
                <a:ea typeface="Tahoma"/>
              </a:rPr>
              <a:t>OBJECTIVES</a:t>
            </a:r>
            <a:endParaRPr b="0" lang="en-US" sz="2200" spc="-1" strike="noStrike">
              <a:solidFill>
                <a:srgbClr val="ffffff"/>
              </a:solidFill>
              <a:latin typeface="Arial"/>
            </a:endParaRPr>
          </a:p>
          <a:p>
            <a:pPr marL="457200" indent="-457200" defTabSz="914400">
              <a:lnSpc>
                <a:spcPct val="150000"/>
              </a:lnSpc>
              <a:buClr>
                <a:srgbClr val="ffff00"/>
              </a:buClr>
              <a:buFont typeface="Calibri Light"/>
              <a:buAutoNum type="arabicPeriod"/>
            </a:pPr>
            <a:r>
              <a:rPr b="1" lang="en-US" sz="2200" spc="-1" strike="noStrike">
                <a:solidFill>
                  <a:srgbClr val="ffff00"/>
                </a:solidFill>
                <a:latin typeface="Arial Black"/>
                <a:ea typeface="Tahoma"/>
              </a:rPr>
              <a:t>SIGNIFICANCE OF THE STUDY</a:t>
            </a:r>
            <a:endParaRPr b="0" lang="en-US" sz="2200" spc="-1" strike="noStrike">
              <a:solidFill>
                <a:srgbClr val="ffffff"/>
              </a:solidFill>
              <a:latin typeface="Arial"/>
            </a:endParaRPr>
          </a:p>
          <a:p>
            <a:pPr marL="457200" indent="-457200" algn="just" defTabSz="914400">
              <a:lnSpc>
                <a:spcPct val="150000"/>
              </a:lnSpc>
              <a:buClr>
                <a:srgbClr val="ffff00"/>
              </a:buClr>
              <a:buFont typeface="Calibri Light"/>
              <a:buAutoNum type="arabicPeriod"/>
            </a:pPr>
            <a:r>
              <a:rPr b="1" lang="en-US" sz="2200" spc="-1" strike="noStrike">
                <a:solidFill>
                  <a:srgbClr val="ffff00"/>
                </a:solidFill>
                <a:latin typeface="Arial Black"/>
                <a:ea typeface="Tahoma"/>
              </a:rPr>
              <a:t>RESEARCH QUESTIONS</a:t>
            </a:r>
            <a:endParaRPr b="0" lang="en-US" sz="2200" spc="-1" strike="noStrike">
              <a:solidFill>
                <a:srgbClr val="ffffff"/>
              </a:solidFill>
              <a:latin typeface="Arial"/>
            </a:endParaRPr>
          </a:p>
          <a:p>
            <a:pPr marL="457200" indent="-457200" algn="just" defTabSz="914400">
              <a:lnSpc>
                <a:spcPct val="150000"/>
              </a:lnSpc>
              <a:buClr>
                <a:srgbClr val="ffff00"/>
              </a:buClr>
              <a:buFont typeface="Calibri Light"/>
              <a:buAutoNum type="arabicPeriod"/>
            </a:pPr>
            <a:r>
              <a:rPr b="1" lang="en-US" sz="2200" spc="-1" strike="noStrike">
                <a:solidFill>
                  <a:srgbClr val="ffff00"/>
                </a:solidFill>
                <a:latin typeface="Arial Black"/>
                <a:ea typeface="Tahoma"/>
              </a:rPr>
              <a:t>METHODOLOGY</a:t>
            </a:r>
            <a:endParaRPr b="0" lang="en-US" sz="2200" spc="-1" strike="noStrike">
              <a:solidFill>
                <a:srgbClr val="ffffff"/>
              </a:solidFill>
              <a:latin typeface="Arial"/>
            </a:endParaRPr>
          </a:p>
          <a:p>
            <a:pPr algn="ctr" defTabSz="914400">
              <a:lnSpc>
                <a:spcPct val="100000"/>
              </a:lnSpc>
            </a:pPr>
            <a:endParaRPr b="0" lang="en-US" sz="1200" spc="-1" strike="noStrike">
              <a:solidFill>
                <a:srgbClr val="ffffff"/>
              </a:solidFill>
              <a:latin typeface="Arial"/>
            </a:endParaRPr>
          </a:p>
        </p:txBody>
      </p:sp>
      <p:pic>
        <p:nvPicPr>
          <p:cNvPr id="69" name="Picture 4" descr="H:\CRAB\NN Logo.gif"/>
          <p:cNvPicPr/>
          <p:nvPr/>
        </p:nvPicPr>
        <p:blipFill>
          <a:blip r:embed="rId1"/>
          <a:stretch/>
        </p:blipFill>
        <p:spPr>
          <a:xfrm>
            <a:off x="98280" y="80640"/>
            <a:ext cx="849240" cy="808200"/>
          </a:xfrm>
          <a:prstGeom prst="rect">
            <a:avLst/>
          </a:prstGeom>
          <a:ln w="0">
            <a:noFill/>
          </a:ln>
        </p:spPr>
      </p:pic>
      <p:pic>
        <p:nvPicPr>
          <p:cNvPr id="70" name="Picture 6" descr=""/>
          <p:cNvPicPr/>
          <p:nvPr/>
        </p:nvPicPr>
        <p:blipFill>
          <a:blip r:embed="rId2"/>
          <a:stretch/>
        </p:blipFill>
        <p:spPr>
          <a:xfrm>
            <a:off x="11225520" y="80640"/>
            <a:ext cx="849240" cy="808200"/>
          </a:xfrm>
          <a:prstGeom prst="rect">
            <a:avLst/>
          </a:prstGeom>
          <a:ln w="0">
            <a:noFill/>
          </a:ln>
        </p:spPr>
      </p:pic>
      <p:sp>
        <p:nvSpPr>
          <p:cNvPr id="71" name="Rectangle 7"/>
          <p:cNvSpPr/>
          <p:nvPr/>
        </p:nvSpPr>
        <p:spPr>
          <a:xfrm>
            <a:off x="532044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72" name="Rectangle 8"/>
          <p:cNvSpPr/>
          <p:nvPr/>
        </p:nvSpPr>
        <p:spPr>
          <a:xfrm>
            <a:off x="5320440" y="645120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21" dur="indefinite" restart="never" nodeType="tmRoot">
          <p:childTnLst>
            <p:seq>
              <p:cTn id="22" dur="indefinite" nodeType="mainSeq">
                <p:childTnLst>
                  <p:par>
                    <p:cTn id="23" fill="hold">
                      <p:stCondLst>
                        <p:cond delay="indefinite"/>
                      </p:stCondLst>
                      <p:childTnLst>
                        <p:par>
                          <p:cTn id="24" fill="hold">
                            <p:stCondLst>
                              <p:cond delay="0"/>
                            </p:stCondLst>
                            <p:childTnLst>
                              <p:par>
                                <p:cTn id="25" nodeType="clickEffect" fill="hold" presetClass="entr" presetID="2" presetSubtype="4">
                                  <p:stCondLst>
                                    <p:cond delay="0"/>
                                  </p:stCondLst>
                                  <p:childTnLst>
                                    <p:set>
                                      <p:cBhvr>
                                        <p:cTn id="26" dur="1" fill="hold">
                                          <p:stCondLst>
                                            <p:cond delay="0"/>
                                          </p:stCondLst>
                                        </p:cTn>
                                        <p:tgtEl>
                                          <p:spTgt spid="68"/>
                                        </p:tgtEl>
                                        <p:attrNameLst>
                                          <p:attrName>style.visibility</p:attrName>
                                        </p:attrNameLst>
                                      </p:cBhvr>
                                      <p:to>
                                        <p:strVal val="visible"/>
                                      </p:to>
                                    </p:set>
                                    <p:anim calcmode="lin" valueType="num">
                                      <p:cBhvr additive="repl">
                                        <p:cTn id="27" dur="500" fill="hold"/>
                                        <p:tgtEl>
                                          <p:spTgt spid="68"/>
                                        </p:tgtEl>
                                        <p:attrNameLst>
                                          <p:attrName>ppt_x</p:attrName>
                                        </p:attrNameLst>
                                      </p:cBhvr>
                                      <p:tavLst>
                                        <p:tav tm="0">
                                          <p:val>
                                            <p:strVal val="#ppt_x"/>
                                          </p:val>
                                        </p:tav>
                                        <p:tav tm="100000">
                                          <p:val>
                                            <p:strVal val="#ppt_x"/>
                                          </p:val>
                                        </p:tav>
                                      </p:tavLst>
                                    </p:anim>
                                    <p:anim calcmode="lin" valueType="num">
                                      <p:cBhvr additive="repl">
                                        <p:cTn id="28"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sldNum" idx="39"/>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1800" spc="-1" strike="noStrike">
                <a:solidFill>
                  <a:srgbClr val="ffff00"/>
                </a:solidFill>
                <a:latin typeface="Arial Black"/>
              </a:defRPr>
            </a:lvl1pPr>
          </a:lstStyle>
          <a:p>
            <a:pPr indent="0" algn="r" defTabSz="914400">
              <a:lnSpc>
                <a:spcPct val="100000"/>
              </a:lnSpc>
              <a:buNone/>
              <a:tabLst>
                <a:tab algn="l" pos="0"/>
              </a:tabLst>
            </a:pPr>
            <a:r>
              <a:rPr b="1" lang="en-US" sz="1800" spc="-1" strike="noStrike">
                <a:solidFill>
                  <a:srgbClr val="ffff00"/>
                </a:solidFill>
                <a:latin typeface="Arial Black"/>
              </a:rPr>
              <a:t>5</a:t>
            </a:r>
            <a:endParaRPr b="0" lang="en-US" sz="1800" spc="-1" strike="noStrike">
              <a:solidFill>
                <a:srgbClr val="ffffff"/>
              </a:solidFill>
              <a:latin typeface="Times New Roman"/>
            </a:endParaRPr>
          </a:p>
        </p:txBody>
      </p:sp>
      <p:pic>
        <p:nvPicPr>
          <p:cNvPr id="74" name="Picture 7" descr="H:\CRAB\NN Logo.gif"/>
          <p:cNvPicPr/>
          <p:nvPr/>
        </p:nvPicPr>
        <p:blipFill>
          <a:blip r:embed="rId1"/>
          <a:stretch/>
        </p:blipFill>
        <p:spPr>
          <a:xfrm>
            <a:off x="98280" y="80640"/>
            <a:ext cx="849240" cy="808200"/>
          </a:xfrm>
          <a:prstGeom prst="rect">
            <a:avLst/>
          </a:prstGeom>
          <a:ln w="0">
            <a:noFill/>
          </a:ln>
        </p:spPr>
      </p:pic>
      <p:pic>
        <p:nvPicPr>
          <p:cNvPr id="75" name="Picture 8" descr=""/>
          <p:cNvPicPr/>
          <p:nvPr/>
        </p:nvPicPr>
        <p:blipFill>
          <a:blip r:embed="rId2"/>
          <a:stretch/>
        </p:blipFill>
        <p:spPr>
          <a:xfrm>
            <a:off x="11225520" y="80640"/>
            <a:ext cx="849240" cy="808200"/>
          </a:xfrm>
          <a:prstGeom prst="rect">
            <a:avLst/>
          </a:prstGeom>
          <a:ln w="0">
            <a:noFill/>
          </a:ln>
        </p:spPr>
      </p:pic>
      <p:sp>
        <p:nvSpPr>
          <p:cNvPr id="76" name="Rectangle 26"/>
          <p:cNvSpPr/>
          <p:nvPr/>
        </p:nvSpPr>
        <p:spPr>
          <a:xfrm>
            <a:off x="532044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77" name="Rectangle 28"/>
          <p:cNvSpPr/>
          <p:nvPr/>
        </p:nvSpPr>
        <p:spPr>
          <a:xfrm>
            <a:off x="5320440" y="645120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78" name="Rectangle 31"/>
          <p:cNvSpPr/>
          <p:nvPr/>
        </p:nvSpPr>
        <p:spPr>
          <a:xfrm>
            <a:off x="360" y="764280"/>
            <a:ext cx="12190680" cy="82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50000"/>
              </a:lnSpc>
            </a:pPr>
            <a:r>
              <a:rPr b="1" lang="en-US" sz="3200" spc="-1" strike="noStrike">
                <a:solidFill>
                  <a:srgbClr val="ffff00"/>
                </a:solidFill>
                <a:latin typeface="Arial Black"/>
                <a:ea typeface="Tahoma"/>
              </a:rPr>
              <a:t>STATEMENT OF THE PROBLEM</a:t>
            </a:r>
            <a:endParaRPr b="0" lang="en-US" sz="3200" spc="-1" strike="noStrike">
              <a:solidFill>
                <a:srgbClr val="ffffff"/>
              </a:solidFill>
              <a:latin typeface="Arial"/>
            </a:endParaRPr>
          </a:p>
        </p:txBody>
      </p:sp>
      <p:sp>
        <p:nvSpPr>
          <p:cNvPr id="79" name="Rectangle 32"/>
          <p:cNvSpPr/>
          <p:nvPr/>
        </p:nvSpPr>
        <p:spPr>
          <a:xfrm>
            <a:off x="948600" y="1817280"/>
            <a:ext cx="10275840" cy="42728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spcBef>
                <a:spcPts val="1191"/>
              </a:spcBef>
              <a:spcAft>
                <a:spcPts val="992"/>
              </a:spcAft>
            </a:pPr>
            <a:r>
              <a:rPr b="1" lang="en-US" sz="2200" spc="-1" strike="noStrike">
                <a:solidFill>
                  <a:srgbClr val="ffff00"/>
                </a:solidFill>
                <a:latin typeface="Arial Black"/>
              </a:rPr>
              <a:t>TYPE II DIABETES MELLITUS IS A MAJOR GLOBAL HEALTH CONCERN, YET MANY INDIVIDUALS STRUGGLE TO EFFECTIVELY MANAGE THE CONDITION</a:t>
            </a:r>
            <a:endParaRPr b="0" lang="en-US" sz="2200" spc="-1" strike="noStrike">
              <a:solidFill>
                <a:srgbClr val="ffffff"/>
              </a:solidFill>
              <a:latin typeface="Arial"/>
            </a:endParaRPr>
          </a:p>
          <a:p>
            <a:pPr algn="just" defTabSz="914400">
              <a:lnSpc>
                <a:spcPct val="100000"/>
              </a:lnSpc>
              <a:spcBef>
                <a:spcPts val="1191"/>
              </a:spcBef>
              <a:spcAft>
                <a:spcPts val="992"/>
              </a:spcAft>
            </a:pPr>
            <a:r>
              <a:rPr b="1" lang="en-US" sz="2200" spc="-1" strike="noStrike">
                <a:solidFill>
                  <a:srgbClr val="ffff00"/>
                </a:solidFill>
                <a:latin typeface="Arial Black"/>
              </a:rPr>
              <a:t>WHILE DIETARY MODIFICATION IS ESSENTIAL FOR CONTROLLING BLOOD GLUCOSE LEVELS, NUMEROUS CHALLENGES HINDER ADHERENCE TO RECOMMENDED DIETARY PRACTICES </a:t>
            </a:r>
            <a:endParaRPr b="0" lang="en-US" sz="2200" spc="-1" strike="noStrike">
              <a:solidFill>
                <a:srgbClr val="ffffff"/>
              </a:solidFill>
              <a:latin typeface="Arial"/>
            </a:endParaRPr>
          </a:p>
          <a:p>
            <a:pPr algn="just" defTabSz="914400">
              <a:lnSpc>
                <a:spcPct val="100000"/>
              </a:lnSpc>
              <a:spcBef>
                <a:spcPts val="1191"/>
              </a:spcBef>
              <a:spcAft>
                <a:spcPts val="992"/>
              </a:spcAft>
            </a:pPr>
            <a:r>
              <a:rPr b="1" lang="en-US" sz="2200" spc="-1" strike="noStrike">
                <a:solidFill>
                  <a:srgbClr val="ffff00"/>
                </a:solidFill>
                <a:latin typeface="Arial Black"/>
              </a:rPr>
              <a:t>THESE CHALLENGES INCLUDE LIMITED KNOWLEDGE, CULTURAL FOOD PREFERENCES, AND ACCESSIBILITY ISSUES, LEADING TO POOR DISEASE MANAGEMENT AND INCREASED RISK OF COMPLICATIONS </a:t>
            </a:r>
            <a:endParaRPr b="0" lang="en-US" sz="2200" spc="-1" strike="noStrike">
              <a:solidFill>
                <a:srgbClr val="ffffff"/>
              </a:solidFill>
              <a:latin typeface="Arial"/>
            </a:endParaRPr>
          </a:p>
          <a:p>
            <a:pPr algn="just" defTabSz="914400">
              <a:lnSpc>
                <a:spcPct val="100000"/>
              </a:lnSpc>
              <a:spcBef>
                <a:spcPts val="1191"/>
              </a:spcBef>
              <a:spcAft>
                <a:spcPts val="992"/>
              </a:spcAft>
            </a:pPr>
            <a:endParaRPr b="0" lang="en-US" sz="22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nodeType="clickEffect" fill="hold" presetClass="entr" presetID="2" presetSubtype="4">
                                  <p:stCondLst>
                                    <p:cond delay="0"/>
                                  </p:stCondLst>
                                  <p:childTnLst>
                                    <p:set>
                                      <p:cBhvr>
                                        <p:cTn id="34" dur="1" fill="hold">
                                          <p:stCondLst>
                                            <p:cond delay="0"/>
                                          </p:stCondLst>
                                        </p:cTn>
                                        <p:tgtEl>
                                          <p:spTgt spid="78"/>
                                        </p:tgtEl>
                                        <p:attrNameLst>
                                          <p:attrName>style.visibility</p:attrName>
                                        </p:attrNameLst>
                                      </p:cBhvr>
                                      <p:to>
                                        <p:strVal val="visible"/>
                                      </p:to>
                                    </p:set>
                                    <p:anim calcmode="lin" valueType="num">
                                      <p:cBhvr additive="repl">
                                        <p:cTn id="35" dur="500" fill="hold"/>
                                        <p:tgtEl>
                                          <p:spTgt spid="78"/>
                                        </p:tgtEl>
                                        <p:attrNameLst>
                                          <p:attrName>ppt_x</p:attrName>
                                        </p:attrNameLst>
                                      </p:cBhvr>
                                      <p:tavLst>
                                        <p:tav tm="0">
                                          <p:val>
                                            <p:strVal val="#ppt_x"/>
                                          </p:val>
                                        </p:tav>
                                        <p:tav tm="100000">
                                          <p:val>
                                            <p:strVal val="#ppt_x"/>
                                          </p:val>
                                        </p:tav>
                                      </p:tavLst>
                                    </p:anim>
                                    <p:anim calcmode="lin" valueType="num">
                                      <p:cBhvr additive="repl">
                                        <p:cTn id="36" dur="500" fill="hold"/>
                                        <p:tgtEl>
                                          <p:spTgt spid="78"/>
                                        </p:tgtEl>
                                        <p:attrNameLst>
                                          <p:attrName>ppt_y</p:attrName>
                                        </p:attrNameLst>
                                      </p:cBhvr>
                                      <p:tavLst>
                                        <p:tav tm="0">
                                          <p:val>
                                            <p:strVal val="1+#ppt_h/2"/>
                                          </p:val>
                                        </p:tav>
                                        <p:tav tm="100000">
                                          <p:val>
                                            <p:strVal val="#ppt_y"/>
                                          </p:val>
                                        </p:tav>
                                      </p:tavLst>
                                    </p:anim>
                                  </p:childTnLst>
                                </p:cTn>
                              </p:par>
                              <p:par>
                                <p:cTn id="37" nodeType="withEffect" fill="hold" presetClass="entr" presetID="2" presetSubtype="4">
                                  <p:stCondLst>
                                    <p:cond delay="0"/>
                                  </p:stCondLst>
                                  <p:childTnLst>
                                    <p:set>
                                      <p:cBhvr>
                                        <p:cTn id="38" dur="1" fill="hold">
                                          <p:stCondLst>
                                            <p:cond delay="0"/>
                                          </p:stCondLst>
                                        </p:cTn>
                                        <p:tgtEl>
                                          <p:spTgt spid="79"/>
                                        </p:tgtEl>
                                        <p:attrNameLst>
                                          <p:attrName>style.visibility</p:attrName>
                                        </p:attrNameLst>
                                      </p:cBhvr>
                                      <p:to>
                                        <p:strVal val="visible"/>
                                      </p:to>
                                    </p:set>
                                    <p:anim calcmode="lin" valueType="num">
                                      <p:cBhvr additive="repl">
                                        <p:cTn id="39" dur="500" fill="hold"/>
                                        <p:tgtEl>
                                          <p:spTgt spid="79"/>
                                        </p:tgtEl>
                                        <p:attrNameLst>
                                          <p:attrName>ppt_x</p:attrName>
                                        </p:attrNameLst>
                                      </p:cBhvr>
                                      <p:tavLst>
                                        <p:tav tm="0">
                                          <p:val>
                                            <p:strVal val="#ppt_x"/>
                                          </p:val>
                                        </p:tav>
                                        <p:tav tm="100000">
                                          <p:val>
                                            <p:strVal val="#ppt_x"/>
                                          </p:val>
                                        </p:tav>
                                      </p:tavLst>
                                    </p:anim>
                                    <p:anim calcmode="lin" valueType="num">
                                      <p:cBhvr additive="repl">
                                        <p:cTn id="40"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sldNum" idx="40"/>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2000" spc="-1" strike="noStrike">
                <a:solidFill>
                  <a:srgbClr val="ffff00"/>
                </a:solidFill>
                <a:latin typeface="Arial Black"/>
              </a:defRPr>
            </a:lvl1pPr>
          </a:lstStyle>
          <a:p>
            <a:pPr indent="0" algn="r" defTabSz="914400">
              <a:lnSpc>
                <a:spcPct val="100000"/>
              </a:lnSpc>
              <a:buNone/>
              <a:tabLst>
                <a:tab algn="l" pos="0"/>
              </a:tabLst>
            </a:pPr>
            <a:r>
              <a:rPr b="1" lang="en-US" sz="2000" spc="-1" strike="noStrike">
                <a:solidFill>
                  <a:srgbClr val="ffff00"/>
                </a:solidFill>
                <a:latin typeface="Arial Black"/>
              </a:rPr>
              <a:t>3</a:t>
            </a:r>
            <a:endParaRPr b="0" lang="en-US" sz="2000" spc="-1" strike="noStrike">
              <a:solidFill>
                <a:srgbClr val="ffffff"/>
              </a:solidFill>
              <a:latin typeface="Times New Roman"/>
            </a:endParaRPr>
          </a:p>
        </p:txBody>
      </p:sp>
      <p:sp>
        <p:nvSpPr>
          <p:cNvPr id="81" name="Rectangle 1"/>
          <p:cNvSpPr/>
          <p:nvPr/>
        </p:nvSpPr>
        <p:spPr>
          <a:xfrm>
            <a:off x="360" y="620640"/>
            <a:ext cx="12190680" cy="5774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3200" spc="-1" strike="noStrike">
                <a:solidFill>
                  <a:srgbClr val="ffff00"/>
                </a:solidFill>
                <a:latin typeface="Arial Black"/>
              </a:rPr>
              <a:t>OBJECTIVES</a:t>
            </a:r>
            <a:endParaRPr b="0" lang="en-US" sz="3200" spc="-1" strike="noStrike">
              <a:solidFill>
                <a:srgbClr val="ffffff"/>
              </a:solidFill>
              <a:latin typeface="Arial"/>
            </a:endParaRPr>
          </a:p>
        </p:txBody>
      </p:sp>
      <p:pic>
        <p:nvPicPr>
          <p:cNvPr id="82" name="Picture 1" descr="H:\CRAB\NN Logo.gif"/>
          <p:cNvPicPr/>
          <p:nvPr/>
        </p:nvPicPr>
        <p:blipFill>
          <a:blip r:embed="rId1"/>
          <a:stretch/>
        </p:blipFill>
        <p:spPr>
          <a:xfrm>
            <a:off x="98280" y="80640"/>
            <a:ext cx="849240" cy="808200"/>
          </a:xfrm>
          <a:prstGeom prst="rect">
            <a:avLst/>
          </a:prstGeom>
          <a:ln w="0">
            <a:noFill/>
          </a:ln>
        </p:spPr>
      </p:pic>
      <p:pic>
        <p:nvPicPr>
          <p:cNvPr id="83" name="Picture 2" descr=""/>
          <p:cNvPicPr/>
          <p:nvPr/>
        </p:nvPicPr>
        <p:blipFill>
          <a:blip r:embed="rId2"/>
          <a:stretch/>
        </p:blipFill>
        <p:spPr>
          <a:xfrm>
            <a:off x="11225520" y="80640"/>
            <a:ext cx="849240" cy="808200"/>
          </a:xfrm>
          <a:prstGeom prst="rect">
            <a:avLst/>
          </a:prstGeom>
          <a:ln w="0">
            <a:noFill/>
          </a:ln>
        </p:spPr>
      </p:pic>
      <p:sp>
        <p:nvSpPr>
          <p:cNvPr id="84" name="Rectangle 14"/>
          <p:cNvSpPr/>
          <p:nvPr/>
        </p:nvSpPr>
        <p:spPr>
          <a:xfrm>
            <a:off x="532044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85" name="Rectangle 24"/>
          <p:cNvSpPr/>
          <p:nvPr/>
        </p:nvSpPr>
        <p:spPr>
          <a:xfrm>
            <a:off x="5320440" y="645120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86" name="TextBox 1"/>
          <p:cNvSpPr/>
          <p:nvPr/>
        </p:nvSpPr>
        <p:spPr>
          <a:xfrm>
            <a:off x="886680" y="1883520"/>
            <a:ext cx="11303280" cy="4111560"/>
          </a:xfrm>
          <a:prstGeom prst="rect">
            <a:avLst/>
          </a:prstGeom>
          <a:noFill/>
          <a:ln w="0">
            <a:noFill/>
          </a:ln>
        </p:spPr>
        <p:style>
          <a:lnRef idx="0"/>
          <a:fillRef idx="0"/>
          <a:effectRef idx="0"/>
          <a:fontRef idx="minor"/>
        </p:style>
        <p:txBody>
          <a:bodyPr lIns="90000" rIns="90000" tIns="45000" bIns="45000" anchor="t">
            <a:spAutoFit/>
          </a:bodyPr>
          <a:p>
            <a:pPr marL="457200" indent="-457200" defTabSz="914400">
              <a:lnSpc>
                <a:spcPct val="100000"/>
              </a:lnSpc>
              <a:buClr>
                <a:srgbClr val="ffff00"/>
              </a:buClr>
              <a:buFont typeface="Calibri Light"/>
              <a:buAutoNum type="arabicPeriod"/>
            </a:pPr>
            <a:r>
              <a:rPr b="0" lang="en-US" sz="2200" spc="-1" strike="noStrike">
                <a:solidFill>
                  <a:srgbClr val="ffff00"/>
                </a:solidFill>
                <a:latin typeface="Arial Black"/>
                <a:ea typeface="Noto Serif CJK SC"/>
              </a:rPr>
              <a:t>TO EXAMINE THE IMPACT OF DIETARY MODIFICATIONS ON THE MANAGEMENT OF TYPE II DIABETES MELLITUS IN THE STUDY POPULATION</a:t>
            </a:r>
            <a:endParaRPr b="0" lang="en-US" sz="2200" spc="-1" strike="noStrike">
              <a:solidFill>
                <a:srgbClr val="ffffff"/>
              </a:solidFill>
              <a:latin typeface="Arial"/>
            </a:endParaRPr>
          </a:p>
          <a:p>
            <a:pPr defTabSz="914400">
              <a:lnSpc>
                <a:spcPct val="100000"/>
              </a:lnSpc>
            </a:pPr>
            <a:endParaRPr b="0" lang="en-US" sz="2200" spc="-1" strike="noStrike">
              <a:solidFill>
                <a:srgbClr val="ffffff"/>
              </a:solidFill>
              <a:latin typeface="Arial"/>
            </a:endParaRPr>
          </a:p>
          <a:p>
            <a:pPr defTabSz="914400">
              <a:lnSpc>
                <a:spcPct val="100000"/>
              </a:lnSpc>
            </a:pPr>
            <a:endParaRPr b="0" lang="en-US" sz="2200" spc="-1" strike="noStrike">
              <a:solidFill>
                <a:srgbClr val="ffffff"/>
              </a:solidFill>
              <a:latin typeface="Arial"/>
            </a:endParaRPr>
          </a:p>
          <a:p>
            <a:pPr marL="457200" indent="-457200" defTabSz="914400">
              <a:lnSpc>
                <a:spcPct val="100000"/>
              </a:lnSpc>
              <a:buClr>
                <a:srgbClr val="ffff00"/>
              </a:buClr>
              <a:buFont typeface="Calibri Light"/>
              <a:buAutoNum type="arabicPeriod"/>
            </a:pPr>
            <a:r>
              <a:rPr b="0" lang="en-US" sz="2200" spc="-1" strike="noStrike">
                <a:solidFill>
                  <a:srgbClr val="ffff00"/>
                </a:solidFill>
                <a:latin typeface="Arial Black"/>
                <a:ea typeface="Noto Serif CJK SC"/>
              </a:rPr>
              <a:t>TO ASSESS THE CHALLENGES FACED BY INDIVIDUALS IN ADHERING TO DIETARY RECOMMENDATIONS  FOR MANAGING TYPE II DIABETES</a:t>
            </a:r>
            <a:endParaRPr b="0" lang="en-US" sz="2200" spc="-1" strike="noStrike">
              <a:solidFill>
                <a:srgbClr val="ffffff"/>
              </a:solidFill>
              <a:latin typeface="Arial"/>
            </a:endParaRPr>
          </a:p>
          <a:p>
            <a:pPr defTabSz="914400">
              <a:lnSpc>
                <a:spcPct val="100000"/>
              </a:lnSpc>
            </a:pPr>
            <a:endParaRPr b="0" lang="en-US" sz="2200" spc="-1" strike="noStrike">
              <a:solidFill>
                <a:srgbClr val="ffffff"/>
              </a:solidFill>
              <a:latin typeface="Arial"/>
            </a:endParaRPr>
          </a:p>
          <a:p>
            <a:pPr defTabSz="914400">
              <a:lnSpc>
                <a:spcPct val="100000"/>
              </a:lnSpc>
            </a:pPr>
            <a:endParaRPr b="0" lang="en-US" sz="2200" spc="-1" strike="noStrike">
              <a:solidFill>
                <a:srgbClr val="ffffff"/>
              </a:solidFill>
              <a:latin typeface="Arial"/>
            </a:endParaRPr>
          </a:p>
          <a:p>
            <a:pPr marL="457200" indent="-457200" defTabSz="914400">
              <a:lnSpc>
                <a:spcPct val="100000"/>
              </a:lnSpc>
              <a:buClr>
                <a:srgbClr val="ffff00"/>
              </a:buClr>
              <a:buFont typeface="Calibri Light"/>
              <a:buAutoNum type="arabicPeriod"/>
            </a:pPr>
            <a:r>
              <a:rPr b="0" lang="en-US" sz="2200" spc="-1" strike="noStrike">
                <a:solidFill>
                  <a:srgbClr val="ffff00"/>
                </a:solidFill>
                <a:latin typeface="Arial Black"/>
                <a:ea typeface="Noto Serif CJK SC"/>
              </a:rPr>
              <a:t>TO IDENTIFY AND ANALYZE THE KEY FACTORS INFLUENCING SUCCESSFUL DIETARY MODIFICATIONS IN THE MANAGEMENT OF TYPE II DIABETES</a:t>
            </a:r>
            <a:endParaRPr b="0" lang="en-US" sz="2200" spc="-1" strike="noStrike">
              <a:solidFill>
                <a:srgbClr val="ffffff"/>
              </a:solidFill>
              <a:latin typeface="Arial"/>
            </a:endParaRPr>
          </a:p>
          <a:p>
            <a:pPr defTabSz="914400">
              <a:lnSpc>
                <a:spcPct val="100000"/>
              </a:lnSpc>
            </a:pPr>
            <a:endParaRPr b="0" lang="en-US" sz="2200" spc="-1" strike="noStrike">
              <a:solidFill>
                <a:srgbClr val="ffffff"/>
              </a:solidFill>
              <a:latin typeface="Arial"/>
            </a:endParaRPr>
          </a:p>
          <a:p>
            <a:pPr defTabSz="914400">
              <a:lnSpc>
                <a:spcPct val="100000"/>
              </a:lnSpc>
            </a:pPr>
            <a:endParaRPr b="0" lang="en-US" sz="22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41" dur="indefinite" restart="never" nodeType="tmRoot">
          <p:childTnLst>
            <p:seq>
              <p:cTn id="42" dur="indefinite" nodeType="mainSeq">
                <p:childTnLst>
                  <p:par>
                    <p:cTn id="43" fill="hold">
                      <p:stCondLst>
                        <p:cond delay="indefinite"/>
                      </p:stCondLst>
                      <p:childTnLst>
                        <p:par>
                          <p:cTn id="44" fill="hold">
                            <p:stCondLst>
                              <p:cond delay="0"/>
                            </p:stCondLst>
                            <p:childTnLst>
                              <p:par>
                                <p:cTn id="45" nodeType="clickEffect" fill="hold" presetClass="entr" presetID="2" presetSubtype="4">
                                  <p:stCondLst>
                                    <p:cond delay="0"/>
                                  </p:stCondLst>
                                  <p:childTnLst>
                                    <p:set>
                                      <p:cBhvr>
                                        <p:cTn id="46" dur="1" fill="hold">
                                          <p:stCondLst>
                                            <p:cond delay="0"/>
                                          </p:stCondLst>
                                        </p:cTn>
                                        <p:tgtEl>
                                          <p:spTgt spid="81"/>
                                        </p:tgtEl>
                                        <p:attrNameLst>
                                          <p:attrName>style.visibility</p:attrName>
                                        </p:attrNameLst>
                                      </p:cBhvr>
                                      <p:to>
                                        <p:strVal val="visible"/>
                                      </p:to>
                                    </p:set>
                                    <p:anim calcmode="lin" valueType="num">
                                      <p:cBhvr additive="repl">
                                        <p:cTn id="47" dur="500" fill="hold"/>
                                        <p:tgtEl>
                                          <p:spTgt spid="81"/>
                                        </p:tgtEl>
                                        <p:attrNameLst>
                                          <p:attrName>ppt_x</p:attrName>
                                        </p:attrNameLst>
                                      </p:cBhvr>
                                      <p:tavLst>
                                        <p:tav tm="0">
                                          <p:val>
                                            <p:strVal val="#ppt_x"/>
                                          </p:val>
                                        </p:tav>
                                        <p:tav tm="100000">
                                          <p:val>
                                            <p:strVal val="#ppt_x"/>
                                          </p:val>
                                        </p:tav>
                                      </p:tavLst>
                                    </p:anim>
                                    <p:anim calcmode="lin" valueType="num">
                                      <p:cBhvr additive="repl">
                                        <p:cTn id="48"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Num" idx="41"/>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1800" spc="-1" strike="noStrike">
                <a:solidFill>
                  <a:srgbClr val="ffff00"/>
                </a:solidFill>
                <a:latin typeface="Arial Black"/>
              </a:defRPr>
            </a:lvl1pPr>
          </a:lstStyle>
          <a:p>
            <a:pPr indent="0" algn="r" defTabSz="914400">
              <a:lnSpc>
                <a:spcPct val="100000"/>
              </a:lnSpc>
              <a:buNone/>
              <a:tabLst>
                <a:tab algn="l" pos="0"/>
              </a:tabLst>
            </a:pPr>
            <a:r>
              <a:rPr b="1" lang="en-US" sz="1800" spc="-1" strike="noStrike">
                <a:solidFill>
                  <a:srgbClr val="ffff00"/>
                </a:solidFill>
                <a:latin typeface="Arial Black"/>
              </a:rPr>
              <a:t>6</a:t>
            </a:r>
            <a:endParaRPr b="0" lang="en-US" sz="1800" spc="-1" strike="noStrike">
              <a:solidFill>
                <a:srgbClr val="ffffff"/>
              </a:solidFill>
              <a:latin typeface="Times New Roman"/>
            </a:endParaRPr>
          </a:p>
        </p:txBody>
      </p:sp>
      <p:sp>
        <p:nvSpPr>
          <p:cNvPr id="88" name="Rectangle 2"/>
          <p:cNvSpPr/>
          <p:nvPr/>
        </p:nvSpPr>
        <p:spPr>
          <a:xfrm>
            <a:off x="3645360" y="685800"/>
            <a:ext cx="6044040" cy="8211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50000"/>
              </a:lnSpc>
            </a:pPr>
            <a:r>
              <a:rPr b="1" lang="en-US" sz="3200" spc="-1" strike="noStrike">
                <a:solidFill>
                  <a:srgbClr val="ffff00"/>
                </a:solidFill>
                <a:latin typeface="Arial Black"/>
                <a:ea typeface="Tahoma"/>
              </a:rPr>
              <a:t>SIGNIFICANCE OF THE STUDY</a:t>
            </a:r>
            <a:endParaRPr b="0" lang="en-US" sz="3200" spc="-1" strike="noStrike">
              <a:solidFill>
                <a:srgbClr val="ffffff"/>
              </a:solidFill>
              <a:latin typeface="Arial"/>
            </a:endParaRPr>
          </a:p>
        </p:txBody>
      </p:sp>
      <p:pic>
        <p:nvPicPr>
          <p:cNvPr id="89" name="Picture 3" descr="H:\CRAB\NN Logo.gif"/>
          <p:cNvPicPr/>
          <p:nvPr/>
        </p:nvPicPr>
        <p:blipFill>
          <a:blip r:embed="rId1"/>
          <a:stretch/>
        </p:blipFill>
        <p:spPr>
          <a:xfrm>
            <a:off x="98280" y="80640"/>
            <a:ext cx="849240" cy="808200"/>
          </a:xfrm>
          <a:prstGeom prst="rect">
            <a:avLst/>
          </a:prstGeom>
          <a:ln w="0">
            <a:noFill/>
          </a:ln>
        </p:spPr>
      </p:pic>
      <p:pic>
        <p:nvPicPr>
          <p:cNvPr id="90" name="Picture 4" descr=""/>
          <p:cNvPicPr/>
          <p:nvPr/>
        </p:nvPicPr>
        <p:blipFill>
          <a:blip r:embed="rId2"/>
          <a:stretch/>
        </p:blipFill>
        <p:spPr>
          <a:xfrm>
            <a:off x="11225520" y="80640"/>
            <a:ext cx="849240" cy="808200"/>
          </a:xfrm>
          <a:prstGeom prst="rect">
            <a:avLst/>
          </a:prstGeom>
          <a:ln w="0">
            <a:noFill/>
          </a:ln>
        </p:spPr>
      </p:pic>
      <p:sp>
        <p:nvSpPr>
          <p:cNvPr id="91" name="Rectangle 5"/>
          <p:cNvSpPr/>
          <p:nvPr/>
        </p:nvSpPr>
        <p:spPr>
          <a:xfrm>
            <a:off x="532044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92" name="Rectangle 6"/>
          <p:cNvSpPr/>
          <p:nvPr/>
        </p:nvSpPr>
        <p:spPr>
          <a:xfrm>
            <a:off x="5320440" y="645120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93" name="Rectangle 7"/>
          <p:cNvSpPr/>
          <p:nvPr/>
        </p:nvSpPr>
        <p:spPr>
          <a:xfrm>
            <a:off x="886680" y="2285280"/>
            <a:ext cx="10275840" cy="4154040"/>
          </a:xfrm>
          <a:prstGeom prst="rect">
            <a:avLst/>
          </a:prstGeom>
          <a:noFill/>
          <a:ln w="0">
            <a:noFill/>
          </a:ln>
        </p:spPr>
        <p:style>
          <a:lnRef idx="0"/>
          <a:fillRef idx="0"/>
          <a:effectRef idx="0"/>
          <a:fontRef idx="minor"/>
        </p:style>
        <p:txBody>
          <a:bodyPr lIns="90000" rIns="90000" tIns="45000" bIns="45000" anchor="t">
            <a:spAutoFit/>
          </a:bodyPr>
          <a:p>
            <a:pPr marL="457200" indent="-457200" algn="just" defTabSz="914400">
              <a:lnSpc>
                <a:spcPct val="100000"/>
              </a:lnSpc>
              <a:spcBef>
                <a:spcPts val="1191"/>
              </a:spcBef>
              <a:spcAft>
                <a:spcPts val="992"/>
              </a:spcAft>
              <a:buClr>
                <a:srgbClr val="ffff00"/>
              </a:buClr>
              <a:buFont typeface="Calibri Light"/>
              <a:buAutoNum type="arabicPeriod"/>
            </a:pPr>
            <a:r>
              <a:rPr b="1" lang="en-US" sz="2200" spc="-1" strike="noStrike">
                <a:solidFill>
                  <a:srgbClr val="ffff00"/>
                </a:solidFill>
                <a:latin typeface="Arial Black"/>
              </a:rPr>
              <a:t>PROVIDE INSIGHTS INTO THE ROLE OF DIETARY MODIFICATION IN MANAGING TYPE II DIABETES MELLITUS</a:t>
            </a:r>
            <a:endParaRPr b="0" lang="en-US" sz="2200" spc="-1" strike="noStrike">
              <a:solidFill>
                <a:srgbClr val="ffffff"/>
              </a:solidFill>
              <a:latin typeface="Arial"/>
            </a:endParaRPr>
          </a:p>
          <a:p>
            <a:pPr marL="457200" indent="-457200" algn="just" defTabSz="914400">
              <a:lnSpc>
                <a:spcPct val="100000"/>
              </a:lnSpc>
              <a:spcBef>
                <a:spcPts val="1191"/>
              </a:spcBef>
              <a:spcAft>
                <a:spcPts val="992"/>
              </a:spcAft>
              <a:buClr>
                <a:srgbClr val="ffff00"/>
              </a:buClr>
              <a:buFont typeface="Calibri Light"/>
              <a:buAutoNum type="arabicPeriod"/>
            </a:pPr>
            <a:r>
              <a:rPr b="1" lang="en-US" sz="2200" spc="-1" strike="noStrike">
                <a:solidFill>
                  <a:srgbClr val="ffff00"/>
                </a:solidFill>
                <a:latin typeface="Arial Black"/>
              </a:rPr>
              <a:t>RAISE AWARENESS ABOUT THE IMPORTANCE OF DIETARY CHANGES IN DIABETES MANAGEMENT</a:t>
            </a:r>
            <a:endParaRPr b="0" lang="en-US" sz="2200" spc="-1" strike="noStrike">
              <a:solidFill>
                <a:srgbClr val="ffffff"/>
              </a:solidFill>
              <a:latin typeface="Arial"/>
            </a:endParaRPr>
          </a:p>
          <a:p>
            <a:pPr marL="457200" indent="-457200" algn="just" defTabSz="914400">
              <a:lnSpc>
                <a:spcPct val="100000"/>
              </a:lnSpc>
              <a:spcBef>
                <a:spcPts val="1191"/>
              </a:spcBef>
              <a:spcAft>
                <a:spcPts val="992"/>
              </a:spcAft>
              <a:buClr>
                <a:srgbClr val="ffff00"/>
              </a:buClr>
              <a:buFont typeface="Calibri Light"/>
              <a:buAutoNum type="arabicPeriod"/>
            </a:pPr>
            <a:r>
              <a:rPr b="1" lang="en-US" sz="2200" spc="-1" strike="noStrike">
                <a:solidFill>
                  <a:srgbClr val="ffff00"/>
                </a:solidFill>
                <a:latin typeface="Arial Black"/>
              </a:rPr>
              <a:t>OFFER PRACTICAL STRATEGIES FOR OVERCOMING CHALLENGES FACED BY PATIENTS</a:t>
            </a:r>
            <a:endParaRPr b="0" lang="en-US" sz="2200" spc="-1" strike="noStrike">
              <a:solidFill>
                <a:srgbClr val="ffffff"/>
              </a:solidFill>
              <a:latin typeface="Arial"/>
            </a:endParaRPr>
          </a:p>
          <a:p>
            <a:pPr marL="457200" indent="-457200" algn="just" defTabSz="914400">
              <a:lnSpc>
                <a:spcPct val="100000"/>
              </a:lnSpc>
              <a:spcBef>
                <a:spcPts val="1191"/>
              </a:spcBef>
              <a:spcAft>
                <a:spcPts val="992"/>
              </a:spcAft>
              <a:buClr>
                <a:srgbClr val="ffff00"/>
              </a:buClr>
              <a:buFont typeface="Calibri Light"/>
              <a:buAutoNum type="arabicPeriod"/>
            </a:pPr>
            <a:r>
              <a:rPr b="1" lang="en-US" sz="2200" spc="-1" strike="noStrike">
                <a:solidFill>
                  <a:srgbClr val="ffff00"/>
                </a:solidFill>
                <a:latin typeface="Arial Black"/>
              </a:rPr>
              <a:t>PROMOTE EFFECTIVE DIETARY PRACTICES TO ENHANCE WELL-BEING AND REDUCE COMPLICATIONS</a:t>
            </a:r>
            <a:endParaRPr b="0" lang="en-US" sz="2200" spc="-1" strike="noStrike">
              <a:solidFill>
                <a:srgbClr val="ffffff"/>
              </a:solidFill>
              <a:latin typeface="Arial"/>
            </a:endParaRPr>
          </a:p>
          <a:p>
            <a:pPr algn="just" defTabSz="914400">
              <a:lnSpc>
                <a:spcPct val="100000"/>
              </a:lnSpc>
              <a:spcBef>
                <a:spcPts val="1191"/>
              </a:spcBef>
              <a:spcAft>
                <a:spcPts val="992"/>
              </a:spcAft>
            </a:pP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49" dur="indefinite" restart="never" nodeType="tmRoot">
          <p:childTnLst>
            <p:seq>
              <p:cTn id="50" dur="indefinite" nodeType="mainSeq">
                <p:childTnLst>
                  <p:par>
                    <p:cTn id="51" fill="hold">
                      <p:stCondLst>
                        <p:cond delay="indefinite"/>
                      </p:stCondLst>
                      <p:childTnLst>
                        <p:par>
                          <p:cTn id="52" fill="hold">
                            <p:stCondLst>
                              <p:cond delay="0"/>
                            </p:stCondLst>
                            <p:childTnLst>
                              <p:par>
                                <p:cTn id="53" nodeType="clickEffect" fill="hold" presetClass="entr" presetID="2" presetSubtype="4">
                                  <p:stCondLst>
                                    <p:cond delay="0"/>
                                  </p:stCondLst>
                                  <p:childTnLst>
                                    <p:set>
                                      <p:cBhvr>
                                        <p:cTn id="54" dur="1" fill="hold">
                                          <p:stCondLst>
                                            <p:cond delay="0"/>
                                          </p:stCondLst>
                                        </p:cTn>
                                        <p:tgtEl>
                                          <p:spTgt spid="88"/>
                                        </p:tgtEl>
                                        <p:attrNameLst>
                                          <p:attrName>style.visibility</p:attrName>
                                        </p:attrNameLst>
                                      </p:cBhvr>
                                      <p:to>
                                        <p:strVal val="visible"/>
                                      </p:to>
                                    </p:set>
                                    <p:anim calcmode="lin" valueType="num">
                                      <p:cBhvr additive="repl">
                                        <p:cTn id="55" dur="500" fill="hold"/>
                                        <p:tgtEl>
                                          <p:spTgt spid="88"/>
                                        </p:tgtEl>
                                        <p:attrNameLst>
                                          <p:attrName>ppt_x</p:attrName>
                                        </p:attrNameLst>
                                      </p:cBhvr>
                                      <p:tavLst>
                                        <p:tav tm="0">
                                          <p:val>
                                            <p:strVal val="#ppt_x"/>
                                          </p:val>
                                        </p:tav>
                                        <p:tav tm="100000">
                                          <p:val>
                                            <p:strVal val="#ppt_x"/>
                                          </p:val>
                                        </p:tav>
                                      </p:tavLst>
                                    </p:anim>
                                    <p:anim calcmode="lin" valueType="num">
                                      <p:cBhvr additive="repl">
                                        <p:cTn id="56" dur="500" fill="hold"/>
                                        <p:tgtEl>
                                          <p:spTgt spid="88"/>
                                        </p:tgtEl>
                                        <p:attrNameLst>
                                          <p:attrName>ppt_y</p:attrName>
                                        </p:attrNameLst>
                                      </p:cBhvr>
                                      <p:tavLst>
                                        <p:tav tm="0">
                                          <p:val>
                                            <p:strVal val="1+#ppt_h/2"/>
                                          </p:val>
                                        </p:tav>
                                        <p:tav tm="100000">
                                          <p:val>
                                            <p:strVal val="#ppt_y"/>
                                          </p:val>
                                        </p:tav>
                                      </p:tavLst>
                                    </p:anim>
                                  </p:childTnLst>
                                </p:cTn>
                              </p:par>
                              <p:par>
                                <p:cTn id="57" nodeType="withEffect" fill="hold" presetClass="entr" presetID="2" presetSubtype="4">
                                  <p:stCondLst>
                                    <p:cond delay="0"/>
                                  </p:stCondLst>
                                  <p:childTnLst>
                                    <p:set>
                                      <p:cBhvr>
                                        <p:cTn id="58" dur="1" fill="hold">
                                          <p:stCondLst>
                                            <p:cond delay="0"/>
                                          </p:stCondLst>
                                        </p:cTn>
                                        <p:tgtEl>
                                          <p:spTgt spid="93"/>
                                        </p:tgtEl>
                                        <p:attrNameLst>
                                          <p:attrName>style.visibility</p:attrName>
                                        </p:attrNameLst>
                                      </p:cBhvr>
                                      <p:to>
                                        <p:strVal val="visible"/>
                                      </p:to>
                                    </p:set>
                                    <p:anim calcmode="lin" valueType="num">
                                      <p:cBhvr additive="repl">
                                        <p:cTn id="59" dur="500" fill="hold"/>
                                        <p:tgtEl>
                                          <p:spTgt spid="93"/>
                                        </p:tgtEl>
                                        <p:attrNameLst>
                                          <p:attrName>ppt_x</p:attrName>
                                        </p:attrNameLst>
                                      </p:cBhvr>
                                      <p:tavLst>
                                        <p:tav tm="0">
                                          <p:val>
                                            <p:strVal val="#ppt_x"/>
                                          </p:val>
                                        </p:tav>
                                        <p:tav tm="100000">
                                          <p:val>
                                            <p:strVal val="#ppt_x"/>
                                          </p:val>
                                        </p:tav>
                                      </p:tavLst>
                                    </p:anim>
                                    <p:anim calcmode="lin" valueType="num">
                                      <p:cBhvr additive="repl">
                                        <p:cTn id="60"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Num" idx="42"/>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1800" spc="-1" strike="noStrike">
                <a:solidFill>
                  <a:srgbClr val="ffff00"/>
                </a:solidFill>
                <a:latin typeface="Arial Black"/>
              </a:defRPr>
            </a:lvl1pPr>
          </a:lstStyle>
          <a:p>
            <a:pPr indent="0" algn="r" defTabSz="914400">
              <a:lnSpc>
                <a:spcPct val="100000"/>
              </a:lnSpc>
              <a:buNone/>
              <a:tabLst>
                <a:tab algn="l" pos="0"/>
              </a:tabLst>
            </a:pPr>
            <a:r>
              <a:rPr b="1" lang="en-US" sz="1800" spc="-1" strike="noStrike">
                <a:solidFill>
                  <a:srgbClr val="ffff00"/>
                </a:solidFill>
                <a:latin typeface="Arial Black"/>
              </a:rPr>
              <a:t>7</a:t>
            </a:r>
            <a:endParaRPr b="0" lang="en-US" sz="1800" spc="-1" strike="noStrike">
              <a:solidFill>
                <a:srgbClr val="ffffff"/>
              </a:solidFill>
              <a:latin typeface="Times New Roman"/>
            </a:endParaRPr>
          </a:p>
        </p:txBody>
      </p:sp>
      <p:sp>
        <p:nvSpPr>
          <p:cNvPr id="95" name="Rectangle 2"/>
          <p:cNvSpPr/>
          <p:nvPr/>
        </p:nvSpPr>
        <p:spPr>
          <a:xfrm>
            <a:off x="921600" y="550440"/>
            <a:ext cx="10279440" cy="82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50000"/>
              </a:lnSpc>
            </a:pPr>
            <a:r>
              <a:rPr b="1" lang="en-US" sz="3200" spc="-1" strike="noStrike">
                <a:solidFill>
                  <a:srgbClr val="ffff00"/>
                </a:solidFill>
                <a:latin typeface="Arial Black"/>
                <a:ea typeface="Tahoma"/>
              </a:rPr>
              <a:t>RESEARCH QUESTIONS</a:t>
            </a:r>
            <a:endParaRPr b="0" lang="en-US" sz="3200" spc="-1" strike="noStrike">
              <a:solidFill>
                <a:srgbClr val="ffffff"/>
              </a:solidFill>
              <a:latin typeface="Arial"/>
            </a:endParaRPr>
          </a:p>
        </p:txBody>
      </p:sp>
      <p:pic>
        <p:nvPicPr>
          <p:cNvPr id="96" name="Picture 4" descr="H:\CRAB\NN Logo.gif"/>
          <p:cNvPicPr/>
          <p:nvPr/>
        </p:nvPicPr>
        <p:blipFill>
          <a:blip r:embed="rId1"/>
          <a:stretch/>
        </p:blipFill>
        <p:spPr>
          <a:xfrm>
            <a:off x="98280" y="80640"/>
            <a:ext cx="845280" cy="808200"/>
          </a:xfrm>
          <a:prstGeom prst="rect">
            <a:avLst/>
          </a:prstGeom>
          <a:ln w="0">
            <a:noFill/>
          </a:ln>
        </p:spPr>
      </p:pic>
      <p:pic>
        <p:nvPicPr>
          <p:cNvPr id="97" name="Picture 4" descr=""/>
          <p:cNvPicPr/>
          <p:nvPr/>
        </p:nvPicPr>
        <p:blipFill>
          <a:blip r:embed="rId2"/>
          <a:stretch/>
        </p:blipFill>
        <p:spPr>
          <a:xfrm>
            <a:off x="11225520" y="80640"/>
            <a:ext cx="845280" cy="808200"/>
          </a:xfrm>
          <a:prstGeom prst="rect">
            <a:avLst/>
          </a:prstGeom>
          <a:ln w="0">
            <a:noFill/>
          </a:ln>
        </p:spPr>
      </p:pic>
      <p:sp>
        <p:nvSpPr>
          <p:cNvPr id="98" name="Rectangle 5"/>
          <p:cNvSpPr/>
          <p:nvPr/>
        </p:nvSpPr>
        <p:spPr>
          <a:xfrm>
            <a:off x="5177880" y="6352200"/>
            <a:ext cx="181656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99" name="Rectangle 6"/>
          <p:cNvSpPr/>
          <p:nvPr/>
        </p:nvSpPr>
        <p:spPr>
          <a:xfrm>
            <a:off x="5163840" y="84960"/>
            <a:ext cx="181656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100" name="Rectangle 7"/>
          <p:cNvSpPr/>
          <p:nvPr/>
        </p:nvSpPr>
        <p:spPr>
          <a:xfrm>
            <a:off x="806040" y="1879560"/>
            <a:ext cx="10743120" cy="4110120"/>
          </a:xfrm>
          <a:prstGeom prst="rect">
            <a:avLst/>
          </a:prstGeom>
          <a:noFill/>
          <a:ln w="0">
            <a:noFill/>
          </a:ln>
        </p:spPr>
        <p:style>
          <a:lnRef idx="0"/>
          <a:fillRef idx="0"/>
          <a:effectRef idx="0"/>
          <a:fontRef idx="minor"/>
        </p:style>
        <p:txBody>
          <a:bodyPr lIns="90000" rIns="90000" tIns="45000" bIns="45000" anchor="t">
            <a:spAutoFit/>
          </a:bodyPr>
          <a:p>
            <a:pPr marL="457200" indent="-457200" algn="just" defTabSz="914400">
              <a:lnSpc>
                <a:spcPct val="150000"/>
              </a:lnSpc>
              <a:buClr>
                <a:srgbClr val="ffff00"/>
              </a:buClr>
              <a:buFont typeface="Calibri Light"/>
              <a:buAutoNum type="arabicPeriod"/>
            </a:pPr>
            <a:r>
              <a:rPr b="1" lang="en-US" sz="2200" spc="-1" strike="noStrike">
                <a:solidFill>
                  <a:srgbClr val="ffff00"/>
                </a:solidFill>
                <a:latin typeface="Arial Black"/>
                <a:ea typeface="Calibri"/>
              </a:rPr>
              <a:t>HAVE YOU MADE CHANGES TO YOUR CHOICE OF FOOD SINCE BEING DIAGNOSED WITH DIABETES?</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a:p>
            <a:pPr marL="457200" indent="-457200" algn="just" defTabSz="914400">
              <a:lnSpc>
                <a:spcPct val="150000"/>
              </a:lnSpc>
              <a:buClr>
                <a:srgbClr val="ffff00"/>
              </a:buClr>
              <a:buFont typeface="Calibri Light"/>
              <a:buAutoNum type="arabicPeriod"/>
            </a:pPr>
            <a:r>
              <a:rPr b="1" lang="en-US" sz="2200" spc="-1" strike="noStrike">
                <a:solidFill>
                  <a:srgbClr val="ffff00"/>
                </a:solidFill>
                <a:latin typeface="Arial Black"/>
                <a:ea typeface="Calibri"/>
              </a:rPr>
              <a:t>HAVE YOU IMPLEMENTED SPECIFIC DIETARY CHANGES TO MANAGE YOUR TYPE II DIABETES?</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a:p>
            <a:pPr marL="457200" indent="-457200" algn="just" defTabSz="914400">
              <a:lnSpc>
                <a:spcPct val="150000"/>
              </a:lnSpc>
              <a:buClr>
                <a:srgbClr val="ffff00"/>
              </a:buClr>
              <a:buFont typeface="Calibri Light"/>
              <a:buAutoNum type="arabicPeriod"/>
            </a:pPr>
            <a:r>
              <a:rPr b="1" lang="en-US" sz="2200" spc="-1" strike="noStrike">
                <a:solidFill>
                  <a:srgbClr val="ffff00"/>
                </a:solidFill>
                <a:latin typeface="Arial Black"/>
                <a:ea typeface="Calibri"/>
              </a:rPr>
              <a:t>HAVE YOU HEARD OF THE GLYCEMIC INDEX (GI) AND HOW IT RELATES TO BLOOD SUGAR?</a:t>
            </a:r>
            <a:endParaRPr b="0" lang="en-US" sz="22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61" dur="indefinite" restart="never" nodeType="tmRoot">
          <p:childTnLst>
            <p:seq>
              <p:cTn id="62" dur="indefinite" nodeType="mainSeq">
                <p:childTnLst>
                  <p:par>
                    <p:cTn id="63" fill="hold">
                      <p:stCondLst>
                        <p:cond delay="indefinite"/>
                      </p:stCondLst>
                      <p:childTnLst>
                        <p:par>
                          <p:cTn id="64" fill="hold">
                            <p:stCondLst>
                              <p:cond delay="0"/>
                            </p:stCondLst>
                            <p:childTnLst>
                              <p:par>
                                <p:cTn id="65" nodeType="clickEffect" fill="hold" presetClass="entr" presetID="2" presetSubtype="4">
                                  <p:stCondLst>
                                    <p:cond delay="0"/>
                                  </p:stCondLst>
                                  <p:childTnLst>
                                    <p:set>
                                      <p:cBhvr>
                                        <p:cTn id="66" dur="1" fill="hold">
                                          <p:stCondLst>
                                            <p:cond delay="0"/>
                                          </p:stCondLst>
                                        </p:cTn>
                                        <p:tgtEl>
                                          <p:spTgt spid="95"/>
                                        </p:tgtEl>
                                        <p:attrNameLst>
                                          <p:attrName>style.visibility</p:attrName>
                                        </p:attrNameLst>
                                      </p:cBhvr>
                                      <p:to>
                                        <p:strVal val="visible"/>
                                      </p:to>
                                    </p:set>
                                    <p:anim calcmode="lin" valueType="num">
                                      <p:cBhvr additive="repl">
                                        <p:cTn id="67" dur="500" fill="hold"/>
                                        <p:tgtEl>
                                          <p:spTgt spid="95"/>
                                        </p:tgtEl>
                                        <p:attrNameLst>
                                          <p:attrName>ppt_x</p:attrName>
                                        </p:attrNameLst>
                                      </p:cBhvr>
                                      <p:tavLst>
                                        <p:tav tm="0">
                                          <p:val>
                                            <p:strVal val="#ppt_x"/>
                                          </p:val>
                                        </p:tav>
                                        <p:tav tm="100000">
                                          <p:val>
                                            <p:strVal val="#ppt_x"/>
                                          </p:val>
                                        </p:tav>
                                      </p:tavLst>
                                    </p:anim>
                                    <p:anim calcmode="lin" valueType="num">
                                      <p:cBhvr additive="repl">
                                        <p:cTn id="68" dur="500" fill="hold"/>
                                        <p:tgtEl>
                                          <p:spTgt spid="95"/>
                                        </p:tgtEl>
                                        <p:attrNameLst>
                                          <p:attrName>ppt_y</p:attrName>
                                        </p:attrNameLst>
                                      </p:cBhvr>
                                      <p:tavLst>
                                        <p:tav tm="0">
                                          <p:val>
                                            <p:strVal val="1+#ppt_h/2"/>
                                          </p:val>
                                        </p:tav>
                                        <p:tav tm="100000">
                                          <p:val>
                                            <p:strVal val="#ppt_y"/>
                                          </p:val>
                                        </p:tav>
                                      </p:tavLst>
                                    </p:anim>
                                  </p:childTnLst>
                                </p:cTn>
                              </p:par>
                              <p:par>
                                <p:cTn id="69" nodeType="withEffect" fill="hold" presetClass="entr" presetID="2" presetSubtype="4">
                                  <p:stCondLst>
                                    <p:cond delay="0"/>
                                  </p:stCondLst>
                                  <p:childTnLst>
                                    <p:set>
                                      <p:cBhvr>
                                        <p:cTn id="70" dur="1" fill="hold">
                                          <p:stCondLst>
                                            <p:cond delay="0"/>
                                          </p:stCondLst>
                                        </p:cTn>
                                        <p:tgtEl>
                                          <p:spTgt spid="100"/>
                                        </p:tgtEl>
                                        <p:attrNameLst>
                                          <p:attrName>style.visibility</p:attrName>
                                        </p:attrNameLst>
                                      </p:cBhvr>
                                      <p:to>
                                        <p:strVal val="visible"/>
                                      </p:to>
                                    </p:set>
                                    <p:anim calcmode="lin" valueType="num">
                                      <p:cBhvr additive="repl">
                                        <p:cTn id="71" dur="500" fill="hold"/>
                                        <p:tgtEl>
                                          <p:spTgt spid="100"/>
                                        </p:tgtEl>
                                        <p:attrNameLst>
                                          <p:attrName>ppt_x</p:attrName>
                                        </p:attrNameLst>
                                      </p:cBhvr>
                                      <p:tavLst>
                                        <p:tav tm="0">
                                          <p:val>
                                            <p:strVal val="#ppt_x"/>
                                          </p:val>
                                        </p:tav>
                                        <p:tav tm="100000">
                                          <p:val>
                                            <p:strVal val="#ppt_x"/>
                                          </p:val>
                                        </p:tav>
                                      </p:tavLst>
                                    </p:anim>
                                    <p:anim calcmode="lin" valueType="num">
                                      <p:cBhvr additive="repl">
                                        <p:cTn id="72"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sldNum" idx="43"/>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1" lang="en-US" sz="1800" spc="-1" strike="noStrike">
                <a:solidFill>
                  <a:srgbClr val="ffff00"/>
                </a:solidFill>
                <a:latin typeface="Arial Black"/>
              </a:defRPr>
            </a:lvl1pPr>
          </a:lstStyle>
          <a:p>
            <a:pPr indent="0" algn="r" defTabSz="914400">
              <a:lnSpc>
                <a:spcPct val="100000"/>
              </a:lnSpc>
              <a:buNone/>
              <a:tabLst>
                <a:tab algn="l" pos="0"/>
              </a:tabLst>
            </a:pPr>
            <a:r>
              <a:rPr b="1" lang="en-US" sz="1800" spc="-1" strike="noStrike">
                <a:solidFill>
                  <a:srgbClr val="ffff00"/>
                </a:solidFill>
                <a:latin typeface="Arial Black"/>
              </a:rPr>
              <a:t>7</a:t>
            </a:r>
            <a:endParaRPr b="0" lang="en-US" sz="1800" spc="-1" strike="noStrike">
              <a:solidFill>
                <a:srgbClr val="ffffff"/>
              </a:solidFill>
              <a:latin typeface="Times New Roman"/>
            </a:endParaRPr>
          </a:p>
        </p:txBody>
      </p:sp>
      <p:sp>
        <p:nvSpPr>
          <p:cNvPr id="102" name="Rectangle 2"/>
          <p:cNvSpPr/>
          <p:nvPr/>
        </p:nvSpPr>
        <p:spPr>
          <a:xfrm>
            <a:off x="921600" y="550440"/>
            <a:ext cx="10279440" cy="82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50000"/>
              </a:lnSpc>
            </a:pPr>
            <a:r>
              <a:rPr b="1" lang="en-US" sz="3200" spc="-1" strike="noStrike">
                <a:solidFill>
                  <a:srgbClr val="ffff00"/>
                </a:solidFill>
                <a:latin typeface="Arial Black"/>
                <a:ea typeface="Tahoma"/>
              </a:rPr>
              <a:t>RESEARCH QUESTIONS CONTD</a:t>
            </a:r>
            <a:endParaRPr b="0" lang="en-US" sz="3200" spc="-1" strike="noStrike">
              <a:solidFill>
                <a:srgbClr val="ffffff"/>
              </a:solidFill>
              <a:latin typeface="Arial"/>
            </a:endParaRPr>
          </a:p>
        </p:txBody>
      </p:sp>
      <p:pic>
        <p:nvPicPr>
          <p:cNvPr id="103" name="Picture 4" descr="H:\CRAB\NN Logo.gif"/>
          <p:cNvPicPr/>
          <p:nvPr/>
        </p:nvPicPr>
        <p:blipFill>
          <a:blip r:embed="rId1"/>
          <a:stretch/>
        </p:blipFill>
        <p:spPr>
          <a:xfrm>
            <a:off x="98280" y="80640"/>
            <a:ext cx="845280" cy="808200"/>
          </a:xfrm>
          <a:prstGeom prst="rect">
            <a:avLst/>
          </a:prstGeom>
          <a:ln w="0">
            <a:noFill/>
          </a:ln>
        </p:spPr>
      </p:pic>
      <p:pic>
        <p:nvPicPr>
          <p:cNvPr id="104" name="Picture 4" descr=""/>
          <p:cNvPicPr/>
          <p:nvPr/>
        </p:nvPicPr>
        <p:blipFill>
          <a:blip r:embed="rId2"/>
          <a:stretch/>
        </p:blipFill>
        <p:spPr>
          <a:xfrm>
            <a:off x="11225520" y="80640"/>
            <a:ext cx="845280" cy="808200"/>
          </a:xfrm>
          <a:prstGeom prst="rect">
            <a:avLst/>
          </a:prstGeom>
          <a:ln w="0">
            <a:noFill/>
          </a:ln>
        </p:spPr>
      </p:pic>
      <p:sp>
        <p:nvSpPr>
          <p:cNvPr id="105" name="Rectangle 5"/>
          <p:cNvSpPr/>
          <p:nvPr/>
        </p:nvSpPr>
        <p:spPr>
          <a:xfrm>
            <a:off x="5177880" y="6352200"/>
            <a:ext cx="181656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106" name="Rectangle 6"/>
          <p:cNvSpPr/>
          <p:nvPr/>
        </p:nvSpPr>
        <p:spPr>
          <a:xfrm>
            <a:off x="5163840" y="84960"/>
            <a:ext cx="181656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107" name="Rectangle 7"/>
          <p:cNvSpPr/>
          <p:nvPr/>
        </p:nvSpPr>
        <p:spPr>
          <a:xfrm>
            <a:off x="774360" y="1477800"/>
            <a:ext cx="10427040" cy="31050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1" lang="en-US" sz="2200" spc="-1" strike="noStrike">
                <a:solidFill>
                  <a:srgbClr val="ffff00"/>
                </a:solidFill>
                <a:latin typeface="Arial Black"/>
                <a:ea typeface="Calibri"/>
              </a:rPr>
              <a:t>4. WHICH OF THE FOLLOWING FOODS DO YOU EAT MORE OFTEN? </a:t>
            </a: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ea typeface="Calibri"/>
              </a:rPr>
              <a:t>        </a:t>
            </a:r>
            <a:r>
              <a:rPr b="1" lang="en-US" sz="2200" spc="-1" strike="noStrike">
                <a:solidFill>
                  <a:srgbClr val="ffff00"/>
                </a:solidFill>
                <a:latin typeface="Arial Black"/>
                <a:ea typeface="Calibri"/>
              </a:rPr>
              <a:t>	</a:t>
            </a:r>
            <a:r>
              <a:rPr b="1" lang="en-US" sz="2200" spc="-1" strike="noStrike">
                <a:solidFill>
                  <a:srgbClr val="ffff00"/>
                </a:solidFill>
                <a:latin typeface="Arial Black"/>
                <a:ea typeface="Calibri"/>
              </a:rPr>
              <a:t>A) FONIO.  B) WHEAT.  C) BEANS.  D) UNRIPE PLANTAIN. E) </a:t>
            </a:r>
            <a:r>
              <a:rPr b="1" lang="en-US" sz="2200" spc="-1" strike="noStrike">
                <a:solidFill>
                  <a:srgbClr val="ffff00"/>
                </a:solidFill>
                <a:latin typeface="Arial Black"/>
                <a:ea typeface="Calibri"/>
              </a:rPr>
              <a:t>	</a:t>
            </a:r>
            <a:r>
              <a:rPr b="1" lang="en-US" sz="2200" spc="-1" strike="noStrike">
                <a:solidFill>
                  <a:srgbClr val="ffff00"/>
                </a:solidFill>
                <a:latin typeface="Arial Black"/>
                <a:ea typeface="Calibri"/>
              </a:rPr>
              <a:t>SWEET POTATOES. F) VEGETABLES. G) POULTRY/BEEF/FISH</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ea typeface="Calibri"/>
              </a:rPr>
              <a:t> </a:t>
            </a:r>
            <a:r>
              <a:rPr b="1" lang="en-US" sz="2200" spc="-1" strike="noStrike">
                <a:solidFill>
                  <a:srgbClr val="ffff00"/>
                </a:solidFill>
                <a:latin typeface="Arial Black"/>
                <a:ea typeface="Calibri"/>
              </a:rPr>
              <a:t>5. HAVE YOU CHANGED YOUR MEDICATION PLAN IN THE PAST </a:t>
            </a:r>
            <a:r>
              <a:rPr b="1" lang="en-US" sz="2200" spc="-1" strike="noStrike">
                <a:solidFill>
                  <a:srgbClr val="ffff00"/>
                </a:solidFill>
                <a:latin typeface="Arial Black"/>
                <a:ea typeface="Calibri"/>
              </a:rPr>
              <a:t>	</a:t>
            </a:r>
            <a:r>
              <a:rPr b="1" lang="en-US" sz="2200" spc="-1" strike="noStrike">
                <a:solidFill>
                  <a:srgbClr val="ffff00"/>
                </a:solidFill>
                <a:latin typeface="Arial Black"/>
                <a:ea typeface="Calibri"/>
              </a:rPr>
              <a:t>FOUR (6) MONTHS?</a:t>
            </a:r>
            <a:endParaRPr b="0" lang="en-US" sz="22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73" dur="indefinite" restart="never" nodeType="tmRoot">
          <p:childTnLst>
            <p:seq>
              <p:cTn id="74" dur="indefinite" nodeType="mainSeq">
                <p:childTnLst>
                  <p:par>
                    <p:cTn id="75" fill="hold">
                      <p:stCondLst>
                        <p:cond delay="indefinite"/>
                      </p:stCondLst>
                      <p:childTnLst>
                        <p:par>
                          <p:cTn id="76" fill="hold">
                            <p:stCondLst>
                              <p:cond delay="0"/>
                            </p:stCondLst>
                            <p:childTnLst>
                              <p:par>
                                <p:cTn id="77" nodeType="clickEffect" fill="hold" presetClass="entr" presetID="2" presetSubtype="4">
                                  <p:stCondLst>
                                    <p:cond delay="0"/>
                                  </p:stCondLst>
                                  <p:childTnLst>
                                    <p:set>
                                      <p:cBhvr>
                                        <p:cTn id="78" dur="1" fill="hold">
                                          <p:stCondLst>
                                            <p:cond delay="0"/>
                                          </p:stCondLst>
                                        </p:cTn>
                                        <p:tgtEl>
                                          <p:spTgt spid="102"/>
                                        </p:tgtEl>
                                        <p:attrNameLst>
                                          <p:attrName>style.visibility</p:attrName>
                                        </p:attrNameLst>
                                      </p:cBhvr>
                                      <p:to>
                                        <p:strVal val="visible"/>
                                      </p:to>
                                    </p:set>
                                    <p:anim calcmode="lin" valueType="num">
                                      <p:cBhvr additive="repl">
                                        <p:cTn id="79" dur="500" fill="hold"/>
                                        <p:tgtEl>
                                          <p:spTgt spid="102"/>
                                        </p:tgtEl>
                                        <p:attrNameLst>
                                          <p:attrName>ppt_x</p:attrName>
                                        </p:attrNameLst>
                                      </p:cBhvr>
                                      <p:tavLst>
                                        <p:tav tm="0">
                                          <p:val>
                                            <p:strVal val="#ppt_x"/>
                                          </p:val>
                                        </p:tav>
                                        <p:tav tm="100000">
                                          <p:val>
                                            <p:strVal val="#ppt_x"/>
                                          </p:val>
                                        </p:tav>
                                      </p:tavLst>
                                    </p:anim>
                                    <p:anim calcmode="lin" valueType="num">
                                      <p:cBhvr additive="repl">
                                        <p:cTn id="80" dur="500" fill="hold"/>
                                        <p:tgtEl>
                                          <p:spTgt spid="102"/>
                                        </p:tgtEl>
                                        <p:attrNameLst>
                                          <p:attrName>ppt_y</p:attrName>
                                        </p:attrNameLst>
                                      </p:cBhvr>
                                      <p:tavLst>
                                        <p:tav tm="0">
                                          <p:val>
                                            <p:strVal val="1+#ppt_h/2"/>
                                          </p:val>
                                        </p:tav>
                                        <p:tav tm="100000">
                                          <p:val>
                                            <p:strVal val="#ppt_y"/>
                                          </p:val>
                                        </p:tav>
                                      </p:tavLst>
                                    </p:anim>
                                  </p:childTnLst>
                                </p:cTn>
                              </p:par>
                              <p:par>
                                <p:cTn id="81" nodeType="withEffect" fill="hold" presetClass="entr" presetID="2" presetSubtype="4">
                                  <p:stCondLst>
                                    <p:cond delay="0"/>
                                  </p:stCondLst>
                                  <p:childTnLst>
                                    <p:set>
                                      <p:cBhvr>
                                        <p:cTn id="82" dur="1" fill="hold">
                                          <p:stCondLst>
                                            <p:cond delay="0"/>
                                          </p:stCondLst>
                                        </p:cTn>
                                        <p:tgtEl>
                                          <p:spTgt spid="107"/>
                                        </p:tgtEl>
                                        <p:attrNameLst>
                                          <p:attrName>style.visibility</p:attrName>
                                        </p:attrNameLst>
                                      </p:cBhvr>
                                      <p:to>
                                        <p:strVal val="visible"/>
                                      </p:to>
                                    </p:set>
                                    <p:anim calcmode="lin" valueType="num">
                                      <p:cBhvr additive="repl">
                                        <p:cTn id="83" dur="500" fill="hold"/>
                                        <p:tgtEl>
                                          <p:spTgt spid="107"/>
                                        </p:tgtEl>
                                        <p:attrNameLst>
                                          <p:attrName>ppt_x</p:attrName>
                                        </p:attrNameLst>
                                      </p:cBhvr>
                                      <p:tavLst>
                                        <p:tav tm="0">
                                          <p:val>
                                            <p:strVal val="#ppt_x"/>
                                          </p:val>
                                        </p:tav>
                                        <p:tav tm="100000">
                                          <p:val>
                                            <p:strVal val="#ppt_x"/>
                                          </p:val>
                                        </p:tav>
                                      </p:tavLst>
                                    </p:anim>
                                    <p:anim calcmode="lin" valueType="num">
                                      <p:cBhvr additive="repl">
                                        <p:cTn id="84" dur="500" fill="hold"/>
                                        <p:tgtEl>
                                          <p:spTgt spid="1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Num" idx="4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400" spc="-1" strike="noStrike">
                <a:solidFill>
                  <a:srgbClr val="ffff00"/>
                </a:solidFill>
                <a:latin typeface="Arial Black"/>
              </a:defRPr>
            </a:lvl1pPr>
          </a:lstStyle>
          <a:p>
            <a:pPr indent="0" algn="r" defTabSz="914400">
              <a:lnSpc>
                <a:spcPct val="100000"/>
              </a:lnSpc>
              <a:buNone/>
              <a:tabLst>
                <a:tab algn="l" pos="0"/>
              </a:tabLst>
            </a:pPr>
            <a:fld id="{A28597F2-2FE3-48AD-A319-AF2E5E52D684}" type="slidenum">
              <a:rPr b="0" lang="en-US" sz="2400" spc="-1" strike="noStrike">
                <a:solidFill>
                  <a:srgbClr val="ffff00"/>
                </a:solidFill>
                <a:latin typeface="Arial Black"/>
              </a:rPr>
              <a:t>&lt;number&gt;</a:t>
            </a:fld>
            <a:endParaRPr b="0" lang="en-US" sz="2400" spc="-1" strike="noStrike">
              <a:solidFill>
                <a:srgbClr val="ffffff"/>
              </a:solidFill>
              <a:latin typeface="Times New Roman"/>
            </a:endParaRPr>
          </a:p>
        </p:txBody>
      </p:sp>
      <p:pic>
        <p:nvPicPr>
          <p:cNvPr id="109" name="Picture 11" descr="H:\CRAB\NN Logo.gif"/>
          <p:cNvPicPr/>
          <p:nvPr/>
        </p:nvPicPr>
        <p:blipFill>
          <a:blip r:embed="rId1"/>
          <a:stretch/>
        </p:blipFill>
        <p:spPr>
          <a:xfrm>
            <a:off x="112320" y="152280"/>
            <a:ext cx="849600" cy="808560"/>
          </a:xfrm>
          <a:prstGeom prst="rect">
            <a:avLst/>
          </a:prstGeom>
          <a:ln w="0">
            <a:noFill/>
          </a:ln>
        </p:spPr>
      </p:pic>
      <p:pic>
        <p:nvPicPr>
          <p:cNvPr id="110" name="Picture 12" descr=""/>
          <p:cNvPicPr/>
          <p:nvPr/>
        </p:nvPicPr>
        <p:blipFill>
          <a:blip r:embed="rId2"/>
          <a:stretch/>
        </p:blipFill>
        <p:spPr>
          <a:xfrm>
            <a:off x="11186280" y="152280"/>
            <a:ext cx="849600" cy="808560"/>
          </a:xfrm>
          <a:prstGeom prst="rect">
            <a:avLst/>
          </a:prstGeom>
          <a:ln w="0">
            <a:noFill/>
          </a:ln>
        </p:spPr>
      </p:pic>
      <p:sp>
        <p:nvSpPr>
          <p:cNvPr id="111" name="Rectangle 9"/>
          <p:cNvSpPr/>
          <p:nvPr/>
        </p:nvSpPr>
        <p:spPr>
          <a:xfrm>
            <a:off x="5288040" y="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12" name="Rectangle 10"/>
          <p:cNvSpPr/>
          <p:nvPr/>
        </p:nvSpPr>
        <p:spPr>
          <a:xfrm>
            <a:off x="5441040" y="646200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13" name="Rectangle 11"/>
          <p:cNvSpPr/>
          <p:nvPr/>
        </p:nvSpPr>
        <p:spPr>
          <a:xfrm>
            <a:off x="4467240" y="93600"/>
            <a:ext cx="3381480" cy="82116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50000"/>
              </a:lnSpc>
            </a:pPr>
            <a:r>
              <a:rPr b="1" lang="en-US" sz="3200" spc="-1" strike="noStrike">
                <a:solidFill>
                  <a:srgbClr val="ffff00"/>
                </a:solidFill>
                <a:latin typeface="Arial Black"/>
              </a:rPr>
              <a:t>METHODOLOGY</a:t>
            </a:r>
            <a:endParaRPr b="0" lang="en-US" sz="3200" spc="-1" strike="noStrike">
              <a:solidFill>
                <a:srgbClr val="ffffff"/>
              </a:solidFill>
              <a:latin typeface="Arial"/>
            </a:endParaRPr>
          </a:p>
        </p:txBody>
      </p:sp>
      <p:sp>
        <p:nvSpPr>
          <p:cNvPr id="114" name="Rectangle 12"/>
          <p:cNvSpPr/>
          <p:nvPr/>
        </p:nvSpPr>
        <p:spPr>
          <a:xfrm>
            <a:off x="457200" y="875160"/>
            <a:ext cx="11401200" cy="56178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1" lang="en-GB" sz="2200" spc="-1" strike="noStrike">
                <a:solidFill>
                  <a:srgbClr val="ffff00"/>
                </a:solidFill>
                <a:latin typeface="Arial Black"/>
              </a:rPr>
              <a:t>1. RESEARCH DESIGN</a:t>
            </a:r>
            <a:endParaRPr b="0" lang="en-US" sz="2200" spc="-1" strike="noStrike">
              <a:solidFill>
                <a:srgbClr val="ffffff"/>
              </a:solidFill>
              <a:latin typeface="Arial"/>
            </a:endParaRPr>
          </a:p>
          <a:p>
            <a:pPr defTabSz="914400">
              <a:lnSpc>
                <a:spcPct val="150000"/>
              </a:lnSpc>
            </a:pPr>
            <a:r>
              <a:rPr b="1" lang="en-US" sz="2200" spc="-1" strike="noStrike">
                <a:solidFill>
                  <a:srgbClr val="ffff00"/>
                </a:solidFill>
                <a:latin typeface="Arial Black"/>
                <a:ea typeface="Noto Sans CJK SC"/>
              </a:rPr>
              <a:t>THIS RESEARCH WILL USE CROSS-SECTIONAL SURVEY AIMING AT EVALUATING THE IMPACT OF DIETARY MODIFICATION ON THE MANAGEMENT OF TYPE 2 DIABETES MELLITUS USING NIGERIAN NAVY REFERENCE HOSPITAL OJO AS A CASE STUDY </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ea typeface="Noto Sans CJK SC"/>
              </a:rPr>
              <a:t>2. ETHICAL CONSIDERATION</a:t>
            </a: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ea typeface="Noto Sans CJK SC"/>
              </a:rPr>
              <a:t>AN INFORMED CONSENT FORM WILL BE PRESENTED TO THE SAMPLED POPULATION. ALL PARTICIPANTS WILL HAVE THE OPTION TO PARTICIPATE OR EXIT FROM THE STUDY AND THEIR INFORMATION WILL BE TREATED WITH UTMOST CONFIDENTIALITY</a:t>
            </a:r>
            <a:endParaRPr b="0" lang="en-US" sz="2200" spc="-1" strike="noStrike">
              <a:solidFill>
                <a:srgbClr val="ffffff"/>
              </a:solidFill>
              <a:latin typeface="Arial"/>
            </a:endParaRPr>
          </a:p>
        </p:txBody>
      </p:sp>
    </p:spTree>
  </p:cSld>
  <mc:AlternateContent>
    <mc:Choice Requires="p14">
      <p:transition advTm="0" p14:dur="10"/>
    </mc:Choice>
    <mc:Fallback>
      <p:transition advTm="0"/>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Num" idx="45"/>
          </p:nvPr>
        </p:nvSpPr>
        <p:spPr>
          <a:xfrm>
            <a:off x="861012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400" spc="-1" strike="noStrike">
                <a:solidFill>
                  <a:srgbClr val="ffff00"/>
                </a:solidFill>
                <a:latin typeface="Arial Black"/>
              </a:defRPr>
            </a:lvl1pPr>
          </a:lstStyle>
          <a:p>
            <a:pPr indent="0" algn="r" defTabSz="914400">
              <a:lnSpc>
                <a:spcPct val="100000"/>
              </a:lnSpc>
              <a:buNone/>
              <a:tabLst>
                <a:tab algn="l" pos="0"/>
              </a:tabLst>
            </a:pPr>
            <a:fld id="{04646E3E-A4FD-470F-A40C-8B5979697FD8}" type="slidenum">
              <a:rPr b="0" lang="en-US" sz="2400" spc="-1" strike="noStrike">
                <a:solidFill>
                  <a:srgbClr val="ffff00"/>
                </a:solidFill>
                <a:latin typeface="Arial Black"/>
              </a:rPr>
              <a:t>&lt;number&gt;</a:t>
            </a:fld>
            <a:endParaRPr b="0" lang="en-US" sz="2400" spc="-1" strike="noStrike">
              <a:solidFill>
                <a:srgbClr val="ffffff"/>
              </a:solidFill>
              <a:latin typeface="Times New Roman"/>
            </a:endParaRPr>
          </a:p>
        </p:txBody>
      </p:sp>
      <p:pic>
        <p:nvPicPr>
          <p:cNvPr id="116" name="Picture 15" descr="H:\CRAB\NN Logo.gif"/>
          <p:cNvPicPr/>
          <p:nvPr/>
        </p:nvPicPr>
        <p:blipFill>
          <a:blip r:embed="rId1"/>
          <a:stretch/>
        </p:blipFill>
        <p:spPr>
          <a:xfrm>
            <a:off x="111960" y="152280"/>
            <a:ext cx="849600" cy="808560"/>
          </a:xfrm>
          <a:prstGeom prst="rect">
            <a:avLst/>
          </a:prstGeom>
          <a:ln w="0">
            <a:noFill/>
          </a:ln>
        </p:spPr>
      </p:pic>
      <p:pic>
        <p:nvPicPr>
          <p:cNvPr id="117" name="Picture 16" descr=""/>
          <p:cNvPicPr/>
          <p:nvPr/>
        </p:nvPicPr>
        <p:blipFill>
          <a:blip r:embed="rId2"/>
          <a:stretch/>
        </p:blipFill>
        <p:spPr>
          <a:xfrm>
            <a:off x="11185920" y="152280"/>
            <a:ext cx="849600" cy="808560"/>
          </a:xfrm>
          <a:prstGeom prst="rect">
            <a:avLst/>
          </a:prstGeom>
          <a:ln w="0">
            <a:noFill/>
          </a:ln>
        </p:spPr>
      </p:pic>
      <p:sp>
        <p:nvSpPr>
          <p:cNvPr id="118" name="Rectangle 17"/>
          <p:cNvSpPr/>
          <p:nvPr/>
        </p:nvSpPr>
        <p:spPr>
          <a:xfrm>
            <a:off x="5287680" y="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19" name="Rectangle 18"/>
          <p:cNvSpPr/>
          <p:nvPr/>
        </p:nvSpPr>
        <p:spPr>
          <a:xfrm>
            <a:off x="5440680" y="646200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20" name="Rectangle 19"/>
          <p:cNvSpPr/>
          <p:nvPr/>
        </p:nvSpPr>
        <p:spPr>
          <a:xfrm>
            <a:off x="3547800" y="182880"/>
            <a:ext cx="5219280" cy="91260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50000"/>
              </a:lnSpc>
            </a:pPr>
            <a:r>
              <a:rPr b="1" lang="en-US" sz="3200" spc="-1" strike="noStrike">
                <a:solidFill>
                  <a:srgbClr val="ffff00"/>
                </a:solidFill>
                <a:latin typeface="Arial Black"/>
              </a:rPr>
              <a:t>METHODOLOGY</a:t>
            </a:r>
            <a:r>
              <a:rPr b="1" lang="en-US" sz="3600" spc="-1" strike="noStrike">
                <a:solidFill>
                  <a:srgbClr val="ffff00"/>
                </a:solidFill>
                <a:latin typeface="Arial Black"/>
              </a:rPr>
              <a:t> CONT’D</a:t>
            </a:r>
            <a:endParaRPr b="0" lang="en-US" sz="3600" spc="-1" strike="noStrike">
              <a:solidFill>
                <a:srgbClr val="ffffff"/>
              </a:solidFill>
              <a:latin typeface="Arial"/>
            </a:endParaRPr>
          </a:p>
        </p:txBody>
      </p:sp>
      <p:sp>
        <p:nvSpPr>
          <p:cNvPr id="121" name="Rectangle 20"/>
          <p:cNvSpPr/>
          <p:nvPr/>
        </p:nvSpPr>
        <p:spPr>
          <a:xfrm>
            <a:off x="390600" y="1133640"/>
            <a:ext cx="11268000" cy="59529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1" lang="en-US" sz="2200" spc="-1" strike="noStrike">
                <a:solidFill>
                  <a:srgbClr val="ffff00"/>
                </a:solidFill>
                <a:latin typeface="Arial Black"/>
              </a:rPr>
              <a:t>4. SAMPLING TECHNIQUE</a:t>
            </a: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rPr>
              <a:t>SIMPLE RANDOM SAMPLING TECHNIQUE WILL BE USED FOR THIS RESEARCH</a:t>
            </a:r>
            <a:endParaRPr b="0" lang="en-US" sz="2200" spc="-1" strike="noStrike">
              <a:solidFill>
                <a:srgbClr val="ffffff"/>
              </a:solidFill>
              <a:latin typeface="Arial"/>
            </a:endParaRPr>
          </a:p>
          <a:p>
            <a:pPr defTabSz="914400">
              <a:lnSpc>
                <a:spcPct val="150000"/>
              </a:lnSpc>
            </a:pPr>
            <a:endParaRPr b="0" lang="en-US" sz="2200" spc="-1" strike="noStrike">
              <a:solidFill>
                <a:srgbClr val="ffffff"/>
              </a:solidFill>
              <a:latin typeface="Arial"/>
            </a:endParaRPr>
          </a:p>
          <a:p>
            <a:pPr algn="just" defTabSz="914400">
              <a:lnSpc>
                <a:spcPct val="100000"/>
              </a:lnSpc>
              <a:tabLst>
                <a:tab algn="l" pos="0"/>
              </a:tabLst>
            </a:pPr>
            <a:r>
              <a:rPr b="1" lang="en-US" sz="2200" spc="-1" strike="noStrike">
                <a:solidFill>
                  <a:srgbClr val="ffff00"/>
                </a:solidFill>
                <a:latin typeface="Arial Black"/>
              </a:rPr>
              <a:t>5. </a:t>
            </a:r>
            <a:r>
              <a:rPr b="1" lang="en-US" sz="2200" spc="-1" strike="noStrike">
                <a:solidFill>
                  <a:srgbClr val="ffff00"/>
                </a:solidFill>
                <a:latin typeface="Arial Black"/>
                <a:ea typeface="Noto Sans CJK SC"/>
              </a:rPr>
              <a:t>SAMPLING</a:t>
            </a:r>
            <a:endParaRPr b="0" lang="en-US" sz="2200" spc="-1" strike="noStrike">
              <a:solidFill>
                <a:srgbClr val="ffffff"/>
              </a:solidFill>
              <a:latin typeface="Arial"/>
            </a:endParaRPr>
          </a:p>
          <a:p>
            <a:pPr algn="just" defTabSz="914400">
              <a:lnSpc>
                <a:spcPct val="150000"/>
              </a:lnSpc>
              <a:tabLst>
                <a:tab algn="l" pos="0"/>
              </a:tabLst>
            </a:pPr>
            <a:r>
              <a:rPr b="1" lang="en-US" sz="2200" spc="-1" strike="noStrike">
                <a:solidFill>
                  <a:srgbClr val="ffff00"/>
                </a:solidFill>
                <a:latin typeface="Arial Black"/>
                <a:ea typeface="Noto Sans CJK SC"/>
              </a:rPr>
              <a:t>THE SAMPLE SIZE (n) WILL BE DRAWN FROM YAMEN TARO FORMULAR FOR DETERMINING SAMPLE SIZE FOR A KNOWN POPULATION AS SHOWN BELOW</a:t>
            </a:r>
            <a:endParaRPr b="0" lang="en-US" sz="2200" spc="-1" strike="noStrike">
              <a:solidFill>
                <a:srgbClr val="ffffff"/>
              </a:solidFill>
              <a:latin typeface="Arial"/>
            </a:endParaRPr>
          </a:p>
          <a:p>
            <a:pPr algn="just" defTabSz="914400">
              <a:lnSpc>
                <a:spcPct val="150000"/>
              </a:lnSpc>
              <a:tabLst>
                <a:tab algn="l" pos="0"/>
              </a:tabLst>
            </a:pPr>
            <a:r>
              <a:rPr b="1" lang="en-US" sz="2200" spc="-1" strike="noStrike">
                <a:solidFill>
                  <a:srgbClr val="ffff00"/>
                </a:solidFill>
                <a:latin typeface="Arial Black"/>
                <a:ea typeface="Noto Sans CJK SC"/>
              </a:rPr>
              <a:t>n= N/(1+N(e)^2)</a:t>
            </a:r>
            <a:endParaRPr b="0" lang="en-US" sz="2200" spc="-1" strike="noStrike">
              <a:solidFill>
                <a:srgbClr val="ffffff"/>
              </a:solidFill>
              <a:latin typeface="Arial"/>
            </a:endParaRPr>
          </a:p>
          <a:p>
            <a:pPr algn="just" defTabSz="914400">
              <a:lnSpc>
                <a:spcPct val="150000"/>
              </a:lnSpc>
              <a:tabLst>
                <a:tab algn="l" pos="0"/>
              </a:tabLst>
            </a:pPr>
            <a:r>
              <a:rPr b="1" lang="en-US" sz="2200" spc="-1" strike="noStrike">
                <a:solidFill>
                  <a:srgbClr val="ffff00"/>
                </a:solidFill>
                <a:latin typeface="Arial Black"/>
                <a:ea typeface="Noto Sans CJK SC"/>
              </a:rPr>
              <a:t>WHERE:  n = SAMPLE SIZE REQUIRED.</a:t>
            </a:r>
            <a:endParaRPr b="0" lang="en-US" sz="2200" spc="-1" strike="noStrike">
              <a:solidFill>
                <a:srgbClr val="ffffff"/>
              </a:solidFill>
              <a:latin typeface="Arial"/>
            </a:endParaRPr>
          </a:p>
          <a:p>
            <a:pPr algn="just" defTabSz="914400">
              <a:lnSpc>
                <a:spcPct val="150000"/>
              </a:lnSpc>
              <a:tabLst>
                <a:tab algn="l" pos="0"/>
              </a:tabLst>
            </a:pPr>
            <a:r>
              <a:rPr b="1" lang="en-US" sz="2200" spc="-1" strike="noStrike">
                <a:solidFill>
                  <a:srgbClr val="ffff00"/>
                </a:solidFill>
                <a:latin typeface="Arial Black"/>
                <a:ea typeface="Noto Sans CJK SC"/>
              </a:rPr>
              <a:t>N = STUDY POPULATION.</a:t>
            </a:r>
            <a:endParaRPr b="0" lang="en-US" sz="2200" spc="-1" strike="noStrike">
              <a:solidFill>
                <a:srgbClr val="ffffff"/>
              </a:solidFill>
              <a:latin typeface="Arial"/>
            </a:endParaRPr>
          </a:p>
          <a:p>
            <a:pPr algn="just" defTabSz="914400">
              <a:lnSpc>
                <a:spcPct val="150000"/>
              </a:lnSpc>
              <a:tabLst>
                <a:tab algn="l" pos="0"/>
              </a:tabLst>
            </a:pPr>
            <a:r>
              <a:rPr b="1" lang="en-US" sz="2200" spc="-1" strike="noStrike">
                <a:solidFill>
                  <a:srgbClr val="ffff00"/>
                </a:solidFill>
                <a:latin typeface="Arial Black"/>
                <a:ea typeface="Noto Sans CJK SC"/>
              </a:rPr>
              <a:t>e = PRECISION ERRO (0.05)</a:t>
            </a:r>
            <a:endParaRPr b="0" lang="en-US" sz="2200" spc="-1" strike="noStrike">
              <a:solidFill>
                <a:srgbClr val="ffffff"/>
              </a:solidFill>
              <a:latin typeface="Arial"/>
            </a:endParaRPr>
          </a:p>
          <a:p>
            <a:pPr defTabSz="914400">
              <a:lnSpc>
                <a:spcPct val="150000"/>
              </a:lnSpc>
              <a:tabLst>
                <a:tab algn="l" pos="0"/>
              </a:tabLst>
            </a:pPr>
            <a:endParaRPr b="0" lang="en-US" sz="2200" spc="-1" strike="noStrike">
              <a:solidFill>
                <a:srgbClr val="ffffff"/>
              </a:solidFill>
              <a:latin typeface="Arial"/>
            </a:endParaRPr>
          </a:p>
          <a:p>
            <a:pPr defTabSz="914400">
              <a:lnSpc>
                <a:spcPct val="150000"/>
              </a:lnSpc>
              <a:tabLst>
                <a:tab algn="l" pos="0"/>
              </a:tabLst>
            </a:pPr>
            <a:endParaRPr b="0" lang="en-US" sz="2200" spc="-1" strike="noStrike">
              <a:solidFill>
                <a:srgbClr val="ffffff"/>
              </a:solidFill>
              <a:latin typeface="Arial"/>
            </a:endParaRPr>
          </a:p>
        </p:txBody>
      </p:sp>
    </p:spTree>
  </p:cSld>
  <mc:AlternateContent>
    <mc:Choice Requires="p14">
      <p:transition advTm="0" p14:dur="10"/>
    </mc:Choice>
    <mc:Fallback>
      <p:transition advTm="0"/>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Num" idx="46"/>
          </p:nvPr>
        </p:nvSpPr>
        <p:spPr>
          <a:xfrm>
            <a:off x="861012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400" spc="-1" strike="noStrike">
                <a:solidFill>
                  <a:srgbClr val="ffff00"/>
                </a:solidFill>
                <a:latin typeface="Arial Black"/>
              </a:defRPr>
            </a:lvl1pPr>
          </a:lstStyle>
          <a:p>
            <a:pPr indent="0" algn="r" defTabSz="914400">
              <a:lnSpc>
                <a:spcPct val="100000"/>
              </a:lnSpc>
              <a:buNone/>
              <a:tabLst>
                <a:tab algn="l" pos="0"/>
              </a:tabLst>
            </a:pPr>
            <a:fld id="{336DA781-2F52-4568-97DF-82575BBE7091}" type="slidenum">
              <a:rPr b="0" lang="en-US" sz="2400" spc="-1" strike="noStrike">
                <a:solidFill>
                  <a:srgbClr val="ffff00"/>
                </a:solidFill>
                <a:latin typeface="Arial Black"/>
              </a:rPr>
              <a:t>&lt;number&gt;</a:t>
            </a:fld>
            <a:endParaRPr b="0" lang="en-US" sz="2400" spc="-1" strike="noStrike">
              <a:solidFill>
                <a:srgbClr val="ffffff"/>
              </a:solidFill>
              <a:latin typeface="Times New Roman"/>
            </a:endParaRPr>
          </a:p>
        </p:txBody>
      </p:sp>
      <p:pic>
        <p:nvPicPr>
          <p:cNvPr id="123" name="Picture 19" descr="H:\CRAB\NN Logo.gif"/>
          <p:cNvPicPr/>
          <p:nvPr/>
        </p:nvPicPr>
        <p:blipFill>
          <a:blip r:embed="rId1"/>
          <a:stretch/>
        </p:blipFill>
        <p:spPr>
          <a:xfrm>
            <a:off x="111960" y="152280"/>
            <a:ext cx="849600" cy="808560"/>
          </a:xfrm>
          <a:prstGeom prst="rect">
            <a:avLst/>
          </a:prstGeom>
          <a:ln w="0">
            <a:noFill/>
          </a:ln>
        </p:spPr>
      </p:pic>
      <p:pic>
        <p:nvPicPr>
          <p:cNvPr id="124" name="Picture 20" descr=""/>
          <p:cNvPicPr/>
          <p:nvPr/>
        </p:nvPicPr>
        <p:blipFill>
          <a:blip r:embed="rId2"/>
          <a:stretch/>
        </p:blipFill>
        <p:spPr>
          <a:xfrm>
            <a:off x="11185920" y="152280"/>
            <a:ext cx="849600" cy="808560"/>
          </a:xfrm>
          <a:prstGeom prst="rect">
            <a:avLst/>
          </a:prstGeom>
          <a:ln w="0">
            <a:noFill/>
          </a:ln>
        </p:spPr>
      </p:pic>
      <p:sp>
        <p:nvSpPr>
          <p:cNvPr id="125" name="Rectangle 27"/>
          <p:cNvSpPr/>
          <p:nvPr/>
        </p:nvSpPr>
        <p:spPr>
          <a:xfrm>
            <a:off x="5287680" y="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26" name="Rectangle 29"/>
          <p:cNvSpPr/>
          <p:nvPr/>
        </p:nvSpPr>
        <p:spPr>
          <a:xfrm>
            <a:off x="5440680" y="646200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27" name="Rectangle 30"/>
          <p:cNvSpPr/>
          <p:nvPr/>
        </p:nvSpPr>
        <p:spPr>
          <a:xfrm>
            <a:off x="3547800" y="182880"/>
            <a:ext cx="5219280" cy="91260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50000"/>
              </a:lnSpc>
            </a:pPr>
            <a:r>
              <a:rPr b="1" lang="en-US" sz="3200" spc="-1" strike="noStrike">
                <a:solidFill>
                  <a:srgbClr val="ffff00"/>
                </a:solidFill>
                <a:latin typeface="Arial Black"/>
              </a:rPr>
              <a:t>METHODOLOGY</a:t>
            </a:r>
            <a:r>
              <a:rPr b="1" lang="en-US" sz="3600" spc="-1" strike="noStrike">
                <a:solidFill>
                  <a:srgbClr val="ffff00"/>
                </a:solidFill>
                <a:latin typeface="Arial Black"/>
              </a:rPr>
              <a:t> CONT’D</a:t>
            </a:r>
            <a:endParaRPr b="0" lang="en-US" sz="3600" spc="-1" strike="noStrike">
              <a:solidFill>
                <a:srgbClr val="ffffff"/>
              </a:solidFill>
              <a:latin typeface="Arial"/>
            </a:endParaRPr>
          </a:p>
        </p:txBody>
      </p:sp>
      <p:sp>
        <p:nvSpPr>
          <p:cNvPr id="128" name="Rectangle 34"/>
          <p:cNvSpPr/>
          <p:nvPr/>
        </p:nvSpPr>
        <p:spPr>
          <a:xfrm>
            <a:off x="426960" y="1428840"/>
            <a:ext cx="11183400" cy="46126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1" lang="en-GB" sz="2200" spc="-1" strike="noStrike">
                <a:solidFill>
                  <a:srgbClr val="ffff00"/>
                </a:solidFill>
                <a:latin typeface="Arial Black"/>
              </a:rPr>
              <a:t>6. ELIGIBILITY CRITERIA</a:t>
            </a: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rPr>
              <a:t>ALL INDIVIDUALS WHO ARE SANE AND WITHOUT ANY DISABILITY WERE INCLUDED WHILE ANY INDIVIDUAL WHO WAS DUMB, DEAF OR WITH MENTAL DISABILITY WERE EXCLUDED.</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rPr>
              <a:t>7. INSTRUMENT FOR DATA COLLECTION</a:t>
            </a:r>
            <a:endParaRPr b="0"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rPr>
              <a:t>THE RESEARCH INSTRUMENT FOR THIS STUDY WILL BE A SELF-STRUCTURED, LOGICALLY PREPARED QUESTIONNAIRE.</a:t>
            </a:r>
            <a:endParaRPr b="0" lang="en-US" sz="2200" spc="-1" strike="noStrike">
              <a:solidFill>
                <a:srgbClr val="ffffff"/>
              </a:solidFill>
              <a:latin typeface="Arial"/>
            </a:endParaRPr>
          </a:p>
          <a:p>
            <a:pPr algn="just" defTabSz="914400">
              <a:lnSpc>
                <a:spcPct val="150000"/>
              </a:lnSpc>
            </a:pPr>
            <a:endParaRPr b="0" lang="en-US" sz="2200" spc="-1" strike="noStrike">
              <a:solidFill>
                <a:srgbClr val="ffffff"/>
              </a:solidFill>
              <a:latin typeface="Arial"/>
            </a:endParaRPr>
          </a:p>
        </p:txBody>
      </p:sp>
    </p:spTree>
  </p:cSld>
  <mc:AlternateContent>
    <mc:Choice Requires="p14">
      <p:transition advTm="0" p14:dur="10"/>
    </mc:Choice>
    <mc:Fallback>
      <p:transition advTm="0"/>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ldNum" idx="47"/>
          </p:nvPr>
        </p:nvSpPr>
        <p:spPr>
          <a:xfrm>
            <a:off x="861012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400" spc="-1" strike="noStrike">
                <a:solidFill>
                  <a:srgbClr val="ffff00"/>
                </a:solidFill>
                <a:latin typeface="Arial Black"/>
              </a:defRPr>
            </a:lvl1pPr>
          </a:lstStyle>
          <a:p>
            <a:pPr indent="0" algn="r" defTabSz="914400">
              <a:lnSpc>
                <a:spcPct val="100000"/>
              </a:lnSpc>
              <a:buNone/>
              <a:tabLst>
                <a:tab algn="l" pos="0"/>
              </a:tabLst>
            </a:pPr>
            <a:fld id="{9ACB8A29-FC11-4246-A451-B0DF15318090}" type="slidenum">
              <a:rPr b="0" lang="en-US" sz="2400" spc="-1" strike="noStrike">
                <a:solidFill>
                  <a:srgbClr val="ffff00"/>
                </a:solidFill>
                <a:latin typeface="Arial Black"/>
              </a:rPr>
              <a:t>&lt;number&gt;</a:t>
            </a:fld>
            <a:endParaRPr b="0" lang="en-US" sz="2400" spc="-1" strike="noStrike">
              <a:solidFill>
                <a:srgbClr val="ffffff"/>
              </a:solidFill>
              <a:latin typeface="Times New Roman"/>
            </a:endParaRPr>
          </a:p>
        </p:txBody>
      </p:sp>
      <p:pic>
        <p:nvPicPr>
          <p:cNvPr id="130" name="Picture 19" descr="H:\CRAB\NN Logo.gif"/>
          <p:cNvPicPr/>
          <p:nvPr/>
        </p:nvPicPr>
        <p:blipFill>
          <a:blip r:embed="rId1"/>
          <a:stretch/>
        </p:blipFill>
        <p:spPr>
          <a:xfrm>
            <a:off x="111960" y="152280"/>
            <a:ext cx="849600" cy="808560"/>
          </a:xfrm>
          <a:prstGeom prst="rect">
            <a:avLst/>
          </a:prstGeom>
          <a:ln w="0">
            <a:noFill/>
          </a:ln>
        </p:spPr>
      </p:pic>
      <p:pic>
        <p:nvPicPr>
          <p:cNvPr id="131" name="Picture 20" descr=""/>
          <p:cNvPicPr/>
          <p:nvPr/>
        </p:nvPicPr>
        <p:blipFill>
          <a:blip r:embed="rId2"/>
          <a:stretch/>
        </p:blipFill>
        <p:spPr>
          <a:xfrm>
            <a:off x="11185920" y="152280"/>
            <a:ext cx="849600" cy="808560"/>
          </a:xfrm>
          <a:prstGeom prst="rect">
            <a:avLst/>
          </a:prstGeom>
          <a:ln w="0">
            <a:noFill/>
          </a:ln>
        </p:spPr>
      </p:pic>
      <p:sp>
        <p:nvSpPr>
          <p:cNvPr id="132" name="Rectangle 27"/>
          <p:cNvSpPr/>
          <p:nvPr/>
        </p:nvSpPr>
        <p:spPr>
          <a:xfrm>
            <a:off x="5287680" y="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33" name="Rectangle 29"/>
          <p:cNvSpPr/>
          <p:nvPr/>
        </p:nvSpPr>
        <p:spPr>
          <a:xfrm>
            <a:off x="5440680" y="6462000"/>
            <a:ext cx="153252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tabLst>
                <a:tab algn="l" pos="0"/>
              </a:tabLst>
            </a:pPr>
            <a:r>
              <a:rPr b="1" lang="en-US" sz="1800" spc="-1" strike="noStrike">
                <a:solidFill>
                  <a:srgbClr val="ffff00"/>
                </a:solidFill>
                <a:latin typeface="Arial Black"/>
              </a:rPr>
              <a:t>RESTRICTED</a:t>
            </a:r>
            <a:endParaRPr b="0" lang="en-US" sz="1800" spc="-1" strike="noStrike">
              <a:solidFill>
                <a:srgbClr val="ffffff"/>
              </a:solidFill>
              <a:latin typeface="Arial"/>
            </a:endParaRPr>
          </a:p>
        </p:txBody>
      </p:sp>
      <p:sp>
        <p:nvSpPr>
          <p:cNvPr id="134" name="Rectangle 30"/>
          <p:cNvSpPr/>
          <p:nvPr/>
        </p:nvSpPr>
        <p:spPr>
          <a:xfrm>
            <a:off x="3642480" y="182880"/>
            <a:ext cx="5030280" cy="912600"/>
          </a:xfrm>
          <a:prstGeom prst="rect">
            <a:avLst/>
          </a:prstGeom>
          <a:noFill/>
          <a:ln w="0">
            <a:noFill/>
          </a:ln>
        </p:spPr>
        <p:style>
          <a:lnRef idx="0"/>
          <a:fillRef idx="0"/>
          <a:effectRef idx="0"/>
          <a:fontRef idx="minor"/>
        </p:style>
        <p:txBody>
          <a:bodyPr wrap="none" lIns="90000" rIns="90000" tIns="45000" bIns="45000" anchor="t">
            <a:spAutoFit/>
          </a:bodyPr>
          <a:p>
            <a:pPr algn="just" defTabSz="914400">
              <a:lnSpc>
                <a:spcPct val="150000"/>
              </a:lnSpc>
            </a:pPr>
            <a:r>
              <a:rPr b="1" lang="en-US" sz="3200" spc="-1" strike="noStrike">
                <a:solidFill>
                  <a:srgbClr val="ffff00"/>
                </a:solidFill>
                <a:latin typeface="Arial Black"/>
              </a:rPr>
              <a:t>METHODOLOGY</a:t>
            </a:r>
            <a:r>
              <a:rPr b="1" lang="en-US" sz="3600" spc="-1" strike="noStrike">
                <a:solidFill>
                  <a:srgbClr val="ffff00"/>
                </a:solidFill>
                <a:latin typeface="Arial Black"/>
              </a:rPr>
              <a:t> </a:t>
            </a:r>
            <a:r>
              <a:rPr b="1" lang="en-US" sz="3200" spc="-1" strike="noStrike">
                <a:solidFill>
                  <a:srgbClr val="ffff00"/>
                </a:solidFill>
                <a:latin typeface="Arial Black"/>
              </a:rPr>
              <a:t>CONT’D</a:t>
            </a:r>
            <a:endParaRPr b="0" lang="en-US" sz="3200" spc="-1" strike="noStrike">
              <a:solidFill>
                <a:srgbClr val="ffffff"/>
              </a:solidFill>
              <a:latin typeface="Arial"/>
            </a:endParaRPr>
          </a:p>
        </p:txBody>
      </p:sp>
      <p:sp>
        <p:nvSpPr>
          <p:cNvPr id="135" name="Rectangle 34"/>
          <p:cNvSpPr/>
          <p:nvPr/>
        </p:nvSpPr>
        <p:spPr>
          <a:xfrm>
            <a:off x="24840" y="809640"/>
            <a:ext cx="12078720" cy="39434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endParaRPr b="1"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rPr>
              <a:t>8. VALIDITY OF THE INSTRUMENT</a:t>
            </a:r>
            <a:endParaRPr b="1"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ea typeface="Noto Sans CJK SC"/>
              </a:rPr>
              <a:t>THE QUESTIONNAIRE WAS DEVELOPED AND SUBMITTED TO MY SUPERVISOR FOR REVIEW TO ENSURE THAT ONLY THE NECESSARY AND WELL-STRUCTURED QUESTIONS WERE USED</a:t>
            </a:r>
            <a:endParaRPr b="1" lang="en-US" sz="2200" spc="-1" strike="noStrike">
              <a:solidFill>
                <a:srgbClr val="ffffff"/>
              </a:solidFill>
              <a:latin typeface="Arial"/>
            </a:endParaRPr>
          </a:p>
          <a:p>
            <a:pPr algn="just" defTabSz="914400">
              <a:lnSpc>
                <a:spcPct val="150000"/>
              </a:lnSpc>
            </a:pPr>
            <a:endParaRPr b="1" lang="en-US" sz="2200" spc="-1" strike="noStrike">
              <a:solidFill>
                <a:srgbClr val="ffffff"/>
              </a:solidFill>
              <a:latin typeface="Arial"/>
            </a:endParaRPr>
          </a:p>
          <a:p>
            <a:pPr algn="just" defTabSz="914400">
              <a:lnSpc>
                <a:spcPct val="150000"/>
              </a:lnSpc>
            </a:pPr>
            <a:r>
              <a:rPr b="1" lang="en-US" sz="2200" spc="-1" strike="noStrike">
                <a:solidFill>
                  <a:srgbClr val="ffff00"/>
                </a:solidFill>
                <a:latin typeface="Arial Black"/>
                <a:ea typeface="Noto Sans CJK SC"/>
              </a:rPr>
              <a:t>9. DATA ANALYSIS</a:t>
            </a:r>
            <a:endParaRPr b="1" lang="en-US" sz="2200" spc="-1" strike="noStrike">
              <a:solidFill>
                <a:srgbClr val="ffffff"/>
              </a:solidFill>
              <a:latin typeface="Arial"/>
            </a:endParaRPr>
          </a:p>
          <a:p>
            <a:pPr defTabSz="914400">
              <a:lnSpc>
                <a:spcPct val="100000"/>
              </a:lnSpc>
            </a:pPr>
            <a:r>
              <a:rPr b="1" lang="en-US" sz="2200" spc="-1" strike="noStrike">
                <a:solidFill>
                  <a:srgbClr val="ffff00"/>
                </a:solidFill>
                <a:latin typeface="Arial Black"/>
                <a:ea typeface="Noto Sans CJK SC"/>
              </a:rPr>
              <a:t>MICROSOFT EXCEL WOULD BE USED FOR DATA ENTRY. THE DATA WOULD BE PRESENTED USING DESCRIPTIVE STATISTICS IN FREQUENCY TABLES AND PERCENTAGES.</a:t>
            </a:r>
            <a:endParaRPr b="1" lang="en-US" sz="2200" spc="-1" strike="noStrike">
              <a:solidFill>
                <a:srgbClr val="ffffff"/>
              </a:solidFill>
              <a:latin typeface="Arial"/>
            </a:endParaRPr>
          </a:p>
        </p:txBody>
      </p:sp>
    </p:spTree>
  </p:cSld>
  <mc:AlternateContent>
    <mc:Choice Requires="p14">
      <p:transition advTm="0" p14:dur="10"/>
    </mc:Choice>
    <mc:Fallback>
      <p:transition advTm="0"/>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Num" idx="48"/>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000" spc="-1" strike="noStrike">
                <a:solidFill>
                  <a:srgbClr val="ffff00"/>
                </a:solidFill>
                <a:latin typeface="Arial Black"/>
              </a:defRPr>
            </a:lvl1pPr>
          </a:lstStyle>
          <a:p>
            <a:pPr indent="0" algn="r" defTabSz="914400">
              <a:lnSpc>
                <a:spcPct val="100000"/>
              </a:lnSpc>
              <a:buNone/>
              <a:tabLst>
                <a:tab algn="l" pos="0"/>
              </a:tabLst>
            </a:pPr>
            <a:r>
              <a:rPr b="0" lang="en-US" sz="2000" spc="-1" strike="noStrike">
                <a:solidFill>
                  <a:srgbClr val="ffff00"/>
                </a:solidFill>
                <a:latin typeface="Arial Black"/>
              </a:rPr>
              <a:t>19</a:t>
            </a:r>
            <a:endParaRPr b="0" lang="en-US" sz="2000" spc="-1" strike="noStrike">
              <a:solidFill>
                <a:srgbClr val="ffffff"/>
              </a:solidFill>
              <a:latin typeface="Times New Roman"/>
            </a:endParaRPr>
          </a:p>
        </p:txBody>
      </p:sp>
      <p:pic>
        <p:nvPicPr>
          <p:cNvPr id="137" name="Picture 17" descr="H:\CRAB\NN Logo.gif"/>
          <p:cNvPicPr/>
          <p:nvPr/>
        </p:nvPicPr>
        <p:blipFill>
          <a:blip r:embed="rId1"/>
          <a:stretch/>
        </p:blipFill>
        <p:spPr>
          <a:xfrm>
            <a:off x="98280" y="80640"/>
            <a:ext cx="849240" cy="808200"/>
          </a:xfrm>
          <a:prstGeom prst="rect">
            <a:avLst/>
          </a:prstGeom>
          <a:ln w="0">
            <a:noFill/>
          </a:ln>
        </p:spPr>
      </p:pic>
      <p:pic>
        <p:nvPicPr>
          <p:cNvPr id="138" name="Picture 18" descr=""/>
          <p:cNvPicPr/>
          <p:nvPr/>
        </p:nvPicPr>
        <p:blipFill>
          <a:blip r:embed="rId2"/>
          <a:stretch/>
        </p:blipFill>
        <p:spPr>
          <a:xfrm>
            <a:off x="11225520" y="80640"/>
            <a:ext cx="849240" cy="808200"/>
          </a:xfrm>
          <a:prstGeom prst="rect">
            <a:avLst/>
          </a:prstGeom>
          <a:ln w="0">
            <a:noFill/>
          </a:ln>
        </p:spPr>
      </p:pic>
      <p:sp>
        <p:nvSpPr>
          <p:cNvPr id="139" name="Rectangle 21"/>
          <p:cNvSpPr/>
          <p:nvPr/>
        </p:nvSpPr>
        <p:spPr>
          <a:xfrm>
            <a:off x="948600" y="2537640"/>
            <a:ext cx="10275840" cy="1979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endParaRPr b="0" lang="en-US" sz="1800" spc="-1" strike="noStrike">
              <a:solidFill>
                <a:srgbClr val="ffffff"/>
              </a:solidFill>
              <a:latin typeface="Arial"/>
            </a:endParaRPr>
          </a:p>
          <a:p>
            <a:pPr algn="ctr" defTabSz="914400">
              <a:lnSpc>
                <a:spcPct val="100000"/>
              </a:lnSpc>
            </a:pPr>
            <a:r>
              <a:rPr b="1" lang="en-US" sz="5400" spc="-1" strike="noStrike">
                <a:solidFill>
                  <a:srgbClr val="ffff00"/>
                </a:solidFill>
                <a:latin typeface="Arial Black"/>
                <a:ea typeface="Calibri"/>
              </a:rPr>
              <a:t>CONCLUSION</a:t>
            </a:r>
            <a:endParaRPr b="0" lang="en-US" sz="5400" spc="-1" strike="noStrike">
              <a:solidFill>
                <a:srgbClr val="ffffff"/>
              </a:solidFill>
              <a:latin typeface="Arial"/>
            </a:endParaRPr>
          </a:p>
          <a:p>
            <a:pPr marL="343080" indent="-343080" algn="just" defTabSz="914400">
              <a:lnSpc>
                <a:spcPct val="100000"/>
              </a:lnSpc>
              <a:tabLst>
                <a:tab algn="l" pos="0"/>
              </a:tabLst>
            </a:pPr>
            <a:endParaRPr b="0" lang="en-US" sz="3200" spc="-1" strike="noStrike">
              <a:solidFill>
                <a:srgbClr val="ffffff"/>
              </a:solidFill>
              <a:latin typeface="Arial"/>
            </a:endParaRPr>
          </a:p>
          <a:p>
            <a:pPr marL="343080" algn="just" defTabSz="914400">
              <a:lnSpc>
                <a:spcPct val="100000"/>
              </a:lnSpc>
              <a:tabLst>
                <a:tab algn="l" pos="0"/>
              </a:tabLst>
            </a:pPr>
            <a:endParaRPr b="0" lang="en-US" sz="2000" spc="-1" strike="noStrike">
              <a:solidFill>
                <a:srgbClr val="ffffff"/>
              </a:solidFill>
              <a:latin typeface="Arial"/>
            </a:endParaRPr>
          </a:p>
        </p:txBody>
      </p:sp>
      <p:sp>
        <p:nvSpPr>
          <p:cNvPr id="140" name="Rectangle 22"/>
          <p:cNvSpPr/>
          <p:nvPr/>
        </p:nvSpPr>
        <p:spPr>
          <a:xfrm>
            <a:off x="5320440" y="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141" name="Rectangle 23"/>
          <p:cNvSpPr/>
          <p:nvPr/>
        </p:nvSpPr>
        <p:spPr>
          <a:xfrm>
            <a:off x="5320440" y="6361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85" dur="indefinite" restart="never" nodeType="tmRoot">
          <p:childTnLst>
            <p:seq>
              <p:cTn id="86" dur="indefinite" nodeType="mainSeq">
                <p:childTnLst>
                  <p:par>
                    <p:cTn id="87" fill="hold">
                      <p:stCondLst>
                        <p:cond delay="indefinite"/>
                      </p:stCondLst>
                      <p:childTnLst>
                        <p:par>
                          <p:cTn id="88" fill="hold">
                            <p:stCondLst>
                              <p:cond delay="0"/>
                            </p:stCondLst>
                            <p:childTnLst>
                              <p:par>
                                <p:cTn id="89" nodeType="clickEffect" fill="hold" presetClass="entr" presetID="2" presetSubtype="4">
                                  <p:stCondLst>
                                    <p:cond delay="0"/>
                                  </p:stCondLst>
                                  <p:childTnLst>
                                    <p:set>
                                      <p:cBhvr>
                                        <p:cTn id="90" dur="1" fill="hold">
                                          <p:stCondLst>
                                            <p:cond delay="0"/>
                                          </p:stCondLst>
                                        </p:cTn>
                                        <p:tgtEl>
                                          <p:spTgt spid="139"/>
                                        </p:tgtEl>
                                        <p:attrNameLst>
                                          <p:attrName>style.visibility</p:attrName>
                                        </p:attrNameLst>
                                      </p:cBhvr>
                                      <p:to>
                                        <p:strVal val="visible"/>
                                      </p:to>
                                    </p:set>
                                    <p:anim calcmode="lin" valueType="num">
                                      <p:cBhvr additive="repl">
                                        <p:cTn id="91" dur="500" fill="hold"/>
                                        <p:tgtEl>
                                          <p:spTgt spid="139"/>
                                        </p:tgtEl>
                                        <p:attrNameLst>
                                          <p:attrName>ppt_x</p:attrName>
                                        </p:attrNameLst>
                                      </p:cBhvr>
                                      <p:tavLst>
                                        <p:tav tm="0">
                                          <p:val>
                                            <p:strVal val="#ppt_x"/>
                                          </p:val>
                                        </p:tav>
                                        <p:tav tm="100000">
                                          <p:val>
                                            <p:strVal val="#ppt_x"/>
                                          </p:val>
                                        </p:tav>
                                      </p:tavLst>
                                    </p:anim>
                                    <p:anim calcmode="lin" valueType="num">
                                      <p:cBhvr additive="repl">
                                        <p:cTn id="92" dur="500" fill="hold"/>
                                        <p:tgtEl>
                                          <p:spTgt spid="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Num" idx="49"/>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2000" spc="-1" strike="noStrike">
                <a:solidFill>
                  <a:srgbClr val="ffff00"/>
                </a:solidFill>
                <a:latin typeface="Arial Black"/>
              </a:defRPr>
            </a:lvl1pPr>
          </a:lstStyle>
          <a:p>
            <a:pPr indent="0" algn="r" defTabSz="914400">
              <a:lnSpc>
                <a:spcPct val="100000"/>
              </a:lnSpc>
              <a:buNone/>
              <a:tabLst>
                <a:tab algn="l" pos="0"/>
              </a:tabLst>
            </a:pPr>
            <a:r>
              <a:rPr b="0" lang="en-US" sz="2000" spc="-1" strike="noStrike">
                <a:solidFill>
                  <a:srgbClr val="ffff00"/>
                </a:solidFill>
                <a:latin typeface="Arial Black"/>
              </a:rPr>
              <a:t>22</a:t>
            </a:r>
            <a:endParaRPr b="0" lang="en-US" sz="2000" spc="-1" strike="noStrike">
              <a:solidFill>
                <a:srgbClr val="ffffff"/>
              </a:solidFill>
              <a:latin typeface="Times New Roman"/>
            </a:endParaRPr>
          </a:p>
        </p:txBody>
      </p:sp>
      <p:pic>
        <p:nvPicPr>
          <p:cNvPr id="143" name="Picture 4" descr="H:\CRAB\NN Logo.gif"/>
          <p:cNvPicPr/>
          <p:nvPr/>
        </p:nvPicPr>
        <p:blipFill>
          <a:blip r:embed="rId1"/>
          <a:stretch/>
        </p:blipFill>
        <p:spPr>
          <a:xfrm>
            <a:off x="98280" y="80640"/>
            <a:ext cx="849240" cy="808200"/>
          </a:xfrm>
          <a:prstGeom prst="rect">
            <a:avLst/>
          </a:prstGeom>
          <a:ln w="0">
            <a:noFill/>
          </a:ln>
        </p:spPr>
      </p:pic>
      <p:pic>
        <p:nvPicPr>
          <p:cNvPr id="144" name="Picture 3" descr=""/>
          <p:cNvPicPr/>
          <p:nvPr/>
        </p:nvPicPr>
        <p:blipFill>
          <a:blip r:embed="rId2"/>
          <a:stretch/>
        </p:blipFill>
        <p:spPr>
          <a:xfrm>
            <a:off x="11225520" y="80640"/>
            <a:ext cx="849240" cy="808200"/>
          </a:xfrm>
          <a:prstGeom prst="rect">
            <a:avLst/>
          </a:prstGeom>
          <a:ln w="0">
            <a:noFill/>
          </a:ln>
        </p:spPr>
      </p:pic>
      <p:sp>
        <p:nvSpPr>
          <p:cNvPr id="145" name="Rectangle 4"/>
          <p:cNvSpPr/>
          <p:nvPr/>
        </p:nvSpPr>
        <p:spPr>
          <a:xfrm>
            <a:off x="1314000" y="343080"/>
            <a:ext cx="9657000" cy="42044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endParaRPr b="0" lang="en-US" sz="5400" spc="-1" strike="noStrike">
              <a:solidFill>
                <a:srgbClr val="ffffff"/>
              </a:solidFill>
              <a:latin typeface="Arial"/>
            </a:endParaRPr>
          </a:p>
          <a:p>
            <a:pPr algn="ctr" defTabSz="914400">
              <a:lnSpc>
                <a:spcPct val="100000"/>
              </a:lnSpc>
            </a:pPr>
            <a:endParaRPr b="0" lang="en-US" sz="5400" spc="-1" strike="noStrike">
              <a:solidFill>
                <a:srgbClr val="ffffff"/>
              </a:solidFill>
              <a:latin typeface="Arial"/>
            </a:endParaRPr>
          </a:p>
          <a:p>
            <a:pPr algn="ctr" defTabSz="914400">
              <a:lnSpc>
                <a:spcPct val="100000"/>
              </a:lnSpc>
            </a:pPr>
            <a:r>
              <a:rPr b="1" lang="en-US" sz="5400" spc="-1" strike="noStrike">
                <a:solidFill>
                  <a:srgbClr val="ffff00"/>
                </a:solidFill>
                <a:latin typeface="Arial Black"/>
              </a:rPr>
              <a:t>THANK YOU FOR YOUR RAPT ATTENTION</a:t>
            </a:r>
            <a:endParaRPr b="0" lang="en-US" sz="5400" spc="-1" strike="noStrike">
              <a:solidFill>
                <a:srgbClr val="ffffff"/>
              </a:solidFill>
              <a:latin typeface="Arial"/>
            </a:endParaRPr>
          </a:p>
          <a:p>
            <a:pPr algn="ctr" defTabSz="914400">
              <a:lnSpc>
                <a:spcPct val="100000"/>
              </a:lnSpc>
            </a:pPr>
            <a:endParaRPr b="0" lang="en-US" sz="5400" spc="-1" strike="noStrike">
              <a:solidFill>
                <a:srgbClr val="ffffff"/>
              </a:solidFill>
              <a:latin typeface="Arial"/>
            </a:endParaRPr>
          </a:p>
        </p:txBody>
      </p:sp>
      <p:sp>
        <p:nvSpPr>
          <p:cNvPr id="146" name="Rectangle 5"/>
          <p:cNvSpPr/>
          <p:nvPr/>
        </p:nvSpPr>
        <p:spPr>
          <a:xfrm>
            <a:off x="5072760" y="1159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
        <p:nvSpPr>
          <p:cNvPr id="147" name="Rectangle 6"/>
          <p:cNvSpPr/>
          <p:nvPr/>
        </p:nvSpPr>
        <p:spPr>
          <a:xfrm>
            <a:off x="5195160" y="6356520"/>
            <a:ext cx="15321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rgbClr val="ffff00"/>
                </a:solidFill>
                <a:latin typeface="Arial Black"/>
                <a:ea typeface="Calibri"/>
              </a:rPr>
              <a:t>RESTRICTED</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93" dur="indefinite" restart="never" nodeType="tmRoot">
          <p:childTnLst>
            <p:seq>
              <p:cTn id="94" dur="indefinite" nodeType="mainSeq">
                <p:childTnLst>
                  <p:par>
                    <p:cTn id="95" fill="hold">
                      <p:stCondLst>
                        <p:cond delay="indefinite"/>
                      </p:stCondLst>
                      <p:childTnLst>
                        <p:par>
                          <p:cTn id="96" fill="hold">
                            <p:stCondLst>
                              <p:cond delay="0"/>
                            </p:stCondLst>
                            <p:childTnLst>
                              <p:par>
                                <p:cTn id="97" nodeType="clickEffect" fill="hold" presetClass="entr" presetID="2" presetSubtype="4">
                                  <p:stCondLst>
                                    <p:cond delay="0"/>
                                  </p:stCondLst>
                                  <p:childTnLst>
                                    <p:set>
                                      <p:cBhvr>
                                        <p:cTn id="98" dur="1" fill="hold">
                                          <p:stCondLst>
                                            <p:cond delay="0"/>
                                          </p:stCondLst>
                                        </p:cTn>
                                        <p:tgtEl>
                                          <p:spTgt spid="145">
                                            <p:txEl>
                                              <p:pRg st="2" end="2"/>
                                            </p:txEl>
                                          </p:spTgt>
                                        </p:tgtEl>
                                        <p:attrNameLst>
                                          <p:attrName>style.visibility</p:attrName>
                                        </p:attrNameLst>
                                      </p:cBhvr>
                                      <p:to>
                                        <p:strVal val="visible"/>
                                      </p:to>
                                    </p:set>
                                    <p:anim calcmode="lin" valueType="num">
                                      <p:cBhvr additive="repl">
                                        <p:cTn id="99" dur="500" fill="hold"/>
                                        <p:tgtEl>
                                          <p:spTgt spid="145">
                                            <p:txEl>
                                              <p:pRg st="2" end="2"/>
                                            </p:txEl>
                                          </p:spTgt>
                                        </p:tgtEl>
                                        <p:attrNameLst>
                                          <p:attrName>ppt_x</p:attrName>
                                        </p:attrNameLst>
                                      </p:cBhvr>
                                      <p:tavLst>
                                        <p:tav tm="0">
                                          <p:val>
                                            <p:strVal val="#ppt_x"/>
                                          </p:val>
                                        </p:tav>
                                        <p:tav tm="100000">
                                          <p:val>
                                            <p:strVal val="#ppt_x"/>
                                          </p:val>
                                        </p:tav>
                                      </p:tavLst>
                                    </p:anim>
                                    <p:anim calcmode="lin" valueType="num">
                                      <p:cBhvr additive="repl">
                                        <p:cTn id="100" dur="500" fill="hold"/>
                                        <p:tgtEl>
                                          <p:spTgt spid="14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4574</TotalTime>
  <Application>LibreOffice/24.2.7.2$Linux_X86_64 LibreOffice_project/420$Build-2</Application>
  <AppVersion>15.0000</AppVersion>
  <Words>671</Words>
  <Paragraphs>126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2019-07-10T09:19:54Z</dcterms:created>
  <dc:creator>patty</dc:creator>
  <dc:description/>
  <dc:language>en-US</dc:language>
  <cp:lastModifiedBy/>
  <dcterms:modified xsi:type="dcterms:W3CDTF">2024-12-12T05:17:17Z</dcterms:modified>
  <cp:revision>820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1</vt:i4>
  </property>
  <property fmtid="{D5CDD505-2E9C-101B-9397-08002B2CF9AE}" pid="4" name="PresentationFormat">
    <vt:lpwstr>Widescreen</vt:lpwstr>
  </property>
  <property fmtid="{D5CDD505-2E9C-101B-9397-08002B2CF9AE}" pid="5" name="Slides">
    <vt:i4>14</vt:i4>
  </property>
</Properties>
</file>