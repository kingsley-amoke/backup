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gif" ContentType="image/gif"/>
  <Override PartName="/ppt/media/image2.jpeg" ContentType="image/jpeg"/>
  <Override PartName="/ppt/media/image3.jpeg" ContentType="image/jpeg"/>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_rels/notesSlide7.xml.rels" ContentType="application/vnd.openxmlformats-package.relationships+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5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FF69BEEE-5BF4-45B0-942D-F2E2BF1993B4}"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685800" y="1143000"/>
            <a:ext cx="5486040" cy="3085920"/>
          </a:xfrm>
          <a:prstGeom prst="rect">
            <a:avLst/>
          </a:prstGeom>
          <a:ln w="0">
            <a:noFill/>
          </a:ln>
        </p:spPr>
      </p:sp>
      <p:sp>
        <p:nvSpPr>
          <p:cNvPr id="16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0"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RESTRICTED</a:t>
            </a:r>
            <a:endParaRPr b="0" lang="en-US" sz="1200" spc="-1" strike="noStrike">
              <a:solidFill>
                <a:srgbClr val="000000"/>
              </a:solidFill>
              <a:latin typeface="Times New Roman"/>
            </a:endParaRPr>
          </a:p>
        </p:txBody>
      </p:sp>
      <p:sp>
        <p:nvSpPr>
          <p:cNvPr id="171" name="PlaceHolder 4"/>
          <p:cNvSpPr>
            <a:spLocks noGrp="1"/>
          </p:cNvSpPr>
          <p:nvPr>
            <p:ph type="sldNum" idx="53"/>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D9F7E01B-34B8-4E3B-9C67-314B820ECB9D}"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15D1BE5-7229-455B-95D2-9BA48C89B59E}"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091045FB-B403-4873-AB8D-E2156E808FF7}"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FFF83E85-A103-4248-8CA3-8C0F02A79096}"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1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A7B0021-9DB3-4814-9418-B401CD54C6E4}"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3FBEF497-FED4-49A1-ADEF-53C9CB354C51}"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3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9814C7AC-4FBE-4A3A-86B8-D9ED99433BEF}"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FF7C06F3-5488-4B96-AC6D-4C4091BD74DC}"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BB58EB1A-1E82-47C4-AE96-F3F33166E64F}"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4D6D0726-1F69-45BE-BFE2-19659BB7B391}"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FDCAEBFC-5981-44F2-BA65-056A8DD4E986}"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F3CDF25B-398D-450A-BA6C-CFE48EBDCFAF}"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12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1" name="PlaceHolder 2"/>
          <p:cNvSpPr>
            <a:spLocks noGrp="1"/>
          </p:cNvSpPr>
          <p:nvPr>
            <p:ph type="ftr" idx="1"/>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 </a:t>
            </a:r>
            <a:endParaRPr b="0" lang="en-US" sz="1200" spc="-1" strike="noStrike">
              <a:solidFill>
                <a:srgbClr val="ffffff"/>
              </a:solidFill>
              <a:latin typeface="Times New Roman"/>
            </a:endParaRPr>
          </a:p>
        </p:txBody>
      </p:sp>
      <p:sp>
        <p:nvSpPr>
          <p:cNvPr id="2" name="PlaceHolder 3"/>
          <p:cNvSpPr>
            <a:spLocks noGrp="1"/>
          </p:cNvSpPr>
          <p:nvPr>
            <p:ph type="sldNum" idx="2"/>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D85D3E3D-C040-4CF1-9546-270C206FA3D7}" type="slidenum">
              <a:rPr b="0" lang="en-US" sz="1200" spc="-1" strike="noStrike">
                <a:solidFill>
                  <a:schemeClr val="dk1">
                    <a:tint val="75000"/>
                  </a:schemeClr>
                </a:solidFill>
                <a:latin typeface="Calibri"/>
              </a:rPr>
              <a:t>12</a:t>
            </a:fld>
            <a:endParaRPr b="0" lang="en-US" sz="1200" spc="-1" strike="noStrike">
              <a:solidFill>
                <a:srgbClr val="ffffff"/>
              </a:solidFill>
              <a:latin typeface="Times New Roman"/>
            </a:endParaRPr>
          </a:p>
        </p:txBody>
      </p:sp>
      <p:sp>
        <p:nvSpPr>
          <p:cNvPr id="3" name="PlaceHolder 4"/>
          <p:cNvSpPr>
            <a:spLocks noGrp="1"/>
          </p:cNvSpPr>
          <p:nvPr>
            <p:ph type="dt" idx="3"/>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 </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7" name="PlaceHolder 2"/>
          <p:cNvSpPr>
            <a:spLocks noGrp="1"/>
          </p:cNvSpPr>
          <p:nvPr>
            <p:ph type="sldNum" idx="5"/>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A470F539-CBF0-4C2F-8EEC-A91F0F43BFAF}"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8" name="PlaceHolder 3"/>
          <p:cNvSpPr>
            <a:spLocks noGrp="1"/>
          </p:cNvSpPr>
          <p:nvPr>
            <p:ph type="dt" idx="6"/>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10" name="PlaceHolder 2"/>
          <p:cNvSpPr>
            <a:spLocks noGrp="1"/>
          </p:cNvSpPr>
          <p:nvPr>
            <p:ph type="sldNum" idx="8"/>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3106B4F8-07BD-4328-B674-E889550FCB66}"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11" name="PlaceHolder 3"/>
          <p:cNvSpPr>
            <a:spLocks noGrp="1"/>
          </p:cNvSpPr>
          <p:nvPr>
            <p:ph type="dt" idx="9"/>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0912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13" name="PlaceHolder 2"/>
          <p:cNvSpPr>
            <a:spLocks noGrp="1"/>
          </p:cNvSpPr>
          <p:nvPr>
            <p:ph type="body"/>
          </p:nvPr>
        </p:nvSpPr>
        <p:spPr>
          <a:xfrm>
            <a:off x="609120" y="1604520"/>
            <a:ext cx="10971720" cy="397692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ffffff"/>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14" name="PlaceHolder 3"/>
          <p:cNvSpPr>
            <a:spLocks noGrp="1"/>
          </p:cNvSpPr>
          <p:nvPr>
            <p:ph type="ftr" idx="10"/>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15" name="PlaceHolder 4"/>
          <p:cNvSpPr>
            <a:spLocks noGrp="1"/>
          </p:cNvSpPr>
          <p:nvPr>
            <p:ph type="sldNum" idx="11"/>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A6C73120-491E-4864-9662-CDACBF13B015}"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16" name="PlaceHolder 5"/>
          <p:cNvSpPr>
            <a:spLocks noGrp="1"/>
          </p:cNvSpPr>
          <p:nvPr>
            <p:ph type="dt" idx="12"/>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20" name="PlaceHolder 2"/>
          <p:cNvSpPr>
            <a:spLocks noGrp="1"/>
          </p:cNvSpPr>
          <p:nvPr>
            <p:ph type="sldNum" idx="14"/>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E079728C-A49D-4018-99D6-2BF658DC43A2}"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21" name="PlaceHolder 3"/>
          <p:cNvSpPr>
            <a:spLocks noGrp="1"/>
          </p:cNvSpPr>
          <p:nvPr>
            <p:ph type="dt" idx="15"/>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0912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23" name="PlaceHolder 2"/>
          <p:cNvSpPr>
            <a:spLocks noGrp="1"/>
          </p:cNvSpPr>
          <p:nvPr>
            <p:ph type="body"/>
          </p:nvPr>
        </p:nvSpPr>
        <p:spPr>
          <a:xfrm>
            <a:off x="609120" y="1604520"/>
            <a:ext cx="5353920" cy="397692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ffffff"/>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24" name="PlaceHolder 3"/>
          <p:cNvSpPr>
            <a:spLocks noGrp="1"/>
          </p:cNvSpPr>
          <p:nvPr>
            <p:ph type="body"/>
          </p:nvPr>
        </p:nvSpPr>
        <p:spPr>
          <a:xfrm>
            <a:off x="6231600" y="1604520"/>
            <a:ext cx="5353920" cy="397692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ffffff"/>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25" name="PlaceHolder 4"/>
          <p:cNvSpPr>
            <a:spLocks noGrp="1"/>
          </p:cNvSpPr>
          <p:nvPr>
            <p:ph type="ftr" idx="16"/>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26" name="PlaceHolder 5"/>
          <p:cNvSpPr>
            <a:spLocks noGrp="1"/>
          </p:cNvSpPr>
          <p:nvPr>
            <p:ph type="sldNum" idx="17"/>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9009DB32-0116-4789-8AD3-DBF039AEB13B}"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27" name="PlaceHolder 6"/>
          <p:cNvSpPr>
            <a:spLocks noGrp="1"/>
          </p:cNvSpPr>
          <p:nvPr>
            <p:ph type="dt" idx="18"/>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32" name="PlaceHolder 2"/>
          <p:cNvSpPr>
            <a:spLocks noGrp="1"/>
          </p:cNvSpPr>
          <p:nvPr>
            <p:ph type="sldNum" idx="20"/>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631C5C3C-BFB6-4F47-85BE-9EEA46BA02FF}"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33" name="PlaceHolder 3"/>
          <p:cNvSpPr>
            <a:spLocks noGrp="1"/>
          </p:cNvSpPr>
          <p:nvPr>
            <p:ph type="dt" idx="21"/>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60912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35" name="PlaceHolder 2"/>
          <p:cNvSpPr>
            <a:spLocks noGrp="1"/>
          </p:cNvSpPr>
          <p:nvPr>
            <p:ph type="ftr" idx="22"/>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36" name="PlaceHolder 3"/>
          <p:cNvSpPr>
            <a:spLocks noGrp="1"/>
          </p:cNvSpPr>
          <p:nvPr>
            <p:ph type="sldNum" idx="23"/>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CAC3FC43-C365-4E91-A0DC-41E02BD89753}"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37" name="PlaceHolder 4"/>
          <p:cNvSpPr>
            <a:spLocks noGrp="1"/>
          </p:cNvSpPr>
          <p:nvPr>
            <p:ph type="dt" idx="24"/>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40" name="PlaceHolder 2"/>
          <p:cNvSpPr>
            <a:spLocks noGrp="1"/>
          </p:cNvSpPr>
          <p:nvPr>
            <p:ph type="sldNum" idx="26"/>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57BA409D-23B2-4CDF-818E-46300706B50E}"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41" name="PlaceHolder 3"/>
          <p:cNvSpPr>
            <a:spLocks noGrp="1"/>
          </p:cNvSpPr>
          <p:nvPr>
            <p:ph type="dt" idx="27"/>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4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4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ffffff"/>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45" name="PlaceHolder 2"/>
          <p:cNvSpPr>
            <a:spLocks noGrp="1"/>
          </p:cNvSpPr>
          <p:nvPr>
            <p:ph type="sldNum" idx="29"/>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D07A58D2-4926-48D1-BB93-C7A41323F9B1}"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46" name="PlaceHolder 3"/>
          <p:cNvSpPr>
            <a:spLocks noGrp="1"/>
          </p:cNvSpPr>
          <p:nvPr>
            <p:ph type="dt" idx="30"/>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48" name="PlaceHolder 2"/>
          <p:cNvSpPr>
            <a:spLocks noGrp="1"/>
          </p:cNvSpPr>
          <p:nvPr>
            <p:ph type="sldNum" idx="32"/>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BC3C87EF-E2ED-4B83-BFFE-575D541722AC}"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49" name="PlaceHolder 3"/>
          <p:cNvSpPr>
            <a:spLocks noGrp="1"/>
          </p:cNvSpPr>
          <p:nvPr>
            <p:ph type="dt" idx="33"/>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3.jpeg"/><Relationship Id="rId3"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3.jpeg"/><Relationship Id="rId3"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56" name="Rectangle 2"/>
          <p:cNvSpPr/>
          <p:nvPr/>
        </p:nvSpPr>
        <p:spPr>
          <a:xfrm>
            <a:off x="360" y="363960"/>
            <a:ext cx="12190680" cy="636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200" spc="-1" strike="noStrike">
                <a:solidFill>
                  <a:srgbClr val="ffff00"/>
                </a:solidFill>
                <a:latin typeface="Arial Black"/>
                <a:ea typeface="Calibri"/>
              </a:rPr>
              <a:t>A PROJECT PROPOSAL PRESENTATION </a:t>
            </a: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ON THE</a:t>
            </a:r>
            <a:endParaRPr b="0" lang="en-US" sz="2200" spc="-1" strike="noStrike">
              <a:solidFill>
                <a:srgbClr val="ffffff"/>
              </a:solidFill>
              <a:latin typeface="Arial"/>
            </a:endParaRPr>
          </a:p>
          <a:p>
            <a:pPr algn="ctr" defTabSz="914400">
              <a:lnSpc>
                <a:spcPct val="100000"/>
              </a:lnSpc>
            </a:pP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EVALUATION OF MEDICATION ADHERENCE AMONG PATIENTS WITH CHRONIC ILLNESSES</a:t>
            </a: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(A CASE STUDY OF NNRH OJO)</a:t>
            </a:r>
            <a:endParaRPr b="0"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ea typeface="Calibri"/>
              </a:rPr>
              <a:t> </a:t>
            </a: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BY</a:t>
            </a: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OSMA AZUAZU GN</a:t>
            </a: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M6479F</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  </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SUBMITTED TO</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 </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PHARMACY TECHNICIAN DEPARTMENT</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  </a:t>
            </a:r>
            <a:r>
              <a:rPr b="1" lang="en-GB" sz="2200" spc="-1" strike="noStrike">
                <a:solidFill>
                  <a:srgbClr val="ffff00"/>
                </a:solidFill>
                <a:latin typeface="Arial Black"/>
                <a:ea typeface="Calibri"/>
              </a:rPr>
              <a:t>NIGERIAN NAVY COLLEGE OF HEALTH SCIENCES</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 </a:t>
            </a:r>
            <a:r>
              <a:rPr b="1" lang="en-GB" sz="2200" spc="-1" strike="noStrike">
                <a:solidFill>
                  <a:srgbClr val="ffff00"/>
                </a:solidFill>
                <a:latin typeface="Arial Black"/>
                <a:ea typeface="Calibri"/>
              </a:rPr>
              <a:t>OFFA KWARA STATE</a:t>
            </a:r>
            <a:endParaRPr b="0" lang="en-US" sz="2200" spc="-1" strike="noStrike">
              <a:solidFill>
                <a:srgbClr val="ffffff"/>
              </a:solidFill>
              <a:latin typeface="Arial"/>
            </a:endParaRPr>
          </a:p>
          <a:p>
            <a:pPr algn="r" defTabSz="914400">
              <a:lnSpc>
                <a:spcPct val="100000"/>
              </a:lnSpc>
            </a:pPr>
            <a:r>
              <a:rPr b="1" lang="en-GB" sz="2400" spc="-1" strike="noStrike">
                <a:solidFill>
                  <a:srgbClr val="ffff00"/>
                </a:solidFill>
                <a:latin typeface="Arial Black"/>
                <a:ea typeface="Calibri"/>
              </a:rPr>
              <a:t>DECEMBER 2024.</a:t>
            </a:r>
            <a:endParaRPr b="0" lang="en-US" sz="2400" spc="-1" strike="noStrike">
              <a:solidFill>
                <a:srgbClr val="ffffff"/>
              </a:solidFill>
              <a:latin typeface="Arial"/>
            </a:endParaRPr>
          </a:p>
          <a:p>
            <a:pPr algn="ctr" defTabSz="914400">
              <a:lnSpc>
                <a:spcPct val="100000"/>
              </a:lnSpc>
            </a:pPr>
            <a:endParaRPr b="0" lang="en-US" sz="1800" spc="-1" strike="noStrike">
              <a:solidFill>
                <a:srgbClr val="ffffff"/>
              </a:solidFill>
              <a:latin typeface="Arial"/>
            </a:endParaRPr>
          </a:p>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pic>
        <p:nvPicPr>
          <p:cNvPr id="57" name="Picture 4" descr="H:\CRAB\NN Logo.gif"/>
          <p:cNvPicPr/>
          <p:nvPr/>
        </p:nvPicPr>
        <p:blipFill>
          <a:blip r:embed="rId1"/>
          <a:stretch/>
        </p:blipFill>
        <p:spPr>
          <a:xfrm>
            <a:off x="98280" y="80640"/>
            <a:ext cx="849240" cy="808200"/>
          </a:xfrm>
          <a:prstGeom prst="rect">
            <a:avLst/>
          </a:prstGeom>
          <a:ln w="0">
            <a:noFill/>
          </a:ln>
        </p:spPr>
      </p:pic>
      <p:pic>
        <p:nvPicPr>
          <p:cNvPr id="58" name="Picture 5" descr=""/>
          <p:cNvPicPr/>
          <p:nvPr/>
        </p:nvPicPr>
        <p:blipFill>
          <a:blip r:embed="rId2"/>
          <a:stretch/>
        </p:blipFill>
        <p:spPr>
          <a:xfrm>
            <a:off x="11225520" y="80640"/>
            <a:ext cx="849240" cy="808200"/>
          </a:xfrm>
          <a:prstGeom prst="rect">
            <a:avLst/>
          </a:prstGeom>
          <a:ln w="0">
            <a:noFill/>
          </a:ln>
        </p:spPr>
      </p:pic>
      <p:sp>
        <p:nvSpPr>
          <p:cNvPr id="59" name="Rectangle 6"/>
          <p:cNvSpPr/>
          <p:nvPr/>
        </p:nvSpPr>
        <p:spPr>
          <a:xfrm>
            <a:off x="5320440" y="745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med" p14:dur="700">
        <p:fade/>
      </p:transition>
    </mc:Choice>
    <mc:Fallback>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 presetSubtype="4">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repl">
                                        <p:cTn id="7" dur="500" fill="hold"/>
                                        <p:tgtEl>
                                          <p:spTgt spid="56"/>
                                        </p:tgtEl>
                                        <p:attrNameLst>
                                          <p:attrName>ppt_x</p:attrName>
                                        </p:attrNameLst>
                                      </p:cBhvr>
                                      <p:tavLst>
                                        <p:tav tm="0">
                                          <p:val>
                                            <p:strVal val="#ppt_x"/>
                                          </p:val>
                                        </p:tav>
                                        <p:tav tm="100000">
                                          <p:val>
                                            <p:strVal val="#ppt_x"/>
                                          </p:val>
                                        </p:tav>
                                      </p:tavLst>
                                    </p:anim>
                                    <p:anim calcmode="lin" valueType="num">
                                      <p:cBhvr additive="repl">
                                        <p:cTn id="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Num" idx="37"/>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2000" spc="-1" strike="noStrike">
                <a:solidFill>
                  <a:srgbClr val="ffff00"/>
                </a:solidFill>
                <a:latin typeface="Arial Black"/>
              </a:defRPr>
            </a:lvl1pPr>
          </a:lstStyle>
          <a:p>
            <a:pPr indent="0" algn="r" defTabSz="914400">
              <a:lnSpc>
                <a:spcPct val="100000"/>
              </a:lnSpc>
              <a:buNone/>
              <a:tabLst>
                <a:tab algn="l" pos="0"/>
              </a:tabLst>
            </a:pPr>
            <a:r>
              <a:rPr b="1" lang="en-US" sz="2000" spc="-1" strike="noStrike">
                <a:solidFill>
                  <a:srgbClr val="ffff00"/>
                </a:solidFill>
                <a:latin typeface="Arial Black"/>
              </a:rPr>
              <a:t>2</a:t>
            </a:r>
            <a:endParaRPr b="0" lang="en-US" sz="2000" spc="-1" strike="noStrike">
              <a:solidFill>
                <a:srgbClr val="ffffff"/>
              </a:solidFill>
              <a:latin typeface="Times New Roman"/>
            </a:endParaRPr>
          </a:p>
        </p:txBody>
      </p:sp>
      <p:sp>
        <p:nvSpPr>
          <p:cNvPr id="61" name="Rectangle 3"/>
          <p:cNvSpPr/>
          <p:nvPr/>
        </p:nvSpPr>
        <p:spPr>
          <a:xfrm>
            <a:off x="948600" y="2427120"/>
            <a:ext cx="10275840" cy="790200"/>
          </a:xfrm>
          <a:prstGeom prst="rect">
            <a:avLst/>
          </a:prstGeom>
          <a:noFill/>
          <a:ln w="0">
            <a:noFill/>
          </a:ln>
        </p:spPr>
        <p:style>
          <a:lnRef idx="0"/>
          <a:fillRef idx="0"/>
          <a:effectRef idx="0"/>
          <a:fontRef idx="minor"/>
        </p:style>
        <p:txBody>
          <a:bodyPr lIns="90000" rIns="90000" tIns="45000" bIns="45000" anchor="t">
            <a:spAutoFit/>
          </a:bodyPr>
          <a:p>
            <a:pPr marL="50760" algn="ctr" defTabSz="914400">
              <a:lnSpc>
                <a:spcPct val="115000"/>
              </a:lnSpc>
              <a:spcBef>
                <a:spcPts val="709"/>
              </a:spcBef>
            </a:pPr>
            <a:r>
              <a:rPr b="1" lang="en-US" sz="4000" spc="-1" strike="noStrike">
                <a:solidFill>
                  <a:srgbClr val="ffff00"/>
                </a:solidFill>
                <a:latin typeface="Arial Black"/>
                <a:ea typeface="Calibri"/>
              </a:rPr>
              <a:t>INTRODUCTION</a:t>
            </a:r>
            <a:endParaRPr b="0" lang="en-US" sz="4000" spc="-1" strike="noStrike">
              <a:solidFill>
                <a:srgbClr val="ffffff"/>
              </a:solidFill>
              <a:latin typeface="Arial"/>
            </a:endParaRPr>
          </a:p>
        </p:txBody>
      </p:sp>
      <p:pic>
        <p:nvPicPr>
          <p:cNvPr id="62" name="Picture 4" descr="H:\CRAB\NN Logo.gif"/>
          <p:cNvPicPr/>
          <p:nvPr/>
        </p:nvPicPr>
        <p:blipFill>
          <a:blip r:embed="rId1"/>
          <a:stretch/>
        </p:blipFill>
        <p:spPr>
          <a:xfrm>
            <a:off x="98280" y="80640"/>
            <a:ext cx="849240" cy="808200"/>
          </a:xfrm>
          <a:prstGeom prst="rect">
            <a:avLst/>
          </a:prstGeom>
          <a:ln w="0">
            <a:noFill/>
          </a:ln>
        </p:spPr>
      </p:pic>
      <p:pic>
        <p:nvPicPr>
          <p:cNvPr id="63" name="Picture 5" descr=""/>
          <p:cNvPicPr/>
          <p:nvPr/>
        </p:nvPicPr>
        <p:blipFill>
          <a:blip r:embed="rId2"/>
          <a:stretch/>
        </p:blipFill>
        <p:spPr>
          <a:xfrm>
            <a:off x="11225520" y="80640"/>
            <a:ext cx="849240" cy="808200"/>
          </a:xfrm>
          <a:prstGeom prst="rect">
            <a:avLst/>
          </a:prstGeom>
          <a:ln w="0">
            <a:noFill/>
          </a:ln>
        </p:spPr>
      </p:pic>
      <p:sp>
        <p:nvSpPr>
          <p:cNvPr id="64" name="Rectangle 6"/>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65" name="Rectangle 7"/>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9" dur="indefinite" restart="never" nodeType="tmRoot">
          <p:childTnLst>
            <p:seq>
              <p:cTn id="10" dur="indefinite" nodeType="mainSeq">
                <p:childTnLst>
                  <p:par>
                    <p:cTn id="11" fill="hold">
                      <p:stCondLst>
                        <p:cond delay="0"/>
                      </p:stCondLst>
                      <p:childTnLst>
                        <p:par>
                          <p:cTn id="12" fill="hold">
                            <p:stCondLst>
                              <p:cond delay="0"/>
                            </p:stCondLst>
                            <p:childTnLst>
                              <p:par>
                                <p:cTn id="13" nodeType="withEffect" fill="hold" presetClass="entr" presetID="2" presetSubtype="4">
                                  <p:stCondLst>
                                    <p:cond delay="0"/>
                                  </p:stCondLst>
                                  <p:childTnLst>
                                    <p:set>
                                      <p:cBhvr>
                                        <p:cTn id="14" dur="1" fill="hold">
                                          <p:stCondLst>
                                            <p:cond delay="0"/>
                                          </p:stCondLst>
                                        </p:cTn>
                                        <p:tgtEl>
                                          <p:spTgt spid="61"/>
                                        </p:tgtEl>
                                        <p:attrNameLst>
                                          <p:attrName>style.visibility</p:attrName>
                                        </p:attrNameLst>
                                      </p:cBhvr>
                                      <p:to>
                                        <p:strVal val="visible"/>
                                      </p:to>
                                    </p:set>
                                    <p:anim calcmode="lin" valueType="num">
                                      <p:cBhvr additive="repl">
                                        <p:cTn id="15" dur="500" fill="hold"/>
                                        <p:tgtEl>
                                          <p:spTgt spid="61"/>
                                        </p:tgtEl>
                                        <p:attrNameLst>
                                          <p:attrName>ppt_x</p:attrName>
                                        </p:attrNameLst>
                                      </p:cBhvr>
                                      <p:tavLst>
                                        <p:tav tm="0">
                                          <p:val>
                                            <p:strVal val="#ppt_x"/>
                                          </p:val>
                                        </p:tav>
                                        <p:tav tm="100000">
                                          <p:val>
                                            <p:strVal val="#ppt_x"/>
                                          </p:val>
                                        </p:tav>
                                      </p:tavLst>
                                    </p:anim>
                                    <p:anim calcmode="lin" valueType="num">
                                      <p:cBhvr additive="repl">
                                        <p:cTn id="16"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ldNum" idx="38"/>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2000" spc="-1" strike="noStrike">
                <a:solidFill>
                  <a:srgbClr val="ffff00"/>
                </a:solidFill>
                <a:latin typeface="Arial Black"/>
              </a:defRPr>
            </a:lvl1pPr>
          </a:lstStyle>
          <a:p>
            <a:pPr indent="0" algn="r" defTabSz="914400">
              <a:lnSpc>
                <a:spcPct val="100000"/>
              </a:lnSpc>
              <a:buNone/>
              <a:tabLst>
                <a:tab algn="l" pos="0"/>
              </a:tabLst>
            </a:pPr>
            <a:r>
              <a:rPr b="1" lang="en-US" sz="2000" spc="-1" strike="noStrike">
                <a:solidFill>
                  <a:srgbClr val="ffff00"/>
                </a:solidFill>
                <a:latin typeface="Arial Black"/>
              </a:rPr>
              <a:t>2</a:t>
            </a:r>
            <a:endParaRPr b="0" lang="en-US" sz="2000" spc="-1" strike="noStrike">
              <a:solidFill>
                <a:srgbClr val="ffffff"/>
              </a:solidFill>
              <a:latin typeface="Times New Roman"/>
            </a:endParaRPr>
          </a:p>
        </p:txBody>
      </p:sp>
      <p:sp>
        <p:nvSpPr>
          <p:cNvPr id="67" name="Rectangle 2"/>
          <p:cNvSpPr/>
          <p:nvPr/>
        </p:nvSpPr>
        <p:spPr>
          <a:xfrm>
            <a:off x="5338800" y="1207800"/>
            <a:ext cx="1002600" cy="57744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00000"/>
              </a:lnSpc>
            </a:pPr>
            <a:r>
              <a:rPr b="1" lang="en-US" sz="3200" spc="-1" strike="noStrike">
                <a:solidFill>
                  <a:srgbClr val="ffff00"/>
                </a:solidFill>
                <a:latin typeface="Arial Black"/>
                <a:ea typeface="Calibri"/>
              </a:rPr>
              <a:t>AIM</a:t>
            </a:r>
            <a:endParaRPr b="0" lang="en-US" sz="3200" spc="-1" strike="noStrike">
              <a:solidFill>
                <a:srgbClr val="ffffff"/>
              </a:solidFill>
              <a:latin typeface="Arial"/>
            </a:endParaRPr>
          </a:p>
        </p:txBody>
      </p:sp>
      <p:sp>
        <p:nvSpPr>
          <p:cNvPr id="68" name="Rectangle 3"/>
          <p:cNvSpPr/>
          <p:nvPr/>
        </p:nvSpPr>
        <p:spPr>
          <a:xfrm>
            <a:off x="948600" y="2427120"/>
            <a:ext cx="10275840" cy="2015640"/>
          </a:xfrm>
          <a:prstGeom prst="rect">
            <a:avLst/>
          </a:prstGeom>
          <a:noFill/>
          <a:ln w="0">
            <a:noFill/>
          </a:ln>
        </p:spPr>
        <p:style>
          <a:lnRef idx="0"/>
          <a:fillRef idx="0"/>
          <a:effectRef idx="0"/>
          <a:fontRef idx="minor"/>
        </p:style>
        <p:txBody>
          <a:bodyPr lIns="90000" rIns="90000" tIns="45000" bIns="45000" anchor="t">
            <a:spAutoFit/>
          </a:bodyPr>
          <a:p>
            <a:pPr marL="50760" algn="just" defTabSz="914400">
              <a:lnSpc>
                <a:spcPct val="115000"/>
              </a:lnSpc>
              <a:spcBef>
                <a:spcPts val="709"/>
              </a:spcBef>
            </a:pPr>
            <a:r>
              <a:rPr b="1" lang="en-US" sz="2200" spc="-1" strike="noStrike">
                <a:solidFill>
                  <a:srgbClr val="ffff00"/>
                </a:solidFill>
                <a:latin typeface="Arial Black"/>
                <a:ea typeface="Calibri"/>
              </a:rPr>
              <a:t>THE AIM OF THIS STUDY IS TO EVALUATE THE DEGREE OF MEDICATION ADHERENCE AMONG PATIENTS WITH CHRONIC ILLNESSES AT NIGERIAN NAVY REFERENCE HOSPITAL OJO AND TO PROPOSE STRATEGIES THAT CAN BE EMPLOYED TO IMPROVE ADHERENCE AND OVERALL QUALITY OF LIFE OF SUCH PATIENTS</a:t>
            </a:r>
            <a:endParaRPr b="0" lang="en-US" sz="2200" spc="-1" strike="noStrike">
              <a:solidFill>
                <a:srgbClr val="ffffff"/>
              </a:solidFill>
              <a:latin typeface="Arial"/>
            </a:endParaRPr>
          </a:p>
        </p:txBody>
      </p:sp>
      <p:pic>
        <p:nvPicPr>
          <p:cNvPr id="69" name="Picture 4" descr="H:\CRAB\NN Logo.gif"/>
          <p:cNvPicPr/>
          <p:nvPr/>
        </p:nvPicPr>
        <p:blipFill>
          <a:blip r:embed="rId1"/>
          <a:stretch/>
        </p:blipFill>
        <p:spPr>
          <a:xfrm>
            <a:off x="98280" y="80640"/>
            <a:ext cx="849240" cy="808200"/>
          </a:xfrm>
          <a:prstGeom prst="rect">
            <a:avLst/>
          </a:prstGeom>
          <a:ln w="0">
            <a:noFill/>
          </a:ln>
        </p:spPr>
      </p:pic>
      <p:pic>
        <p:nvPicPr>
          <p:cNvPr id="70" name="Picture 5" descr=""/>
          <p:cNvPicPr/>
          <p:nvPr/>
        </p:nvPicPr>
        <p:blipFill>
          <a:blip r:embed="rId2"/>
          <a:stretch/>
        </p:blipFill>
        <p:spPr>
          <a:xfrm>
            <a:off x="11225520" y="80640"/>
            <a:ext cx="849240" cy="808200"/>
          </a:xfrm>
          <a:prstGeom prst="rect">
            <a:avLst/>
          </a:prstGeom>
          <a:ln w="0">
            <a:noFill/>
          </a:ln>
        </p:spPr>
      </p:pic>
      <p:sp>
        <p:nvSpPr>
          <p:cNvPr id="71" name="Rectangle 6"/>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72" name="Rectangle 7"/>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7" dur="indefinite" restart="never" nodeType="tmRoot">
          <p:childTnLst>
            <p:seq>
              <p:cTn id="18" dur="indefinite" nodeType="mainSeq">
                <p:childTnLst>
                  <p:par>
                    <p:cTn id="19" fill="hold">
                      <p:stCondLst>
                        <p:cond delay="indefinite"/>
                      </p:stCondLst>
                      <p:childTnLst>
                        <p:par>
                          <p:cTn id="20" fill="hold">
                            <p:stCondLst>
                              <p:cond delay="0"/>
                            </p:stCondLst>
                            <p:childTnLst>
                              <p:par>
                                <p:cTn id="21" nodeType="clickEffect" fill="hold" presetClass="entr" presetID="2" presetSubtype="4">
                                  <p:stCondLst>
                                    <p:cond delay="0"/>
                                  </p:stCondLst>
                                  <p:childTnLst>
                                    <p:set>
                                      <p:cBhvr>
                                        <p:cTn id="22" dur="1" fill="hold">
                                          <p:stCondLst>
                                            <p:cond delay="0"/>
                                          </p:stCondLst>
                                        </p:cTn>
                                        <p:tgtEl>
                                          <p:spTgt spid="67"/>
                                        </p:tgtEl>
                                        <p:attrNameLst>
                                          <p:attrName>style.visibility</p:attrName>
                                        </p:attrNameLst>
                                      </p:cBhvr>
                                      <p:to>
                                        <p:strVal val="visible"/>
                                      </p:to>
                                    </p:set>
                                    <p:anim calcmode="lin" valueType="num">
                                      <p:cBhvr additive="repl">
                                        <p:cTn id="23" dur="500" fill="hold"/>
                                        <p:tgtEl>
                                          <p:spTgt spid="67"/>
                                        </p:tgtEl>
                                        <p:attrNameLst>
                                          <p:attrName>ppt_x</p:attrName>
                                        </p:attrNameLst>
                                      </p:cBhvr>
                                      <p:tavLst>
                                        <p:tav tm="0">
                                          <p:val>
                                            <p:strVal val="#ppt_x"/>
                                          </p:val>
                                        </p:tav>
                                        <p:tav tm="100000">
                                          <p:val>
                                            <p:strVal val="#ppt_x"/>
                                          </p:val>
                                        </p:tav>
                                      </p:tavLst>
                                    </p:anim>
                                    <p:anim calcmode="lin" valueType="num">
                                      <p:cBhvr additive="repl">
                                        <p:cTn id="24" dur="500" fill="hold"/>
                                        <p:tgtEl>
                                          <p:spTgt spid="67"/>
                                        </p:tgtEl>
                                        <p:attrNameLst>
                                          <p:attrName>ppt_y</p:attrName>
                                        </p:attrNameLst>
                                      </p:cBhvr>
                                      <p:tavLst>
                                        <p:tav tm="0">
                                          <p:val>
                                            <p:strVal val="1+#ppt_h/2"/>
                                          </p:val>
                                        </p:tav>
                                        <p:tav tm="100000">
                                          <p:val>
                                            <p:strVal val="#ppt_y"/>
                                          </p:val>
                                        </p:tav>
                                      </p:tavLst>
                                    </p:anim>
                                  </p:childTnLst>
                                </p:cTn>
                              </p:par>
                              <p:par>
                                <p:cTn id="25" nodeType="withEffect" fill="hold" presetClass="entr" presetID="2" presetSubtype="4">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additive="repl">
                                        <p:cTn id="27" dur="500" fill="hold"/>
                                        <p:tgtEl>
                                          <p:spTgt spid="68"/>
                                        </p:tgtEl>
                                        <p:attrNameLst>
                                          <p:attrName>ppt_x</p:attrName>
                                        </p:attrNameLst>
                                      </p:cBhvr>
                                      <p:tavLst>
                                        <p:tav tm="0">
                                          <p:val>
                                            <p:strVal val="#ppt_x"/>
                                          </p:val>
                                        </p:tav>
                                        <p:tav tm="100000">
                                          <p:val>
                                            <p:strVal val="#ppt_x"/>
                                          </p:val>
                                        </p:tav>
                                      </p:tavLst>
                                    </p:anim>
                                    <p:anim calcmode="lin" valueType="num">
                                      <p:cBhvr additive="repl">
                                        <p:cTn id="28"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sldNum" idx="39"/>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000" spc="-1" strike="noStrike">
                <a:solidFill>
                  <a:srgbClr val="ffff00"/>
                </a:solidFill>
                <a:latin typeface="Arial Black"/>
              </a:defRPr>
            </a:lvl1pPr>
          </a:lstStyle>
          <a:p>
            <a:pPr indent="0" algn="r" defTabSz="914400">
              <a:lnSpc>
                <a:spcPct val="100000"/>
              </a:lnSpc>
              <a:buNone/>
              <a:tabLst>
                <a:tab algn="l" pos="0"/>
              </a:tabLst>
            </a:pPr>
            <a:r>
              <a:rPr b="0" lang="en-US" sz="2000" spc="-1" strike="noStrike">
                <a:solidFill>
                  <a:srgbClr val="ffff00"/>
                </a:solidFill>
                <a:latin typeface="Arial Black"/>
              </a:rPr>
              <a:t>4</a:t>
            </a:r>
            <a:endParaRPr b="0" lang="en-US" sz="2000" spc="-1" strike="noStrike">
              <a:solidFill>
                <a:srgbClr val="ffffff"/>
              </a:solidFill>
              <a:latin typeface="Times New Roman"/>
            </a:endParaRPr>
          </a:p>
        </p:txBody>
      </p:sp>
      <p:sp>
        <p:nvSpPr>
          <p:cNvPr id="74" name="Rectangle 4"/>
          <p:cNvSpPr/>
          <p:nvPr/>
        </p:nvSpPr>
        <p:spPr>
          <a:xfrm>
            <a:off x="948600" y="772560"/>
            <a:ext cx="10275840" cy="3120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200" spc="-1" strike="noStrike">
                <a:solidFill>
                  <a:srgbClr val="ffff00"/>
                </a:solidFill>
                <a:latin typeface="Arial Black"/>
                <a:ea typeface="Calibri"/>
              </a:rPr>
              <a:t>SCOPE</a:t>
            </a:r>
            <a:endParaRPr b="0" lang="en-US" sz="2200" spc="-1" strike="noStrike">
              <a:solidFill>
                <a:srgbClr val="ffffff"/>
              </a:solidFill>
              <a:latin typeface="Arial"/>
            </a:endParaRPr>
          </a:p>
          <a:p>
            <a:pPr marL="457200" indent="-457200" defTabSz="914400">
              <a:lnSpc>
                <a:spcPct val="150000"/>
              </a:lnSpc>
              <a:buClr>
                <a:srgbClr val="ffff00"/>
              </a:buClr>
              <a:buFont typeface="Calibri Light"/>
              <a:buAutoNum type="arabicPeriod"/>
            </a:pPr>
            <a:r>
              <a:rPr b="1" lang="en-US" sz="2200" spc="-1" strike="noStrike">
                <a:solidFill>
                  <a:srgbClr val="ffff00"/>
                </a:solidFill>
                <a:latin typeface="Arial Black"/>
                <a:ea typeface="Tahoma"/>
              </a:rPr>
              <a:t>STATEMENT OF PROBLEM</a:t>
            </a:r>
            <a:endParaRPr b="0" lang="en-US" sz="2200" spc="-1" strike="noStrike">
              <a:solidFill>
                <a:srgbClr val="ffffff"/>
              </a:solidFill>
              <a:latin typeface="Arial"/>
            </a:endParaRPr>
          </a:p>
          <a:p>
            <a:pPr marL="457200" indent="-457200" defTabSz="914400">
              <a:lnSpc>
                <a:spcPct val="150000"/>
              </a:lnSpc>
              <a:buClr>
                <a:srgbClr val="ffff00"/>
              </a:buClr>
              <a:buFont typeface="Calibri Light"/>
              <a:buAutoNum type="arabicPeriod"/>
            </a:pPr>
            <a:r>
              <a:rPr b="1" lang="en-US" sz="2200" spc="-1" strike="noStrike">
                <a:solidFill>
                  <a:srgbClr val="ffff00"/>
                </a:solidFill>
                <a:latin typeface="Arial Black"/>
                <a:ea typeface="Tahoma"/>
              </a:rPr>
              <a:t>OBJECTIVES</a:t>
            </a:r>
            <a:endParaRPr b="0" lang="en-US" sz="2200" spc="-1" strike="noStrike">
              <a:solidFill>
                <a:srgbClr val="ffffff"/>
              </a:solidFill>
              <a:latin typeface="Arial"/>
            </a:endParaRPr>
          </a:p>
          <a:p>
            <a:pPr marL="457200" indent="-457200" defTabSz="914400">
              <a:lnSpc>
                <a:spcPct val="150000"/>
              </a:lnSpc>
              <a:buClr>
                <a:srgbClr val="ffff00"/>
              </a:buClr>
              <a:buFont typeface="Calibri Light"/>
              <a:buAutoNum type="arabicPeriod"/>
            </a:pPr>
            <a:r>
              <a:rPr b="1" lang="en-US" sz="2200" spc="-1" strike="noStrike">
                <a:solidFill>
                  <a:srgbClr val="ffff00"/>
                </a:solidFill>
                <a:latin typeface="Arial Black"/>
                <a:ea typeface="Tahoma"/>
              </a:rPr>
              <a:t>SIGNIFICANCE OF THE STUDY</a:t>
            </a:r>
            <a:endParaRPr b="0" lang="en-US" sz="2200" spc="-1" strike="noStrike">
              <a:solidFill>
                <a:srgbClr val="ffffff"/>
              </a:solidFill>
              <a:latin typeface="Arial"/>
            </a:endParaRPr>
          </a:p>
          <a:p>
            <a:pPr marL="457200" indent="-457200" algn="just" defTabSz="914400">
              <a:lnSpc>
                <a:spcPct val="150000"/>
              </a:lnSpc>
              <a:buClr>
                <a:srgbClr val="ffff00"/>
              </a:buClr>
              <a:buFont typeface="Calibri Light"/>
              <a:buAutoNum type="arabicPeriod"/>
            </a:pPr>
            <a:r>
              <a:rPr b="1" lang="en-US" sz="2200" spc="-1" strike="noStrike">
                <a:solidFill>
                  <a:srgbClr val="ffff00"/>
                </a:solidFill>
                <a:latin typeface="Arial Black"/>
                <a:ea typeface="Tahoma"/>
              </a:rPr>
              <a:t>RESEARCH QUESTIONS</a:t>
            </a:r>
            <a:endParaRPr b="0" lang="en-US" sz="2200" spc="-1" strike="noStrike">
              <a:solidFill>
                <a:srgbClr val="ffffff"/>
              </a:solidFill>
              <a:latin typeface="Arial"/>
            </a:endParaRPr>
          </a:p>
          <a:p>
            <a:pPr marL="457200" indent="-457200" algn="just" defTabSz="914400">
              <a:lnSpc>
                <a:spcPct val="150000"/>
              </a:lnSpc>
              <a:buClr>
                <a:srgbClr val="ffff00"/>
              </a:buClr>
              <a:buFont typeface="Calibri Light"/>
              <a:buAutoNum type="arabicPeriod"/>
            </a:pPr>
            <a:r>
              <a:rPr b="1" lang="en-US" sz="2200" spc="-1" strike="noStrike">
                <a:solidFill>
                  <a:srgbClr val="ffff00"/>
                </a:solidFill>
                <a:latin typeface="Arial Black"/>
                <a:ea typeface="Tahoma"/>
              </a:rPr>
              <a:t>METHODOLOGY</a:t>
            </a:r>
            <a:endParaRPr b="0" lang="en-US" sz="2200" spc="-1" strike="noStrike">
              <a:solidFill>
                <a:srgbClr val="ffffff"/>
              </a:solidFill>
              <a:latin typeface="Arial"/>
            </a:endParaRPr>
          </a:p>
          <a:p>
            <a:pPr algn="ctr" defTabSz="914400">
              <a:lnSpc>
                <a:spcPct val="100000"/>
              </a:lnSpc>
            </a:pPr>
            <a:endParaRPr b="0" lang="en-US" sz="1200" spc="-1" strike="noStrike">
              <a:solidFill>
                <a:srgbClr val="ffffff"/>
              </a:solidFill>
              <a:latin typeface="Arial"/>
            </a:endParaRPr>
          </a:p>
        </p:txBody>
      </p:sp>
      <p:pic>
        <p:nvPicPr>
          <p:cNvPr id="75" name="Picture 4" descr="H:\CRAB\NN Logo.gif"/>
          <p:cNvPicPr/>
          <p:nvPr/>
        </p:nvPicPr>
        <p:blipFill>
          <a:blip r:embed="rId1"/>
          <a:stretch/>
        </p:blipFill>
        <p:spPr>
          <a:xfrm>
            <a:off x="98280" y="80640"/>
            <a:ext cx="849240" cy="808200"/>
          </a:xfrm>
          <a:prstGeom prst="rect">
            <a:avLst/>
          </a:prstGeom>
          <a:ln w="0">
            <a:noFill/>
          </a:ln>
        </p:spPr>
      </p:pic>
      <p:pic>
        <p:nvPicPr>
          <p:cNvPr id="76" name="Picture 6" descr=""/>
          <p:cNvPicPr/>
          <p:nvPr/>
        </p:nvPicPr>
        <p:blipFill>
          <a:blip r:embed="rId2"/>
          <a:stretch/>
        </p:blipFill>
        <p:spPr>
          <a:xfrm>
            <a:off x="11225520" y="80640"/>
            <a:ext cx="849240" cy="808200"/>
          </a:xfrm>
          <a:prstGeom prst="rect">
            <a:avLst/>
          </a:prstGeom>
          <a:ln w="0">
            <a:noFill/>
          </a:ln>
        </p:spPr>
      </p:pic>
      <p:sp>
        <p:nvSpPr>
          <p:cNvPr id="77" name="Rectangle 7"/>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78" name="Rectangle 8"/>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2" presetSubtype="4">
                                  <p:stCondLst>
                                    <p:cond delay="0"/>
                                  </p:stCondLst>
                                  <p:childTnLst>
                                    <p:set>
                                      <p:cBhvr>
                                        <p:cTn id="34" dur="1" fill="hold">
                                          <p:stCondLst>
                                            <p:cond delay="0"/>
                                          </p:stCondLst>
                                        </p:cTn>
                                        <p:tgtEl>
                                          <p:spTgt spid="74"/>
                                        </p:tgtEl>
                                        <p:attrNameLst>
                                          <p:attrName>style.visibility</p:attrName>
                                        </p:attrNameLst>
                                      </p:cBhvr>
                                      <p:to>
                                        <p:strVal val="visible"/>
                                      </p:to>
                                    </p:set>
                                    <p:anim calcmode="lin" valueType="num">
                                      <p:cBhvr additive="repl">
                                        <p:cTn id="35" dur="500" fill="hold"/>
                                        <p:tgtEl>
                                          <p:spTgt spid="74"/>
                                        </p:tgtEl>
                                        <p:attrNameLst>
                                          <p:attrName>ppt_x</p:attrName>
                                        </p:attrNameLst>
                                      </p:cBhvr>
                                      <p:tavLst>
                                        <p:tav tm="0">
                                          <p:val>
                                            <p:strVal val="#ppt_x"/>
                                          </p:val>
                                        </p:tav>
                                        <p:tav tm="100000">
                                          <p:val>
                                            <p:strVal val="#ppt_x"/>
                                          </p:val>
                                        </p:tav>
                                      </p:tavLst>
                                    </p:anim>
                                    <p:anim calcmode="lin" valueType="num">
                                      <p:cBhvr additive="repl">
                                        <p:cTn id="36"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sldNum" idx="40"/>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1800" spc="-1" strike="noStrike">
                <a:solidFill>
                  <a:srgbClr val="ffff00"/>
                </a:solidFill>
                <a:latin typeface="Arial Black"/>
              </a:defRPr>
            </a:lvl1pPr>
          </a:lstStyle>
          <a:p>
            <a:pPr indent="0" algn="r" defTabSz="914400">
              <a:lnSpc>
                <a:spcPct val="100000"/>
              </a:lnSpc>
              <a:buNone/>
              <a:tabLst>
                <a:tab algn="l" pos="0"/>
              </a:tabLst>
            </a:pPr>
            <a:r>
              <a:rPr b="1" lang="en-US" sz="1800" spc="-1" strike="noStrike">
                <a:solidFill>
                  <a:srgbClr val="ffff00"/>
                </a:solidFill>
                <a:latin typeface="Arial Black"/>
              </a:rPr>
              <a:t>5</a:t>
            </a:r>
            <a:endParaRPr b="0" lang="en-US" sz="1800" spc="-1" strike="noStrike">
              <a:solidFill>
                <a:srgbClr val="ffffff"/>
              </a:solidFill>
              <a:latin typeface="Times New Roman"/>
            </a:endParaRPr>
          </a:p>
        </p:txBody>
      </p:sp>
      <p:pic>
        <p:nvPicPr>
          <p:cNvPr id="80" name="Picture 7" descr="H:\CRAB\NN Logo.gif"/>
          <p:cNvPicPr/>
          <p:nvPr/>
        </p:nvPicPr>
        <p:blipFill>
          <a:blip r:embed="rId1"/>
          <a:stretch/>
        </p:blipFill>
        <p:spPr>
          <a:xfrm>
            <a:off x="98280" y="80640"/>
            <a:ext cx="849240" cy="808200"/>
          </a:xfrm>
          <a:prstGeom prst="rect">
            <a:avLst/>
          </a:prstGeom>
          <a:ln w="0">
            <a:noFill/>
          </a:ln>
        </p:spPr>
      </p:pic>
      <p:pic>
        <p:nvPicPr>
          <p:cNvPr id="81" name="Picture 8" descr=""/>
          <p:cNvPicPr/>
          <p:nvPr/>
        </p:nvPicPr>
        <p:blipFill>
          <a:blip r:embed="rId2"/>
          <a:stretch/>
        </p:blipFill>
        <p:spPr>
          <a:xfrm>
            <a:off x="11225520" y="80640"/>
            <a:ext cx="849240" cy="808200"/>
          </a:xfrm>
          <a:prstGeom prst="rect">
            <a:avLst/>
          </a:prstGeom>
          <a:ln w="0">
            <a:noFill/>
          </a:ln>
        </p:spPr>
      </p:pic>
      <p:sp>
        <p:nvSpPr>
          <p:cNvPr id="82" name="Rectangle 26"/>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83" name="Rectangle 28"/>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84" name="Rectangle 31"/>
          <p:cNvSpPr/>
          <p:nvPr/>
        </p:nvSpPr>
        <p:spPr>
          <a:xfrm>
            <a:off x="360" y="764280"/>
            <a:ext cx="12190680" cy="82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50000"/>
              </a:lnSpc>
            </a:pPr>
            <a:r>
              <a:rPr b="1" lang="en-US" sz="3200" spc="-1" strike="noStrike">
                <a:solidFill>
                  <a:srgbClr val="ffff00"/>
                </a:solidFill>
                <a:latin typeface="Arial Black"/>
                <a:ea typeface="Tahoma"/>
              </a:rPr>
              <a:t>STATEMENT OF THE PROBLEM</a:t>
            </a:r>
            <a:endParaRPr b="0" lang="en-US" sz="3200" spc="-1" strike="noStrike">
              <a:solidFill>
                <a:srgbClr val="ffffff"/>
              </a:solidFill>
              <a:latin typeface="Arial"/>
            </a:endParaRPr>
          </a:p>
        </p:txBody>
      </p:sp>
      <p:sp>
        <p:nvSpPr>
          <p:cNvPr id="85" name="Rectangle 32"/>
          <p:cNvSpPr/>
          <p:nvPr/>
        </p:nvSpPr>
        <p:spPr>
          <a:xfrm>
            <a:off x="948600" y="1817280"/>
            <a:ext cx="10275840" cy="27129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spcBef>
                <a:spcPts val="1191"/>
              </a:spcBef>
              <a:spcAft>
                <a:spcPts val="992"/>
              </a:spcAft>
            </a:pPr>
            <a:r>
              <a:rPr b="1" lang="en-US" sz="2200" spc="-1" strike="noStrike">
                <a:solidFill>
                  <a:srgbClr val="ffff00"/>
                </a:solidFill>
                <a:latin typeface="Arial Black"/>
              </a:rPr>
              <a:t>DESPITE ADVANCES IN MEDICAL TREATMENT AND THE AVAILABILITY OF MEDICATIONS, NON-ADHERENCE REMAINS A PERSISTENT CHALLENGE UNDERMINING TREATMENT OUTCOME</a:t>
            </a:r>
            <a:endParaRPr b="0" lang="en-US" sz="2200" spc="-1" strike="noStrike">
              <a:solidFill>
                <a:srgbClr val="ffffff"/>
              </a:solidFill>
              <a:latin typeface="Arial"/>
            </a:endParaRPr>
          </a:p>
          <a:p>
            <a:pPr algn="just" defTabSz="914400">
              <a:lnSpc>
                <a:spcPct val="100000"/>
              </a:lnSpc>
              <a:spcBef>
                <a:spcPts val="1191"/>
              </a:spcBef>
              <a:spcAft>
                <a:spcPts val="992"/>
              </a:spcAft>
            </a:pPr>
            <a:r>
              <a:rPr b="1" lang="en-US" sz="2200" spc="-1" strike="noStrike">
                <a:solidFill>
                  <a:srgbClr val="ffff00"/>
                </a:solidFill>
                <a:latin typeface="Arial Black"/>
              </a:rPr>
              <a:t>THIS STUDY SEEKS TO EVALUATE THE LEVEL OF MEDICATION ADHERENCE AMONG PATIENTS WITH CHRONIC ILLNESSES WITHIN NNRH OJO, AND IDENTIFY THE BARRIERS TO ADHERENCE AND PROPOSE INTERVENTIONS TO IMPROVE TREATMENT COMPLIANCE</a:t>
            </a:r>
            <a:endParaRPr b="0"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37" dur="indefinite" restart="never" nodeType="tmRoot">
          <p:childTnLst>
            <p:seq>
              <p:cTn id="38" dur="indefinite" nodeType="mainSeq">
                <p:childTnLst>
                  <p:par>
                    <p:cTn id="39" fill="hold">
                      <p:stCondLst>
                        <p:cond delay="indefinite"/>
                      </p:stCondLst>
                      <p:childTnLst>
                        <p:par>
                          <p:cTn id="40" fill="hold">
                            <p:stCondLst>
                              <p:cond delay="0"/>
                            </p:stCondLst>
                            <p:childTnLst>
                              <p:par>
                                <p:cTn id="41" nodeType="clickEffect" fill="hold" presetClass="entr" presetID="2" presetSubtype="4">
                                  <p:stCondLst>
                                    <p:cond delay="0"/>
                                  </p:stCondLst>
                                  <p:childTnLst>
                                    <p:set>
                                      <p:cBhvr>
                                        <p:cTn id="42" dur="1" fill="hold">
                                          <p:stCondLst>
                                            <p:cond delay="0"/>
                                          </p:stCondLst>
                                        </p:cTn>
                                        <p:tgtEl>
                                          <p:spTgt spid="84"/>
                                        </p:tgtEl>
                                        <p:attrNameLst>
                                          <p:attrName>style.visibility</p:attrName>
                                        </p:attrNameLst>
                                      </p:cBhvr>
                                      <p:to>
                                        <p:strVal val="visible"/>
                                      </p:to>
                                    </p:set>
                                    <p:anim calcmode="lin" valueType="num">
                                      <p:cBhvr additive="repl">
                                        <p:cTn id="43" dur="500" fill="hold"/>
                                        <p:tgtEl>
                                          <p:spTgt spid="84"/>
                                        </p:tgtEl>
                                        <p:attrNameLst>
                                          <p:attrName>ppt_x</p:attrName>
                                        </p:attrNameLst>
                                      </p:cBhvr>
                                      <p:tavLst>
                                        <p:tav tm="0">
                                          <p:val>
                                            <p:strVal val="#ppt_x"/>
                                          </p:val>
                                        </p:tav>
                                        <p:tav tm="100000">
                                          <p:val>
                                            <p:strVal val="#ppt_x"/>
                                          </p:val>
                                        </p:tav>
                                      </p:tavLst>
                                    </p:anim>
                                    <p:anim calcmode="lin" valueType="num">
                                      <p:cBhvr additive="repl">
                                        <p:cTn id="44" dur="500" fill="hold"/>
                                        <p:tgtEl>
                                          <p:spTgt spid="84"/>
                                        </p:tgtEl>
                                        <p:attrNameLst>
                                          <p:attrName>ppt_y</p:attrName>
                                        </p:attrNameLst>
                                      </p:cBhvr>
                                      <p:tavLst>
                                        <p:tav tm="0">
                                          <p:val>
                                            <p:strVal val="1+#ppt_h/2"/>
                                          </p:val>
                                        </p:tav>
                                        <p:tav tm="100000">
                                          <p:val>
                                            <p:strVal val="#ppt_y"/>
                                          </p:val>
                                        </p:tav>
                                      </p:tavLst>
                                    </p:anim>
                                  </p:childTnLst>
                                </p:cTn>
                              </p:par>
                              <p:par>
                                <p:cTn id="45" nodeType="withEffect" fill="hold" presetClass="entr" presetID="2" presetSubtype="4">
                                  <p:stCondLst>
                                    <p:cond delay="0"/>
                                  </p:stCondLst>
                                  <p:childTnLst>
                                    <p:set>
                                      <p:cBhvr>
                                        <p:cTn id="46" dur="1" fill="hold">
                                          <p:stCondLst>
                                            <p:cond delay="0"/>
                                          </p:stCondLst>
                                        </p:cTn>
                                        <p:tgtEl>
                                          <p:spTgt spid="85"/>
                                        </p:tgtEl>
                                        <p:attrNameLst>
                                          <p:attrName>style.visibility</p:attrName>
                                        </p:attrNameLst>
                                      </p:cBhvr>
                                      <p:to>
                                        <p:strVal val="visible"/>
                                      </p:to>
                                    </p:set>
                                    <p:anim calcmode="lin" valueType="num">
                                      <p:cBhvr additive="repl">
                                        <p:cTn id="47" dur="500" fill="hold"/>
                                        <p:tgtEl>
                                          <p:spTgt spid="85"/>
                                        </p:tgtEl>
                                        <p:attrNameLst>
                                          <p:attrName>ppt_x</p:attrName>
                                        </p:attrNameLst>
                                      </p:cBhvr>
                                      <p:tavLst>
                                        <p:tav tm="0">
                                          <p:val>
                                            <p:strVal val="#ppt_x"/>
                                          </p:val>
                                        </p:tav>
                                        <p:tav tm="100000">
                                          <p:val>
                                            <p:strVal val="#ppt_x"/>
                                          </p:val>
                                        </p:tav>
                                      </p:tavLst>
                                    </p:anim>
                                    <p:anim calcmode="lin" valueType="num">
                                      <p:cBhvr additive="repl">
                                        <p:cTn id="48"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ldNum" idx="41"/>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2000" spc="-1" strike="noStrike">
                <a:solidFill>
                  <a:srgbClr val="ffff00"/>
                </a:solidFill>
                <a:latin typeface="Arial Black"/>
              </a:defRPr>
            </a:lvl1pPr>
          </a:lstStyle>
          <a:p>
            <a:pPr indent="0" algn="r" defTabSz="914400">
              <a:lnSpc>
                <a:spcPct val="100000"/>
              </a:lnSpc>
              <a:buNone/>
              <a:tabLst>
                <a:tab algn="l" pos="0"/>
              </a:tabLst>
            </a:pPr>
            <a:r>
              <a:rPr b="1" lang="en-US" sz="2000" spc="-1" strike="noStrike">
                <a:solidFill>
                  <a:srgbClr val="ffff00"/>
                </a:solidFill>
                <a:latin typeface="Arial Black"/>
              </a:rPr>
              <a:t>3</a:t>
            </a:r>
            <a:endParaRPr b="0" lang="en-US" sz="2000" spc="-1" strike="noStrike">
              <a:solidFill>
                <a:srgbClr val="ffffff"/>
              </a:solidFill>
              <a:latin typeface="Times New Roman"/>
            </a:endParaRPr>
          </a:p>
        </p:txBody>
      </p:sp>
      <p:sp>
        <p:nvSpPr>
          <p:cNvPr id="87" name="Rectangle 1"/>
          <p:cNvSpPr/>
          <p:nvPr/>
        </p:nvSpPr>
        <p:spPr>
          <a:xfrm>
            <a:off x="360" y="620640"/>
            <a:ext cx="12190680" cy="577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3200" spc="-1" strike="noStrike">
                <a:solidFill>
                  <a:srgbClr val="ffff00"/>
                </a:solidFill>
                <a:latin typeface="Arial Black"/>
              </a:rPr>
              <a:t>OBJECTIVES</a:t>
            </a:r>
            <a:endParaRPr b="0" lang="en-US" sz="3200" spc="-1" strike="noStrike">
              <a:solidFill>
                <a:srgbClr val="ffffff"/>
              </a:solidFill>
              <a:latin typeface="Arial"/>
            </a:endParaRPr>
          </a:p>
        </p:txBody>
      </p:sp>
      <p:pic>
        <p:nvPicPr>
          <p:cNvPr id="88" name="Picture 1" descr="H:\CRAB\NN Logo.gif"/>
          <p:cNvPicPr/>
          <p:nvPr/>
        </p:nvPicPr>
        <p:blipFill>
          <a:blip r:embed="rId1"/>
          <a:stretch/>
        </p:blipFill>
        <p:spPr>
          <a:xfrm>
            <a:off x="98280" y="80640"/>
            <a:ext cx="849240" cy="808200"/>
          </a:xfrm>
          <a:prstGeom prst="rect">
            <a:avLst/>
          </a:prstGeom>
          <a:ln w="0">
            <a:noFill/>
          </a:ln>
        </p:spPr>
      </p:pic>
      <p:pic>
        <p:nvPicPr>
          <p:cNvPr id="89" name="Picture 2" descr=""/>
          <p:cNvPicPr/>
          <p:nvPr/>
        </p:nvPicPr>
        <p:blipFill>
          <a:blip r:embed="rId2"/>
          <a:stretch/>
        </p:blipFill>
        <p:spPr>
          <a:xfrm>
            <a:off x="11225520" y="80640"/>
            <a:ext cx="849240" cy="808200"/>
          </a:xfrm>
          <a:prstGeom prst="rect">
            <a:avLst/>
          </a:prstGeom>
          <a:ln w="0">
            <a:noFill/>
          </a:ln>
        </p:spPr>
      </p:pic>
      <p:sp>
        <p:nvSpPr>
          <p:cNvPr id="90" name="Rectangle 14"/>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91" name="Rectangle 24"/>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92" name="TextBox 1"/>
          <p:cNvSpPr/>
          <p:nvPr/>
        </p:nvSpPr>
        <p:spPr>
          <a:xfrm>
            <a:off x="523080" y="1688760"/>
            <a:ext cx="11303280" cy="5117040"/>
          </a:xfrm>
          <a:prstGeom prst="rect">
            <a:avLst/>
          </a:prstGeom>
          <a:noFill/>
          <a:ln w="0">
            <a:noFill/>
          </a:ln>
        </p:spPr>
        <p:style>
          <a:lnRef idx="0"/>
          <a:fillRef idx="0"/>
          <a:effectRef idx="0"/>
          <a:fontRef idx="minor"/>
        </p:style>
        <p:txBody>
          <a:bodyPr lIns="90000" rIns="90000" tIns="45000" bIns="45000" anchor="t">
            <a:spAutoFit/>
          </a:bodyPr>
          <a:p>
            <a:pPr marL="457200" indent="-457200" defTabSz="914400">
              <a:lnSpc>
                <a:spcPct val="100000"/>
              </a:lnSpc>
              <a:buClr>
                <a:srgbClr val="ffff00"/>
              </a:buClr>
              <a:buFont typeface="Calibri Light"/>
              <a:buAutoNum type="arabicPeriod"/>
            </a:pPr>
            <a:r>
              <a:rPr b="1" lang="en-US" sz="2200" spc="-1" strike="noStrike">
                <a:solidFill>
                  <a:srgbClr val="ffff00"/>
                </a:solidFill>
                <a:latin typeface="Arial Black"/>
                <a:ea typeface="Noto Serif CJK SC"/>
              </a:rPr>
              <a:t>TO IDENTIFY THE FACTORS THAT CONTRIBUTE TO MEDICATION NON-ADHERENCE IN THE STUDY AREA</a:t>
            </a:r>
            <a:endParaRPr b="1" lang="en-US" sz="2200" spc="-1" strike="noStrike">
              <a:solidFill>
                <a:srgbClr val="ffffff"/>
              </a:solidFill>
              <a:latin typeface="Arial"/>
            </a:endParaRPr>
          </a:p>
          <a:p>
            <a:pPr defTabSz="914400">
              <a:lnSpc>
                <a:spcPct val="100000"/>
              </a:lnSpc>
            </a:pPr>
            <a:endParaRPr b="1" lang="en-US" sz="2200" spc="-1" strike="noStrike">
              <a:solidFill>
                <a:srgbClr val="ffffff"/>
              </a:solidFill>
              <a:latin typeface="Arial"/>
            </a:endParaRPr>
          </a:p>
          <a:p>
            <a:pPr marL="457200" indent="-457200" defTabSz="914400">
              <a:lnSpc>
                <a:spcPct val="100000"/>
              </a:lnSpc>
              <a:buClr>
                <a:srgbClr val="ffff00"/>
              </a:buClr>
              <a:buFont typeface="Calibri Light"/>
              <a:buAutoNum type="arabicPeriod"/>
            </a:pPr>
            <a:r>
              <a:rPr b="1" lang="en-US" sz="2200" spc="-1" strike="noStrike">
                <a:solidFill>
                  <a:srgbClr val="ffff00"/>
                </a:solidFill>
                <a:latin typeface="Arial Black"/>
                <a:ea typeface="Noto Serif CJK SC"/>
              </a:rPr>
              <a:t>TO EVALUATE THE IMPACT OF PATIENT-CAREGIVER RELATIONSHIP ON MEDICATION ADHERENCE</a:t>
            </a:r>
            <a:endParaRPr b="1" lang="en-US" sz="2200" spc="-1" strike="noStrike">
              <a:solidFill>
                <a:srgbClr val="ffffff"/>
              </a:solidFill>
              <a:latin typeface="Arial"/>
            </a:endParaRPr>
          </a:p>
          <a:p>
            <a:pPr defTabSz="914400">
              <a:lnSpc>
                <a:spcPct val="100000"/>
              </a:lnSpc>
            </a:pPr>
            <a:endParaRPr b="1" lang="en-US" sz="2200" spc="-1" strike="noStrike">
              <a:solidFill>
                <a:srgbClr val="ffffff"/>
              </a:solidFill>
              <a:latin typeface="Arial"/>
            </a:endParaRPr>
          </a:p>
          <a:p>
            <a:pPr marL="457200" indent="-457200" defTabSz="914400">
              <a:lnSpc>
                <a:spcPct val="100000"/>
              </a:lnSpc>
              <a:buClr>
                <a:srgbClr val="ffff00"/>
              </a:buClr>
              <a:buFont typeface="Calibri Light"/>
              <a:buAutoNum type="arabicPeriod"/>
            </a:pPr>
            <a:r>
              <a:rPr b="1" lang="en-US" sz="2200" spc="-1" strike="noStrike">
                <a:solidFill>
                  <a:srgbClr val="ffff00"/>
                </a:solidFill>
                <a:latin typeface="Arial Black"/>
                <a:ea typeface="Noto Serif CJK SC"/>
              </a:rPr>
              <a:t>TO RECOMMEND STRATEGIES AND INTERVENTIONS WHICH CAN IMPROVE MEDICATION ADHERENCE IN HOSPITAL SETTINGS</a:t>
            </a:r>
            <a:endParaRPr b="1" lang="en-US" sz="2200" spc="-1" strike="noStrike">
              <a:solidFill>
                <a:srgbClr val="ffffff"/>
              </a:solidFill>
              <a:latin typeface="Arial"/>
            </a:endParaRPr>
          </a:p>
          <a:p>
            <a:pPr defTabSz="914400">
              <a:lnSpc>
                <a:spcPct val="100000"/>
              </a:lnSpc>
            </a:pPr>
            <a:endParaRPr b="1" lang="en-US" sz="2200" spc="-1" strike="noStrike">
              <a:solidFill>
                <a:srgbClr val="ffffff"/>
              </a:solidFill>
              <a:latin typeface="Arial"/>
            </a:endParaRPr>
          </a:p>
          <a:p>
            <a:pPr marL="457200" indent="-457200" defTabSz="914400">
              <a:lnSpc>
                <a:spcPct val="100000"/>
              </a:lnSpc>
              <a:buClr>
                <a:srgbClr val="ffff00"/>
              </a:buClr>
              <a:buFont typeface="Calibri Light"/>
              <a:buAutoNum type="arabicPeriod"/>
            </a:pPr>
            <a:r>
              <a:rPr b="1" lang="en-US" sz="2200" spc="-1" strike="noStrike">
                <a:solidFill>
                  <a:srgbClr val="ffff00"/>
                </a:solidFill>
                <a:latin typeface="Arial Black"/>
                <a:ea typeface="Noto Serif CJK SC"/>
              </a:rPr>
              <a:t>TO EDUCATE THE PUBLIC ON THE DANGERS INVOLVE IN THE MEDICATION OF NON ADHERENCE.</a:t>
            </a:r>
            <a:endParaRPr b="1" lang="en-US" sz="2200" spc="-1" strike="noStrike">
              <a:solidFill>
                <a:srgbClr val="ffffff"/>
              </a:solidFill>
              <a:latin typeface="Arial"/>
            </a:endParaRPr>
          </a:p>
          <a:p>
            <a:pPr defTabSz="914400">
              <a:lnSpc>
                <a:spcPct val="100000"/>
              </a:lnSpc>
            </a:pPr>
            <a:endParaRPr b="1"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ea typeface="Noto Serif CJK SC"/>
              </a:rPr>
              <a:t>5.  TO ASSESS THE PREVALENCE OF MEDICATION NON ADHERENCE AMONG PATIENT WITH CHRONIC DISEASES.</a:t>
            </a:r>
            <a:endParaRPr b="1" lang="en-US" sz="2200" spc="-1" strike="noStrike">
              <a:solidFill>
                <a:srgbClr val="ffffff"/>
              </a:solidFill>
              <a:latin typeface="Arial"/>
            </a:endParaRPr>
          </a:p>
          <a:p>
            <a:pPr defTabSz="914400">
              <a:lnSpc>
                <a:spcPct val="100000"/>
              </a:lnSpc>
            </a:pPr>
            <a:endParaRPr b="1"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49" dur="indefinite" restart="never" nodeType="tmRoot">
          <p:childTnLst>
            <p:seq>
              <p:cTn id="50" dur="indefinite" nodeType="mainSeq">
                <p:childTnLst>
                  <p:par>
                    <p:cTn id="51" fill="hold">
                      <p:stCondLst>
                        <p:cond delay="indefinite"/>
                      </p:stCondLst>
                      <p:childTnLst>
                        <p:par>
                          <p:cTn id="52" fill="hold">
                            <p:stCondLst>
                              <p:cond delay="0"/>
                            </p:stCondLst>
                            <p:childTnLst>
                              <p:par>
                                <p:cTn id="53" nodeType="clickEffect" fill="hold" presetClass="entr" presetID="2" presetSubtype="4">
                                  <p:stCondLst>
                                    <p:cond delay="0"/>
                                  </p:stCondLst>
                                  <p:childTnLst>
                                    <p:set>
                                      <p:cBhvr>
                                        <p:cTn id="54" dur="1" fill="hold">
                                          <p:stCondLst>
                                            <p:cond delay="0"/>
                                          </p:stCondLst>
                                        </p:cTn>
                                        <p:tgtEl>
                                          <p:spTgt spid="87"/>
                                        </p:tgtEl>
                                        <p:attrNameLst>
                                          <p:attrName>style.visibility</p:attrName>
                                        </p:attrNameLst>
                                      </p:cBhvr>
                                      <p:to>
                                        <p:strVal val="visible"/>
                                      </p:to>
                                    </p:set>
                                    <p:anim calcmode="lin" valueType="num">
                                      <p:cBhvr additive="repl">
                                        <p:cTn id="55" dur="500" fill="hold"/>
                                        <p:tgtEl>
                                          <p:spTgt spid="87"/>
                                        </p:tgtEl>
                                        <p:attrNameLst>
                                          <p:attrName>ppt_x</p:attrName>
                                        </p:attrNameLst>
                                      </p:cBhvr>
                                      <p:tavLst>
                                        <p:tav tm="0">
                                          <p:val>
                                            <p:strVal val="#ppt_x"/>
                                          </p:val>
                                        </p:tav>
                                        <p:tav tm="100000">
                                          <p:val>
                                            <p:strVal val="#ppt_x"/>
                                          </p:val>
                                        </p:tav>
                                      </p:tavLst>
                                    </p:anim>
                                    <p:anim calcmode="lin" valueType="num">
                                      <p:cBhvr additive="repl">
                                        <p:cTn id="56"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Num" idx="42"/>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1800" spc="-1" strike="noStrike">
                <a:solidFill>
                  <a:srgbClr val="ffff00"/>
                </a:solidFill>
                <a:latin typeface="Arial Black"/>
              </a:defRPr>
            </a:lvl1pPr>
          </a:lstStyle>
          <a:p>
            <a:pPr indent="0" algn="r" defTabSz="914400">
              <a:lnSpc>
                <a:spcPct val="100000"/>
              </a:lnSpc>
              <a:buNone/>
              <a:tabLst>
                <a:tab algn="l" pos="0"/>
              </a:tabLst>
            </a:pPr>
            <a:r>
              <a:rPr b="1" lang="en-US" sz="1800" spc="-1" strike="noStrike">
                <a:solidFill>
                  <a:srgbClr val="ffff00"/>
                </a:solidFill>
                <a:latin typeface="Arial Black"/>
              </a:rPr>
              <a:t>6</a:t>
            </a:r>
            <a:endParaRPr b="0" lang="en-US" sz="1800" spc="-1" strike="noStrike">
              <a:solidFill>
                <a:srgbClr val="ffffff"/>
              </a:solidFill>
              <a:latin typeface="Times New Roman"/>
            </a:endParaRPr>
          </a:p>
        </p:txBody>
      </p:sp>
      <p:sp>
        <p:nvSpPr>
          <p:cNvPr id="94" name="Rectangle 2"/>
          <p:cNvSpPr/>
          <p:nvPr/>
        </p:nvSpPr>
        <p:spPr>
          <a:xfrm>
            <a:off x="3645360" y="685800"/>
            <a:ext cx="6044040" cy="8211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50000"/>
              </a:lnSpc>
            </a:pPr>
            <a:r>
              <a:rPr b="1" lang="en-US" sz="3200" spc="-1" strike="noStrike">
                <a:solidFill>
                  <a:srgbClr val="ffff00"/>
                </a:solidFill>
                <a:latin typeface="Arial Black"/>
                <a:ea typeface="Tahoma"/>
              </a:rPr>
              <a:t>SIGNIFICANCE OF THE STUDY</a:t>
            </a:r>
            <a:endParaRPr b="0" lang="en-US" sz="3200" spc="-1" strike="noStrike">
              <a:solidFill>
                <a:srgbClr val="ffffff"/>
              </a:solidFill>
              <a:latin typeface="Arial"/>
            </a:endParaRPr>
          </a:p>
        </p:txBody>
      </p:sp>
      <p:pic>
        <p:nvPicPr>
          <p:cNvPr id="95" name="Picture 3" descr="H:\CRAB\NN Logo.gif"/>
          <p:cNvPicPr/>
          <p:nvPr/>
        </p:nvPicPr>
        <p:blipFill>
          <a:blip r:embed="rId1"/>
          <a:stretch/>
        </p:blipFill>
        <p:spPr>
          <a:xfrm>
            <a:off x="98280" y="80640"/>
            <a:ext cx="849240" cy="808200"/>
          </a:xfrm>
          <a:prstGeom prst="rect">
            <a:avLst/>
          </a:prstGeom>
          <a:ln w="0">
            <a:noFill/>
          </a:ln>
        </p:spPr>
      </p:pic>
      <p:pic>
        <p:nvPicPr>
          <p:cNvPr id="96" name="Picture 4" descr=""/>
          <p:cNvPicPr/>
          <p:nvPr/>
        </p:nvPicPr>
        <p:blipFill>
          <a:blip r:embed="rId2"/>
          <a:stretch/>
        </p:blipFill>
        <p:spPr>
          <a:xfrm>
            <a:off x="11225520" y="80640"/>
            <a:ext cx="849240" cy="808200"/>
          </a:xfrm>
          <a:prstGeom prst="rect">
            <a:avLst/>
          </a:prstGeom>
          <a:ln w="0">
            <a:noFill/>
          </a:ln>
        </p:spPr>
      </p:pic>
      <p:sp>
        <p:nvSpPr>
          <p:cNvPr id="97" name="Rectangle 5"/>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98" name="Rectangle 6"/>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99" name="Rectangle 7"/>
          <p:cNvSpPr/>
          <p:nvPr/>
        </p:nvSpPr>
        <p:spPr>
          <a:xfrm>
            <a:off x="886680" y="2285280"/>
            <a:ext cx="10275840" cy="2377800"/>
          </a:xfrm>
          <a:prstGeom prst="rect">
            <a:avLst/>
          </a:prstGeom>
          <a:noFill/>
          <a:ln w="0">
            <a:noFill/>
          </a:ln>
        </p:spPr>
        <p:style>
          <a:lnRef idx="0"/>
          <a:fillRef idx="0"/>
          <a:effectRef idx="0"/>
          <a:fontRef idx="minor"/>
        </p:style>
        <p:txBody>
          <a:bodyPr lIns="90000" rIns="90000" tIns="45000" bIns="45000" anchor="t">
            <a:spAutoFit/>
          </a:bodyPr>
          <a:p>
            <a:pPr marL="457200" indent="-457200" algn="just" defTabSz="914400">
              <a:lnSpc>
                <a:spcPct val="100000"/>
              </a:lnSpc>
              <a:spcBef>
                <a:spcPts val="1191"/>
              </a:spcBef>
              <a:spcAft>
                <a:spcPts val="992"/>
              </a:spcAft>
              <a:buClr>
                <a:srgbClr val="ffff00"/>
              </a:buClr>
              <a:buFont typeface="Calibri Light"/>
              <a:buAutoNum type="arabicPeriod"/>
            </a:pPr>
            <a:r>
              <a:rPr b="1" lang="en-US" sz="2200" spc="-1" strike="noStrike">
                <a:solidFill>
                  <a:srgbClr val="ffff00"/>
                </a:solidFill>
                <a:latin typeface="Arial Black"/>
              </a:rPr>
              <a:t>ASSIST HEALTHCARE PROVIDERS TO UNDERSTAND PATIENTS BEHAVIOR TOWARDS DRUG THERAPY ENABLING THEM TO DEVELOP STRATEGIES TO CURB MEDICATION NON-ADHERENCE</a:t>
            </a:r>
            <a:endParaRPr b="0" lang="en-US" sz="2200" spc="-1" strike="noStrike">
              <a:solidFill>
                <a:srgbClr val="ffffff"/>
              </a:solidFill>
              <a:latin typeface="Arial"/>
            </a:endParaRPr>
          </a:p>
          <a:p>
            <a:pPr marL="457200" indent="-457200" algn="just" defTabSz="914400">
              <a:lnSpc>
                <a:spcPct val="100000"/>
              </a:lnSpc>
              <a:spcBef>
                <a:spcPts val="1191"/>
              </a:spcBef>
              <a:spcAft>
                <a:spcPts val="992"/>
              </a:spcAft>
              <a:buClr>
                <a:srgbClr val="ffff00"/>
              </a:buClr>
              <a:buFont typeface="Calibri Light"/>
              <a:buAutoNum type="arabicPeriod"/>
            </a:pPr>
            <a:r>
              <a:rPr b="1" lang="en-US" sz="2200" spc="-1" strike="noStrike">
                <a:solidFill>
                  <a:srgbClr val="ffff00"/>
                </a:solidFill>
                <a:latin typeface="Arial Black"/>
              </a:rPr>
              <a:t>WILL PROVIDE EVIDENCE TO INFORM THE CREATION OF POLICIES AND RESOURCE ALLOCATION AIMED AT IMPROVING PHARMACEUTICAL CARE</a:t>
            </a:r>
            <a:endParaRPr b="0"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57" dur="indefinite" restart="never" nodeType="tmRoot">
          <p:childTnLst>
            <p:seq>
              <p:cTn id="58" dur="indefinite" nodeType="mainSeq">
                <p:childTnLst>
                  <p:par>
                    <p:cTn id="59" fill="hold">
                      <p:stCondLst>
                        <p:cond delay="indefinite"/>
                      </p:stCondLst>
                      <p:childTnLst>
                        <p:par>
                          <p:cTn id="60" fill="hold">
                            <p:stCondLst>
                              <p:cond delay="0"/>
                            </p:stCondLst>
                            <p:childTnLst>
                              <p:par>
                                <p:cTn id="61" nodeType="clickEffect" fill="hold" presetClass="entr" presetID="2" presetSubtype="4">
                                  <p:stCondLst>
                                    <p:cond delay="0"/>
                                  </p:stCondLst>
                                  <p:childTnLst>
                                    <p:set>
                                      <p:cBhvr>
                                        <p:cTn id="62" dur="1" fill="hold">
                                          <p:stCondLst>
                                            <p:cond delay="0"/>
                                          </p:stCondLst>
                                        </p:cTn>
                                        <p:tgtEl>
                                          <p:spTgt spid="94"/>
                                        </p:tgtEl>
                                        <p:attrNameLst>
                                          <p:attrName>style.visibility</p:attrName>
                                        </p:attrNameLst>
                                      </p:cBhvr>
                                      <p:to>
                                        <p:strVal val="visible"/>
                                      </p:to>
                                    </p:set>
                                    <p:anim calcmode="lin" valueType="num">
                                      <p:cBhvr additive="repl">
                                        <p:cTn id="63" dur="500" fill="hold"/>
                                        <p:tgtEl>
                                          <p:spTgt spid="94"/>
                                        </p:tgtEl>
                                        <p:attrNameLst>
                                          <p:attrName>ppt_x</p:attrName>
                                        </p:attrNameLst>
                                      </p:cBhvr>
                                      <p:tavLst>
                                        <p:tav tm="0">
                                          <p:val>
                                            <p:strVal val="#ppt_x"/>
                                          </p:val>
                                        </p:tav>
                                        <p:tav tm="100000">
                                          <p:val>
                                            <p:strVal val="#ppt_x"/>
                                          </p:val>
                                        </p:tav>
                                      </p:tavLst>
                                    </p:anim>
                                    <p:anim calcmode="lin" valueType="num">
                                      <p:cBhvr additive="repl">
                                        <p:cTn id="64" dur="500" fill="hold"/>
                                        <p:tgtEl>
                                          <p:spTgt spid="94"/>
                                        </p:tgtEl>
                                        <p:attrNameLst>
                                          <p:attrName>ppt_y</p:attrName>
                                        </p:attrNameLst>
                                      </p:cBhvr>
                                      <p:tavLst>
                                        <p:tav tm="0">
                                          <p:val>
                                            <p:strVal val="1+#ppt_h/2"/>
                                          </p:val>
                                        </p:tav>
                                        <p:tav tm="100000">
                                          <p:val>
                                            <p:strVal val="#ppt_y"/>
                                          </p:val>
                                        </p:tav>
                                      </p:tavLst>
                                    </p:anim>
                                  </p:childTnLst>
                                </p:cTn>
                              </p:par>
                              <p:par>
                                <p:cTn id="65" nodeType="withEffect" fill="hold" presetClass="entr" presetID="2" presetSubtype="4">
                                  <p:stCondLst>
                                    <p:cond delay="0"/>
                                  </p:stCondLst>
                                  <p:childTnLst>
                                    <p:set>
                                      <p:cBhvr>
                                        <p:cTn id="66" dur="1" fill="hold">
                                          <p:stCondLst>
                                            <p:cond delay="0"/>
                                          </p:stCondLst>
                                        </p:cTn>
                                        <p:tgtEl>
                                          <p:spTgt spid="99"/>
                                        </p:tgtEl>
                                        <p:attrNameLst>
                                          <p:attrName>style.visibility</p:attrName>
                                        </p:attrNameLst>
                                      </p:cBhvr>
                                      <p:to>
                                        <p:strVal val="visible"/>
                                      </p:to>
                                    </p:set>
                                    <p:anim calcmode="lin" valueType="num">
                                      <p:cBhvr additive="repl">
                                        <p:cTn id="67" dur="500" fill="hold"/>
                                        <p:tgtEl>
                                          <p:spTgt spid="99"/>
                                        </p:tgtEl>
                                        <p:attrNameLst>
                                          <p:attrName>ppt_x</p:attrName>
                                        </p:attrNameLst>
                                      </p:cBhvr>
                                      <p:tavLst>
                                        <p:tav tm="0">
                                          <p:val>
                                            <p:strVal val="#ppt_x"/>
                                          </p:val>
                                        </p:tav>
                                        <p:tav tm="100000">
                                          <p:val>
                                            <p:strVal val="#ppt_x"/>
                                          </p:val>
                                        </p:tav>
                                      </p:tavLst>
                                    </p:anim>
                                    <p:anim calcmode="lin" valueType="num">
                                      <p:cBhvr additive="repl">
                                        <p:cTn id="68" dur="500" fill="hold"/>
                                        <p:tgtEl>
                                          <p:spTgt spid="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Num" idx="43"/>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1800" spc="-1" strike="noStrike">
                <a:solidFill>
                  <a:srgbClr val="ffff00"/>
                </a:solidFill>
                <a:latin typeface="Arial Black"/>
              </a:defRPr>
            </a:lvl1pPr>
          </a:lstStyle>
          <a:p>
            <a:pPr indent="0" algn="r" defTabSz="914400">
              <a:lnSpc>
                <a:spcPct val="100000"/>
              </a:lnSpc>
              <a:buNone/>
              <a:tabLst>
                <a:tab algn="l" pos="0"/>
              </a:tabLst>
            </a:pPr>
            <a:r>
              <a:rPr b="1" lang="en-US" sz="1800" spc="-1" strike="noStrike">
                <a:solidFill>
                  <a:srgbClr val="ffff00"/>
                </a:solidFill>
                <a:latin typeface="Arial Black"/>
              </a:rPr>
              <a:t>7</a:t>
            </a:r>
            <a:endParaRPr b="0" lang="en-US" sz="1800" spc="-1" strike="noStrike">
              <a:solidFill>
                <a:srgbClr val="ffffff"/>
              </a:solidFill>
              <a:latin typeface="Times New Roman"/>
            </a:endParaRPr>
          </a:p>
        </p:txBody>
      </p:sp>
      <p:sp>
        <p:nvSpPr>
          <p:cNvPr id="101" name="Rectangle 2"/>
          <p:cNvSpPr/>
          <p:nvPr/>
        </p:nvSpPr>
        <p:spPr>
          <a:xfrm>
            <a:off x="921600" y="550440"/>
            <a:ext cx="10279440" cy="82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50000"/>
              </a:lnSpc>
            </a:pPr>
            <a:r>
              <a:rPr b="1" lang="en-US" sz="3200" spc="-1" strike="noStrike">
                <a:solidFill>
                  <a:srgbClr val="ffff00"/>
                </a:solidFill>
                <a:latin typeface="Arial Black"/>
                <a:ea typeface="Tahoma"/>
              </a:rPr>
              <a:t>RESEARCH QUESTIONS</a:t>
            </a:r>
            <a:endParaRPr b="0" lang="en-US" sz="3200" spc="-1" strike="noStrike">
              <a:solidFill>
                <a:srgbClr val="ffffff"/>
              </a:solidFill>
              <a:latin typeface="Arial"/>
            </a:endParaRPr>
          </a:p>
        </p:txBody>
      </p:sp>
      <p:pic>
        <p:nvPicPr>
          <p:cNvPr id="102" name="Picture 4" descr="H:\CRAB\NN Logo.gif"/>
          <p:cNvPicPr/>
          <p:nvPr/>
        </p:nvPicPr>
        <p:blipFill>
          <a:blip r:embed="rId1"/>
          <a:stretch/>
        </p:blipFill>
        <p:spPr>
          <a:xfrm>
            <a:off x="98280" y="80640"/>
            <a:ext cx="845280" cy="808200"/>
          </a:xfrm>
          <a:prstGeom prst="rect">
            <a:avLst/>
          </a:prstGeom>
          <a:ln w="0">
            <a:noFill/>
          </a:ln>
        </p:spPr>
      </p:pic>
      <p:pic>
        <p:nvPicPr>
          <p:cNvPr id="103" name="Picture 4" descr=""/>
          <p:cNvPicPr/>
          <p:nvPr/>
        </p:nvPicPr>
        <p:blipFill>
          <a:blip r:embed="rId2"/>
          <a:stretch/>
        </p:blipFill>
        <p:spPr>
          <a:xfrm>
            <a:off x="11225520" y="80640"/>
            <a:ext cx="845280" cy="808200"/>
          </a:xfrm>
          <a:prstGeom prst="rect">
            <a:avLst/>
          </a:prstGeom>
          <a:ln w="0">
            <a:noFill/>
          </a:ln>
        </p:spPr>
      </p:pic>
      <p:sp>
        <p:nvSpPr>
          <p:cNvPr id="104" name="Rectangle 5"/>
          <p:cNvSpPr/>
          <p:nvPr/>
        </p:nvSpPr>
        <p:spPr>
          <a:xfrm>
            <a:off x="5177880" y="6352200"/>
            <a:ext cx="18165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05" name="Rectangle 6"/>
          <p:cNvSpPr/>
          <p:nvPr/>
        </p:nvSpPr>
        <p:spPr>
          <a:xfrm>
            <a:off x="5163840" y="84960"/>
            <a:ext cx="18165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06" name="Rectangle 7"/>
          <p:cNvSpPr/>
          <p:nvPr/>
        </p:nvSpPr>
        <p:spPr>
          <a:xfrm>
            <a:off x="806040" y="1879560"/>
            <a:ext cx="10743120" cy="3105000"/>
          </a:xfrm>
          <a:prstGeom prst="rect">
            <a:avLst/>
          </a:prstGeom>
          <a:noFill/>
          <a:ln w="0">
            <a:noFill/>
          </a:ln>
        </p:spPr>
        <p:style>
          <a:lnRef idx="0"/>
          <a:fillRef idx="0"/>
          <a:effectRef idx="0"/>
          <a:fontRef idx="minor"/>
        </p:style>
        <p:txBody>
          <a:bodyPr lIns="90000" rIns="90000" tIns="45000" bIns="45000" anchor="t">
            <a:spAutoFit/>
          </a:bodyPr>
          <a:p>
            <a:pPr marL="457200" indent="-457200" algn="just" defTabSz="914400">
              <a:lnSpc>
                <a:spcPct val="150000"/>
              </a:lnSpc>
              <a:buClr>
                <a:srgbClr val="ffff00"/>
              </a:buClr>
              <a:buFont typeface="Calibri Light"/>
              <a:buAutoNum type="arabicPeriod"/>
            </a:pPr>
            <a:r>
              <a:rPr b="1" lang="en-US" sz="2200" spc="-1" strike="noStrike">
                <a:solidFill>
                  <a:srgbClr val="ffff00"/>
                </a:solidFill>
                <a:latin typeface="Arial Black"/>
                <a:ea typeface="Calibri"/>
              </a:rPr>
              <a:t>HAVE YOU EVER FORGOTTEN TO TAKE YOUR MEDICATION? </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a:p>
            <a:pPr marL="457200" indent="-457200" algn="just" defTabSz="914400">
              <a:lnSpc>
                <a:spcPct val="150000"/>
              </a:lnSpc>
              <a:buClr>
                <a:srgbClr val="ffff00"/>
              </a:buClr>
              <a:buFont typeface="Calibri Light"/>
              <a:buAutoNum type="arabicPeriod"/>
            </a:pPr>
            <a:r>
              <a:rPr b="1" lang="en-US" sz="2200" spc="-1" strike="noStrike">
                <a:solidFill>
                  <a:srgbClr val="ffff00"/>
                </a:solidFill>
                <a:latin typeface="Arial Black"/>
                <a:ea typeface="Calibri"/>
              </a:rPr>
              <a:t>HAVE YOU STOPPED TAKING YOUR DRUGS DUE TO SIDE EFFECTS?  </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a:p>
            <a:pPr marL="457200" indent="-457200" algn="just" defTabSz="914400">
              <a:lnSpc>
                <a:spcPct val="150000"/>
              </a:lnSpc>
              <a:buClr>
                <a:srgbClr val="ffff00"/>
              </a:buClr>
              <a:buFont typeface="Calibri Light"/>
              <a:buAutoNum type="arabicPeriod"/>
            </a:pPr>
            <a:r>
              <a:rPr b="1" lang="en-US" sz="2200" spc="-1" strike="noStrike">
                <a:solidFill>
                  <a:srgbClr val="ffff00"/>
                </a:solidFill>
                <a:latin typeface="Arial Black"/>
                <a:ea typeface="Calibri"/>
              </a:rPr>
              <a:t>DO YOU THINK IT IS NECESSARY TO COMPLETE MEDICATION ONCE YOU FEEL BETTER?</a:t>
            </a:r>
            <a:endParaRPr b="0"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69" dur="indefinite" restart="never" nodeType="tmRoot">
          <p:childTnLst>
            <p:seq>
              <p:cTn id="70" dur="indefinite" nodeType="mainSeq">
                <p:childTnLst>
                  <p:par>
                    <p:cTn id="71" fill="hold">
                      <p:stCondLst>
                        <p:cond delay="indefinite"/>
                      </p:stCondLst>
                      <p:childTnLst>
                        <p:par>
                          <p:cTn id="72" fill="hold">
                            <p:stCondLst>
                              <p:cond delay="0"/>
                            </p:stCondLst>
                            <p:childTnLst>
                              <p:par>
                                <p:cTn id="73" nodeType="clickEffect" fill="hold" presetClass="entr" presetID="2" presetSubtype="4">
                                  <p:stCondLst>
                                    <p:cond delay="0"/>
                                  </p:stCondLst>
                                  <p:childTnLst>
                                    <p:set>
                                      <p:cBhvr>
                                        <p:cTn id="74" dur="1" fill="hold">
                                          <p:stCondLst>
                                            <p:cond delay="0"/>
                                          </p:stCondLst>
                                        </p:cTn>
                                        <p:tgtEl>
                                          <p:spTgt spid="101"/>
                                        </p:tgtEl>
                                        <p:attrNameLst>
                                          <p:attrName>style.visibility</p:attrName>
                                        </p:attrNameLst>
                                      </p:cBhvr>
                                      <p:to>
                                        <p:strVal val="visible"/>
                                      </p:to>
                                    </p:set>
                                    <p:anim calcmode="lin" valueType="num">
                                      <p:cBhvr additive="repl">
                                        <p:cTn id="75" dur="500" fill="hold"/>
                                        <p:tgtEl>
                                          <p:spTgt spid="101"/>
                                        </p:tgtEl>
                                        <p:attrNameLst>
                                          <p:attrName>ppt_x</p:attrName>
                                        </p:attrNameLst>
                                      </p:cBhvr>
                                      <p:tavLst>
                                        <p:tav tm="0">
                                          <p:val>
                                            <p:strVal val="#ppt_x"/>
                                          </p:val>
                                        </p:tav>
                                        <p:tav tm="100000">
                                          <p:val>
                                            <p:strVal val="#ppt_x"/>
                                          </p:val>
                                        </p:tav>
                                      </p:tavLst>
                                    </p:anim>
                                    <p:anim calcmode="lin" valueType="num">
                                      <p:cBhvr additive="repl">
                                        <p:cTn id="76" dur="500" fill="hold"/>
                                        <p:tgtEl>
                                          <p:spTgt spid="101"/>
                                        </p:tgtEl>
                                        <p:attrNameLst>
                                          <p:attrName>ppt_y</p:attrName>
                                        </p:attrNameLst>
                                      </p:cBhvr>
                                      <p:tavLst>
                                        <p:tav tm="0">
                                          <p:val>
                                            <p:strVal val="1+#ppt_h/2"/>
                                          </p:val>
                                        </p:tav>
                                        <p:tav tm="100000">
                                          <p:val>
                                            <p:strVal val="#ppt_y"/>
                                          </p:val>
                                        </p:tav>
                                      </p:tavLst>
                                    </p:anim>
                                  </p:childTnLst>
                                </p:cTn>
                              </p:par>
                              <p:par>
                                <p:cTn id="77" nodeType="withEffect" fill="hold" presetClass="entr" presetID="2" presetSubtype="4">
                                  <p:stCondLst>
                                    <p:cond delay="0"/>
                                  </p:stCondLst>
                                  <p:childTnLst>
                                    <p:set>
                                      <p:cBhvr>
                                        <p:cTn id="78" dur="1" fill="hold">
                                          <p:stCondLst>
                                            <p:cond delay="0"/>
                                          </p:stCondLst>
                                        </p:cTn>
                                        <p:tgtEl>
                                          <p:spTgt spid="106"/>
                                        </p:tgtEl>
                                        <p:attrNameLst>
                                          <p:attrName>style.visibility</p:attrName>
                                        </p:attrNameLst>
                                      </p:cBhvr>
                                      <p:to>
                                        <p:strVal val="visible"/>
                                      </p:to>
                                    </p:set>
                                    <p:anim calcmode="lin" valueType="num">
                                      <p:cBhvr additive="repl">
                                        <p:cTn id="79" dur="500" fill="hold"/>
                                        <p:tgtEl>
                                          <p:spTgt spid="106"/>
                                        </p:tgtEl>
                                        <p:attrNameLst>
                                          <p:attrName>ppt_x</p:attrName>
                                        </p:attrNameLst>
                                      </p:cBhvr>
                                      <p:tavLst>
                                        <p:tav tm="0">
                                          <p:val>
                                            <p:strVal val="#ppt_x"/>
                                          </p:val>
                                        </p:tav>
                                        <p:tav tm="100000">
                                          <p:val>
                                            <p:strVal val="#ppt_x"/>
                                          </p:val>
                                        </p:tav>
                                      </p:tavLst>
                                    </p:anim>
                                    <p:anim calcmode="lin" valueType="num">
                                      <p:cBhvr additive="repl">
                                        <p:cTn id="80"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Num" idx="44"/>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1800" spc="-1" strike="noStrike">
                <a:solidFill>
                  <a:srgbClr val="ffff00"/>
                </a:solidFill>
                <a:latin typeface="Arial Black"/>
              </a:defRPr>
            </a:lvl1pPr>
          </a:lstStyle>
          <a:p>
            <a:pPr indent="0" algn="r" defTabSz="914400">
              <a:lnSpc>
                <a:spcPct val="100000"/>
              </a:lnSpc>
              <a:buNone/>
              <a:tabLst>
                <a:tab algn="l" pos="0"/>
              </a:tabLst>
            </a:pPr>
            <a:r>
              <a:rPr b="1" lang="en-US" sz="1800" spc="-1" strike="noStrike">
                <a:solidFill>
                  <a:srgbClr val="ffff00"/>
                </a:solidFill>
                <a:latin typeface="Arial Black"/>
              </a:rPr>
              <a:t>7</a:t>
            </a:r>
            <a:endParaRPr b="0" lang="en-US" sz="1800" spc="-1" strike="noStrike">
              <a:solidFill>
                <a:srgbClr val="ffffff"/>
              </a:solidFill>
              <a:latin typeface="Times New Roman"/>
            </a:endParaRPr>
          </a:p>
        </p:txBody>
      </p:sp>
      <p:sp>
        <p:nvSpPr>
          <p:cNvPr id="108" name="Rectangle 2"/>
          <p:cNvSpPr/>
          <p:nvPr/>
        </p:nvSpPr>
        <p:spPr>
          <a:xfrm>
            <a:off x="921600" y="550440"/>
            <a:ext cx="10279440" cy="82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50000"/>
              </a:lnSpc>
            </a:pPr>
            <a:r>
              <a:rPr b="1" lang="en-US" sz="3200" spc="-1" strike="noStrike">
                <a:solidFill>
                  <a:srgbClr val="ffff00"/>
                </a:solidFill>
                <a:latin typeface="Arial Black"/>
                <a:ea typeface="Tahoma"/>
              </a:rPr>
              <a:t>RESEARCH QUESTIONS CONTD</a:t>
            </a:r>
            <a:endParaRPr b="0" lang="en-US" sz="3200" spc="-1" strike="noStrike">
              <a:solidFill>
                <a:srgbClr val="ffffff"/>
              </a:solidFill>
              <a:latin typeface="Arial"/>
            </a:endParaRPr>
          </a:p>
        </p:txBody>
      </p:sp>
      <p:pic>
        <p:nvPicPr>
          <p:cNvPr id="109" name="Picture 4" descr="H:\CRAB\NN Logo.gif"/>
          <p:cNvPicPr/>
          <p:nvPr/>
        </p:nvPicPr>
        <p:blipFill>
          <a:blip r:embed="rId1"/>
          <a:stretch/>
        </p:blipFill>
        <p:spPr>
          <a:xfrm>
            <a:off x="98280" y="80640"/>
            <a:ext cx="845280" cy="808200"/>
          </a:xfrm>
          <a:prstGeom prst="rect">
            <a:avLst/>
          </a:prstGeom>
          <a:ln w="0">
            <a:noFill/>
          </a:ln>
        </p:spPr>
      </p:pic>
      <p:pic>
        <p:nvPicPr>
          <p:cNvPr id="110" name="Picture 4" descr=""/>
          <p:cNvPicPr/>
          <p:nvPr/>
        </p:nvPicPr>
        <p:blipFill>
          <a:blip r:embed="rId2"/>
          <a:stretch/>
        </p:blipFill>
        <p:spPr>
          <a:xfrm>
            <a:off x="11225520" y="80640"/>
            <a:ext cx="845280" cy="808200"/>
          </a:xfrm>
          <a:prstGeom prst="rect">
            <a:avLst/>
          </a:prstGeom>
          <a:ln w="0">
            <a:noFill/>
          </a:ln>
        </p:spPr>
      </p:pic>
      <p:sp>
        <p:nvSpPr>
          <p:cNvPr id="111" name="Rectangle 5"/>
          <p:cNvSpPr/>
          <p:nvPr/>
        </p:nvSpPr>
        <p:spPr>
          <a:xfrm>
            <a:off x="5177880" y="6352200"/>
            <a:ext cx="18165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12" name="Rectangle 6"/>
          <p:cNvSpPr/>
          <p:nvPr/>
        </p:nvSpPr>
        <p:spPr>
          <a:xfrm>
            <a:off x="5163840" y="84960"/>
            <a:ext cx="18165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13" name="Rectangle 7"/>
          <p:cNvSpPr/>
          <p:nvPr/>
        </p:nvSpPr>
        <p:spPr>
          <a:xfrm>
            <a:off x="882360" y="1987560"/>
            <a:ext cx="10427040" cy="2435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200" spc="-1" strike="noStrike">
                <a:solidFill>
                  <a:srgbClr val="ffff00"/>
                </a:solidFill>
                <a:latin typeface="Arial Black"/>
              </a:rPr>
              <a:t>4. DOES COST OF DRUG AFFECT YOUR ROUTINE USE OF </a:t>
            </a:r>
            <a:endParaRPr b="0"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rPr>
              <a:t>MEDICATION?</a:t>
            </a:r>
            <a:endParaRPr b="0" lang="en-US" sz="2200" spc="-1" strike="noStrike">
              <a:solidFill>
                <a:srgbClr val="ffffff"/>
              </a:solidFill>
              <a:latin typeface="Arial"/>
            </a:endParaRPr>
          </a:p>
          <a:p>
            <a:pPr defTabSz="914400">
              <a:lnSpc>
                <a:spcPct val="100000"/>
              </a:lnSpc>
            </a:pPr>
            <a:endParaRPr b="0"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rPr>
              <a:t>5. DOES THE QUANTITY OF DRUG INTIMIDATE YOUR COMPLIANCE TO USE OF MEDICATION?</a:t>
            </a:r>
            <a:endParaRPr b="0" lang="en-US" sz="2200" spc="-1" strike="noStrike">
              <a:solidFill>
                <a:srgbClr val="ffffff"/>
              </a:solidFill>
              <a:latin typeface="Arial"/>
            </a:endParaRPr>
          </a:p>
          <a:p>
            <a:pPr defTabSz="914400">
              <a:lnSpc>
                <a:spcPct val="100000"/>
              </a:lnSpc>
            </a:pPr>
            <a:endParaRPr b="0"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rPr>
              <a:t>6. DO YOU ALWAYS FOLLOW YOUR PRESCRIBER’S INSTRUCTION?</a:t>
            </a:r>
            <a:endParaRPr b="0"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81" dur="indefinite" restart="never" nodeType="tmRoot">
          <p:childTnLst>
            <p:seq>
              <p:cTn id="82" dur="indefinite" nodeType="mainSeq">
                <p:childTnLst>
                  <p:par>
                    <p:cTn id="83" fill="hold">
                      <p:stCondLst>
                        <p:cond delay="indefinite"/>
                      </p:stCondLst>
                      <p:childTnLst>
                        <p:par>
                          <p:cTn id="84" fill="hold">
                            <p:stCondLst>
                              <p:cond delay="0"/>
                            </p:stCondLst>
                            <p:childTnLst>
                              <p:par>
                                <p:cTn id="85" nodeType="clickEffect" fill="hold" presetClass="entr" presetID="2" presetSubtype="4">
                                  <p:stCondLst>
                                    <p:cond delay="0"/>
                                  </p:stCondLst>
                                  <p:childTnLst>
                                    <p:set>
                                      <p:cBhvr>
                                        <p:cTn id="86" dur="1" fill="hold">
                                          <p:stCondLst>
                                            <p:cond delay="0"/>
                                          </p:stCondLst>
                                        </p:cTn>
                                        <p:tgtEl>
                                          <p:spTgt spid="108"/>
                                        </p:tgtEl>
                                        <p:attrNameLst>
                                          <p:attrName>style.visibility</p:attrName>
                                        </p:attrNameLst>
                                      </p:cBhvr>
                                      <p:to>
                                        <p:strVal val="visible"/>
                                      </p:to>
                                    </p:set>
                                    <p:anim calcmode="lin" valueType="num">
                                      <p:cBhvr additive="repl">
                                        <p:cTn id="87" dur="500" fill="hold"/>
                                        <p:tgtEl>
                                          <p:spTgt spid="108"/>
                                        </p:tgtEl>
                                        <p:attrNameLst>
                                          <p:attrName>ppt_x</p:attrName>
                                        </p:attrNameLst>
                                      </p:cBhvr>
                                      <p:tavLst>
                                        <p:tav tm="0">
                                          <p:val>
                                            <p:strVal val="#ppt_x"/>
                                          </p:val>
                                        </p:tav>
                                        <p:tav tm="100000">
                                          <p:val>
                                            <p:strVal val="#ppt_x"/>
                                          </p:val>
                                        </p:tav>
                                      </p:tavLst>
                                    </p:anim>
                                    <p:anim calcmode="lin" valueType="num">
                                      <p:cBhvr additive="repl">
                                        <p:cTn id="88" dur="500" fill="hold"/>
                                        <p:tgtEl>
                                          <p:spTgt spid="108"/>
                                        </p:tgtEl>
                                        <p:attrNameLst>
                                          <p:attrName>ppt_y</p:attrName>
                                        </p:attrNameLst>
                                      </p:cBhvr>
                                      <p:tavLst>
                                        <p:tav tm="0">
                                          <p:val>
                                            <p:strVal val="1+#ppt_h/2"/>
                                          </p:val>
                                        </p:tav>
                                        <p:tav tm="100000">
                                          <p:val>
                                            <p:strVal val="#ppt_y"/>
                                          </p:val>
                                        </p:tav>
                                      </p:tavLst>
                                    </p:anim>
                                  </p:childTnLst>
                                </p:cTn>
                              </p:par>
                              <p:par>
                                <p:cTn id="89" nodeType="withEffect" fill="hold" presetClass="entr" presetID="2" presetSubtype="4">
                                  <p:stCondLst>
                                    <p:cond delay="0"/>
                                  </p:stCondLst>
                                  <p:childTnLst>
                                    <p:set>
                                      <p:cBhvr>
                                        <p:cTn id="90" dur="1" fill="hold">
                                          <p:stCondLst>
                                            <p:cond delay="0"/>
                                          </p:stCondLst>
                                        </p:cTn>
                                        <p:tgtEl>
                                          <p:spTgt spid="113"/>
                                        </p:tgtEl>
                                        <p:attrNameLst>
                                          <p:attrName>style.visibility</p:attrName>
                                        </p:attrNameLst>
                                      </p:cBhvr>
                                      <p:to>
                                        <p:strVal val="visible"/>
                                      </p:to>
                                    </p:set>
                                    <p:anim calcmode="lin" valueType="num">
                                      <p:cBhvr additive="repl">
                                        <p:cTn id="91" dur="500" fill="hold"/>
                                        <p:tgtEl>
                                          <p:spTgt spid="113"/>
                                        </p:tgtEl>
                                        <p:attrNameLst>
                                          <p:attrName>ppt_x</p:attrName>
                                        </p:attrNameLst>
                                      </p:cBhvr>
                                      <p:tavLst>
                                        <p:tav tm="0">
                                          <p:val>
                                            <p:strVal val="#ppt_x"/>
                                          </p:val>
                                        </p:tav>
                                        <p:tav tm="100000">
                                          <p:val>
                                            <p:strVal val="#ppt_x"/>
                                          </p:val>
                                        </p:tav>
                                      </p:tavLst>
                                    </p:anim>
                                    <p:anim calcmode="lin" valueType="num">
                                      <p:cBhvr additive="repl">
                                        <p:cTn id="92"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Num" idx="4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400" spc="-1" strike="noStrike">
                <a:solidFill>
                  <a:srgbClr val="ffff00"/>
                </a:solidFill>
                <a:latin typeface="Arial Black"/>
              </a:defRPr>
            </a:lvl1pPr>
          </a:lstStyle>
          <a:p>
            <a:pPr indent="0" algn="r" defTabSz="914400">
              <a:lnSpc>
                <a:spcPct val="100000"/>
              </a:lnSpc>
              <a:buNone/>
              <a:tabLst>
                <a:tab algn="l" pos="0"/>
              </a:tabLst>
            </a:pPr>
            <a:fld id="{2CF0034B-87E9-44D4-8570-2871094CAA95}" type="slidenum">
              <a:rPr b="0" lang="en-US" sz="2400" spc="-1" strike="noStrike">
                <a:solidFill>
                  <a:srgbClr val="ffff00"/>
                </a:solidFill>
                <a:latin typeface="Arial Black"/>
              </a:rPr>
              <a:t>&lt;number&gt;</a:t>
            </a:fld>
            <a:endParaRPr b="0" lang="en-US" sz="2400" spc="-1" strike="noStrike">
              <a:solidFill>
                <a:srgbClr val="ffffff"/>
              </a:solidFill>
              <a:latin typeface="Times New Roman"/>
            </a:endParaRPr>
          </a:p>
        </p:txBody>
      </p:sp>
      <p:pic>
        <p:nvPicPr>
          <p:cNvPr id="115" name="Picture 11" descr="H:\CRAB\NN Logo.gif"/>
          <p:cNvPicPr/>
          <p:nvPr/>
        </p:nvPicPr>
        <p:blipFill>
          <a:blip r:embed="rId1"/>
          <a:stretch/>
        </p:blipFill>
        <p:spPr>
          <a:xfrm>
            <a:off x="112320" y="152280"/>
            <a:ext cx="849600" cy="808560"/>
          </a:xfrm>
          <a:prstGeom prst="rect">
            <a:avLst/>
          </a:prstGeom>
          <a:ln w="0">
            <a:noFill/>
          </a:ln>
        </p:spPr>
      </p:pic>
      <p:pic>
        <p:nvPicPr>
          <p:cNvPr id="116" name="Picture 12" descr=""/>
          <p:cNvPicPr/>
          <p:nvPr/>
        </p:nvPicPr>
        <p:blipFill>
          <a:blip r:embed="rId2"/>
          <a:stretch/>
        </p:blipFill>
        <p:spPr>
          <a:xfrm>
            <a:off x="11186280" y="152280"/>
            <a:ext cx="849600" cy="808560"/>
          </a:xfrm>
          <a:prstGeom prst="rect">
            <a:avLst/>
          </a:prstGeom>
          <a:ln w="0">
            <a:noFill/>
          </a:ln>
        </p:spPr>
      </p:pic>
      <p:sp>
        <p:nvSpPr>
          <p:cNvPr id="117" name="Rectangle 9"/>
          <p:cNvSpPr/>
          <p:nvPr/>
        </p:nvSpPr>
        <p:spPr>
          <a:xfrm>
            <a:off x="5288040" y="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18" name="Rectangle 10"/>
          <p:cNvSpPr/>
          <p:nvPr/>
        </p:nvSpPr>
        <p:spPr>
          <a:xfrm>
            <a:off x="5441040" y="646200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19" name="Rectangle 11"/>
          <p:cNvSpPr/>
          <p:nvPr/>
        </p:nvSpPr>
        <p:spPr>
          <a:xfrm>
            <a:off x="4467240" y="93600"/>
            <a:ext cx="3381480" cy="82116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50000"/>
              </a:lnSpc>
            </a:pPr>
            <a:r>
              <a:rPr b="1" lang="en-US" sz="3200" spc="-1" strike="noStrike">
                <a:solidFill>
                  <a:srgbClr val="ffff00"/>
                </a:solidFill>
                <a:latin typeface="Arial Black"/>
              </a:rPr>
              <a:t>METHODOLOGY</a:t>
            </a:r>
            <a:endParaRPr b="0" lang="en-US" sz="3200" spc="-1" strike="noStrike">
              <a:solidFill>
                <a:srgbClr val="ffffff"/>
              </a:solidFill>
              <a:latin typeface="Arial"/>
            </a:endParaRPr>
          </a:p>
        </p:txBody>
      </p:sp>
      <p:sp>
        <p:nvSpPr>
          <p:cNvPr id="120" name="Rectangle 12"/>
          <p:cNvSpPr/>
          <p:nvPr/>
        </p:nvSpPr>
        <p:spPr>
          <a:xfrm>
            <a:off x="36360" y="1349280"/>
            <a:ext cx="12035880" cy="47818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1" lang="en-GB" sz="2200" spc="-1" strike="noStrike">
                <a:solidFill>
                  <a:srgbClr val="ffff00"/>
                </a:solidFill>
                <a:latin typeface="Arial Black"/>
              </a:rPr>
              <a:t>1. RESEARCH DESIGN</a:t>
            </a:r>
            <a:endParaRPr b="1"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ea typeface="Noto Sans CJK SC"/>
              </a:rPr>
              <a:t>THIS STUDY WILL UTILIZE A DESCRIPTIVE CROSS-SECTIONAL STUDY DESIGN TO OBTAIN RELEVANT DATA FROM PATIENTS WITH CHRONIC DISEASES IN LINE WITH THE RESEARCH OBJECTIVES.</a:t>
            </a:r>
            <a:endParaRPr b="1" lang="en-US" sz="2200" spc="-1" strike="noStrike">
              <a:solidFill>
                <a:srgbClr val="ffffff"/>
              </a:solidFill>
              <a:latin typeface="Arial"/>
            </a:endParaRPr>
          </a:p>
          <a:p>
            <a:pPr defTabSz="914400">
              <a:lnSpc>
                <a:spcPct val="100000"/>
              </a:lnSpc>
            </a:pPr>
            <a:endParaRPr b="1"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ea typeface="Noto Sans CJK SC"/>
              </a:rPr>
              <a:t>2. STUDY AREA</a:t>
            </a:r>
            <a:endParaRPr b="1"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ea typeface="Calibri"/>
              </a:rPr>
              <a:t>THIS STUDY SHALL BE CARRIED OUT AT NIGERIAN NAVY REFERENCE HOSPITAL (NNRH), OJO. THE HOSPITAL IS LOCATED INSIDE NAVY TOWN, A PART OF THE SATELLITE TOWNS OF AMOWU-ODOFIN LOCAL GOVERNMENT AREA, LAGOS STATE. THE HOSPITAL IS A REFERRAL HOSPITAL CREATED IN 1985 TO PROVIDE HEALTH CARE TO NAVAL PERSONNEL AND THEIR FAMILIES AT SECONDARY AND TERTIARY LEVELS. PRESENTLY THE HOSPITAL IS ONE OF THE LARGEST OF ITS KIND IN LAGOS STATE OFFERING SEVERAL HEALTH CARE SERVICES. </a:t>
            </a:r>
            <a:endParaRPr b="1" lang="en-US" sz="2200" spc="-1" strike="noStrike">
              <a:solidFill>
                <a:srgbClr val="ffffff"/>
              </a:solidFill>
              <a:latin typeface="Arial"/>
            </a:endParaRPr>
          </a:p>
          <a:p>
            <a:pPr defTabSz="914400">
              <a:lnSpc>
                <a:spcPct val="100000"/>
              </a:lnSpc>
            </a:pPr>
            <a:endParaRPr b="1" lang="en-US" sz="2200" spc="-1" strike="noStrike">
              <a:solidFill>
                <a:srgbClr val="ffffff"/>
              </a:solidFill>
              <a:latin typeface="Arial"/>
            </a:endParaRPr>
          </a:p>
        </p:txBody>
      </p:sp>
    </p:spTree>
  </p:cSld>
  <mc:AlternateContent>
    <mc:Choice Requires="p14">
      <p:transition advTm="0" p14:dur="10"/>
    </mc:Choice>
    <mc:Fallback>
      <p:transition advTm="0"/>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Num" idx="4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400" spc="-1" strike="noStrike">
                <a:solidFill>
                  <a:srgbClr val="ffff00"/>
                </a:solidFill>
                <a:latin typeface="Arial Black"/>
              </a:defRPr>
            </a:lvl1pPr>
          </a:lstStyle>
          <a:p>
            <a:pPr indent="0" algn="r" defTabSz="914400">
              <a:lnSpc>
                <a:spcPct val="100000"/>
              </a:lnSpc>
              <a:buNone/>
              <a:tabLst>
                <a:tab algn="l" pos="0"/>
              </a:tabLst>
            </a:pPr>
            <a:fld id="{834C1833-222E-483E-B9B8-EE98F2509EFB}" type="slidenum">
              <a:rPr b="0" lang="en-US" sz="2400" spc="-1" strike="noStrike">
                <a:solidFill>
                  <a:srgbClr val="ffff00"/>
                </a:solidFill>
                <a:latin typeface="Arial Black"/>
              </a:rPr>
              <a:t>&lt;number&gt;</a:t>
            </a:fld>
            <a:endParaRPr b="0" lang="en-US" sz="2400" spc="-1" strike="noStrike">
              <a:solidFill>
                <a:srgbClr val="ffffff"/>
              </a:solidFill>
              <a:latin typeface="Times New Roman"/>
            </a:endParaRPr>
          </a:p>
        </p:txBody>
      </p:sp>
      <p:pic>
        <p:nvPicPr>
          <p:cNvPr id="122" name="Picture 11" descr="H:\CRAB\NN Logo.gif"/>
          <p:cNvPicPr/>
          <p:nvPr/>
        </p:nvPicPr>
        <p:blipFill>
          <a:blip r:embed="rId1"/>
          <a:stretch/>
        </p:blipFill>
        <p:spPr>
          <a:xfrm>
            <a:off x="112320" y="152280"/>
            <a:ext cx="849600" cy="808560"/>
          </a:xfrm>
          <a:prstGeom prst="rect">
            <a:avLst/>
          </a:prstGeom>
          <a:ln w="0">
            <a:noFill/>
          </a:ln>
        </p:spPr>
      </p:pic>
      <p:pic>
        <p:nvPicPr>
          <p:cNvPr id="123" name="Picture 12" descr=""/>
          <p:cNvPicPr/>
          <p:nvPr/>
        </p:nvPicPr>
        <p:blipFill>
          <a:blip r:embed="rId2"/>
          <a:stretch/>
        </p:blipFill>
        <p:spPr>
          <a:xfrm>
            <a:off x="11186280" y="152280"/>
            <a:ext cx="849600" cy="808560"/>
          </a:xfrm>
          <a:prstGeom prst="rect">
            <a:avLst/>
          </a:prstGeom>
          <a:ln w="0">
            <a:noFill/>
          </a:ln>
        </p:spPr>
      </p:pic>
      <p:sp>
        <p:nvSpPr>
          <p:cNvPr id="124" name="Rectangle 9"/>
          <p:cNvSpPr/>
          <p:nvPr/>
        </p:nvSpPr>
        <p:spPr>
          <a:xfrm>
            <a:off x="5288040" y="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25" name="Rectangle 10"/>
          <p:cNvSpPr/>
          <p:nvPr/>
        </p:nvSpPr>
        <p:spPr>
          <a:xfrm>
            <a:off x="5441040" y="646200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26" name="Rectangle 11"/>
          <p:cNvSpPr/>
          <p:nvPr/>
        </p:nvSpPr>
        <p:spPr>
          <a:xfrm>
            <a:off x="4467240" y="93600"/>
            <a:ext cx="3381480" cy="82116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50000"/>
              </a:lnSpc>
            </a:pPr>
            <a:r>
              <a:rPr b="1" lang="en-US" sz="3200" spc="-1" strike="noStrike">
                <a:solidFill>
                  <a:srgbClr val="ffff00"/>
                </a:solidFill>
                <a:latin typeface="Arial Black"/>
              </a:rPr>
              <a:t>METHODOLOGY</a:t>
            </a:r>
            <a:endParaRPr b="0" lang="en-US" sz="3200" spc="-1" strike="noStrike">
              <a:solidFill>
                <a:srgbClr val="ffffff"/>
              </a:solidFill>
              <a:latin typeface="Arial"/>
            </a:endParaRPr>
          </a:p>
        </p:txBody>
      </p:sp>
      <p:sp>
        <p:nvSpPr>
          <p:cNvPr id="127" name="Rectangle 12"/>
          <p:cNvSpPr/>
          <p:nvPr/>
        </p:nvSpPr>
        <p:spPr>
          <a:xfrm>
            <a:off x="36360" y="1349280"/>
            <a:ext cx="12035880" cy="44452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1" lang="en-US" sz="2200" spc="-1" strike="noStrike">
                <a:solidFill>
                  <a:srgbClr val="ffff00"/>
                </a:solidFill>
                <a:latin typeface="Arial Black"/>
              </a:rPr>
              <a:t>3. </a:t>
            </a:r>
            <a:r>
              <a:rPr b="1" lang="en-US" sz="2200" spc="-1" strike="noStrike">
                <a:solidFill>
                  <a:srgbClr val="ffff00"/>
                </a:solidFill>
                <a:latin typeface="Arial Black"/>
                <a:ea typeface="Noto Sans CJK SC"/>
              </a:rPr>
              <a:t>ETHICAL CONSIDERATION</a:t>
            </a: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ea typeface="Noto Sans CJK SC"/>
              </a:rPr>
              <a:t>INFORMED CONSENT WILL BE OBTAINED FROM PARTICIPANTS PRIOR TO PARTICIPATING IN THE STUDY.  PRIVACY OF RESEARCH PARTICIPANTS WILL BE PROTECTED AND CONFIDENTIALITY OF THE RESEARCH DATA WILL BE MAINTAINED</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ea typeface="Noto Sans CJK SC"/>
              </a:rPr>
              <a:t>4. SAMPLING TECHNIQUE</a:t>
            </a: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ea typeface="Noto Sans CJK SC"/>
              </a:rPr>
              <a:t>SIMPLE RANDOM SAMPLING TECHNIQUE WILL BE ADOPTED IN SELECTING SAMPLES FROM THE TARGET POPULATION</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p:txBody>
      </p:sp>
    </p:spTree>
  </p:cSld>
  <mc:AlternateContent>
    <mc:Choice Requires="p14">
      <p:transition advTm="0" p14:dur="10"/>
    </mc:Choice>
    <mc:Fallback>
      <p:transition advTm="0"/>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sldNum" idx="47"/>
          </p:nvPr>
        </p:nvSpPr>
        <p:spPr>
          <a:xfrm>
            <a:off x="861012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400" spc="-1" strike="noStrike">
                <a:solidFill>
                  <a:srgbClr val="ffff00"/>
                </a:solidFill>
                <a:latin typeface="Arial Black"/>
              </a:defRPr>
            </a:lvl1pPr>
          </a:lstStyle>
          <a:p>
            <a:pPr indent="0" algn="r" defTabSz="914400">
              <a:lnSpc>
                <a:spcPct val="100000"/>
              </a:lnSpc>
              <a:buNone/>
              <a:tabLst>
                <a:tab algn="l" pos="0"/>
              </a:tabLst>
            </a:pPr>
            <a:fld id="{78FA981F-B6B4-4DC4-88A5-72A45124A8DC}" type="slidenum">
              <a:rPr b="0" lang="en-US" sz="2400" spc="-1" strike="noStrike">
                <a:solidFill>
                  <a:srgbClr val="ffff00"/>
                </a:solidFill>
                <a:latin typeface="Arial Black"/>
              </a:rPr>
              <a:t>&lt;number&gt;</a:t>
            </a:fld>
            <a:endParaRPr b="0" lang="en-US" sz="2400" spc="-1" strike="noStrike">
              <a:solidFill>
                <a:srgbClr val="ffffff"/>
              </a:solidFill>
              <a:latin typeface="Times New Roman"/>
            </a:endParaRPr>
          </a:p>
        </p:txBody>
      </p:sp>
      <p:pic>
        <p:nvPicPr>
          <p:cNvPr id="129" name="Picture 15" descr="H:\CRAB\NN Logo.gif"/>
          <p:cNvPicPr/>
          <p:nvPr/>
        </p:nvPicPr>
        <p:blipFill>
          <a:blip r:embed="rId1"/>
          <a:stretch/>
        </p:blipFill>
        <p:spPr>
          <a:xfrm>
            <a:off x="111960" y="152280"/>
            <a:ext cx="849600" cy="808560"/>
          </a:xfrm>
          <a:prstGeom prst="rect">
            <a:avLst/>
          </a:prstGeom>
          <a:ln w="0">
            <a:noFill/>
          </a:ln>
        </p:spPr>
      </p:pic>
      <p:pic>
        <p:nvPicPr>
          <p:cNvPr id="130" name="Picture 16" descr=""/>
          <p:cNvPicPr/>
          <p:nvPr/>
        </p:nvPicPr>
        <p:blipFill>
          <a:blip r:embed="rId2"/>
          <a:stretch/>
        </p:blipFill>
        <p:spPr>
          <a:xfrm>
            <a:off x="11185920" y="152280"/>
            <a:ext cx="849600" cy="808560"/>
          </a:xfrm>
          <a:prstGeom prst="rect">
            <a:avLst/>
          </a:prstGeom>
          <a:ln w="0">
            <a:noFill/>
          </a:ln>
        </p:spPr>
      </p:pic>
      <p:sp>
        <p:nvSpPr>
          <p:cNvPr id="131" name="Rectangle 17"/>
          <p:cNvSpPr/>
          <p:nvPr/>
        </p:nvSpPr>
        <p:spPr>
          <a:xfrm>
            <a:off x="5287680" y="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32" name="Rectangle 18"/>
          <p:cNvSpPr/>
          <p:nvPr/>
        </p:nvSpPr>
        <p:spPr>
          <a:xfrm>
            <a:off x="5440680" y="646200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33" name="Rectangle 19"/>
          <p:cNvSpPr/>
          <p:nvPr/>
        </p:nvSpPr>
        <p:spPr>
          <a:xfrm>
            <a:off x="3547800" y="182880"/>
            <a:ext cx="5219280" cy="91260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50000"/>
              </a:lnSpc>
            </a:pPr>
            <a:r>
              <a:rPr b="1" lang="en-US" sz="3200" spc="-1" strike="noStrike">
                <a:solidFill>
                  <a:srgbClr val="ffff00"/>
                </a:solidFill>
                <a:latin typeface="Arial Black"/>
              </a:rPr>
              <a:t>METHODOLOGY</a:t>
            </a:r>
            <a:r>
              <a:rPr b="1" lang="en-US" sz="3600" spc="-1" strike="noStrike">
                <a:solidFill>
                  <a:srgbClr val="ffff00"/>
                </a:solidFill>
                <a:latin typeface="Arial Black"/>
              </a:rPr>
              <a:t> CONT’D</a:t>
            </a:r>
            <a:endParaRPr b="0" lang="en-US" sz="3600" spc="-1" strike="noStrike">
              <a:solidFill>
                <a:srgbClr val="ffffff"/>
              </a:solidFill>
              <a:latin typeface="Arial"/>
            </a:endParaRPr>
          </a:p>
        </p:txBody>
      </p:sp>
      <p:sp>
        <p:nvSpPr>
          <p:cNvPr id="134" name="Rectangle 20"/>
          <p:cNvSpPr/>
          <p:nvPr/>
        </p:nvSpPr>
        <p:spPr>
          <a:xfrm>
            <a:off x="342720" y="905040"/>
            <a:ext cx="11268000" cy="42778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endParaRPr b="0" lang="en-US" sz="2200" spc="-1" strike="noStrike">
              <a:solidFill>
                <a:srgbClr val="ffffff"/>
              </a:solidFill>
              <a:latin typeface="Arial"/>
            </a:endParaRPr>
          </a:p>
          <a:p>
            <a:pPr algn="just" defTabSz="914400">
              <a:lnSpc>
                <a:spcPct val="100000"/>
              </a:lnSpc>
              <a:tabLst>
                <a:tab algn="l" pos="0"/>
              </a:tabLst>
            </a:pPr>
            <a:r>
              <a:rPr b="1" lang="en-US" sz="2200" spc="-1" strike="noStrike">
                <a:solidFill>
                  <a:srgbClr val="ffff00"/>
                </a:solidFill>
                <a:latin typeface="Arial Black"/>
              </a:rPr>
              <a:t>5. </a:t>
            </a:r>
            <a:r>
              <a:rPr b="1" lang="en-US" sz="2200" spc="-1" strike="noStrike">
                <a:solidFill>
                  <a:srgbClr val="ffff00"/>
                </a:solidFill>
                <a:latin typeface="Arial Black"/>
                <a:ea typeface="Noto Sans CJK SC"/>
              </a:rPr>
              <a:t>SAMPLING</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THE SAMPLE SIZE (N) WILL BE DRAWN FROM YAMEN TARO FORMULAR FOR DETERMINING SAMPLE SIZE FOR A KNOWN POPULATION</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AS SHOWN BELOW.</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n= N/(1+N(e)^2)</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WHERE:  n = SAMPLE SIZE REQUIRED.</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N=STUDY POPULATION.</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e= PRECISION ERRO (0.05)</a:t>
            </a:r>
            <a:endParaRPr b="0" lang="en-US" sz="2200" spc="-1" strike="noStrike">
              <a:solidFill>
                <a:srgbClr val="ffffff"/>
              </a:solidFill>
              <a:latin typeface="Arial"/>
            </a:endParaRPr>
          </a:p>
        </p:txBody>
      </p:sp>
    </p:spTree>
  </p:cSld>
  <mc:AlternateContent>
    <mc:Choice Requires="p14">
      <p:transition advTm="0" p14:dur="10"/>
    </mc:Choice>
    <mc:Fallback>
      <p:transition advTm="0"/>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Num" idx="48"/>
          </p:nvPr>
        </p:nvSpPr>
        <p:spPr>
          <a:xfrm>
            <a:off x="861012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400" spc="-1" strike="noStrike">
                <a:solidFill>
                  <a:srgbClr val="ffff00"/>
                </a:solidFill>
                <a:latin typeface="Arial Black"/>
              </a:defRPr>
            </a:lvl1pPr>
          </a:lstStyle>
          <a:p>
            <a:pPr indent="0" algn="r" defTabSz="914400">
              <a:lnSpc>
                <a:spcPct val="100000"/>
              </a:lnSpc>
              <a:buNone/>
              <a:tabLst>
                <a:tab algn="l" pos="0"/>
              </a:tabLst>
            </a:pPr>
            <a:fld id="{8A53D670-54EB-4976-A78D-5293DE2A1EC8}" type="slidenum">
              <a:rPr b="0" lang="en-US" sz="2400" spc="-1" strike="noStrike">
                <a:solidFill>
                  <a:srgbClr val="ffff00"/>
                </a:solidFill>
                <a:latin typeface="Arial Black"/>
              </a:rPr>
              <a:t>&lt;number&gt;</a:t>
            </a:fld>
            <a:endParaRPr b="0" lang="en-US" sz="2400" spc="-1" strike="noStrike">
              <a:solidFill>
                <a:srgbClr val="ffffff"/>
              </a:solidFill>
              <a:latin typeface="Times New Roman"/>
            </a:endParaRPr>
          </a:p>
        </p:txBody>
      </p:sp>
      <p:pic>
        <p:nvPicPr>
          <p:cNvPr id="136" name="Picture 19" descr="H:\CRAB\NN Logo.gif"/>
          <p:cNvPicPr/>
          <p:nvPr/>
        </p:nvPicPr>
        <p:blipFill>
          <a:blip r:embed="rId1"/>
          <a:stretch/>
        </p:blipFill>
        <p:spPr>
          <a:xfrm>
            <a:off x="111960" y="152280"/>
            <a:ext cx="849600" cy="808560"/>
          </a:xfrm>
          <a:prstGeom prst="rect">
            <a:avLst/>
          </a:prstGeom>
          <a:ln w="0">
            <a:noFill/>
          </a:ln>
        </p:spPr>
      </p:pic>
      <p:pic>
        <p:nvPicPr>
          <p:cNvPr id="137" name="Picture 20" descr=""/>
          <p:cNvPicPr/>
          <p:nvPr/>
        </p:nvPicPr>
        <p:blipFill>
          <a:blip r:embed="rId2"/>
          <a:stretch/>
        </p:blipFill>
        <p:spPr>
          <a:xfrm>
            <a:off x="11185920" y="152280"/>
            <a:ext cx="849600" cy="808560"/>
          </a:xfrm>
          <a:prstGeom prst="rect">
            <a:avLst/>
          </a:prstGeom>
          <a:ln w="0">
            <a:noFill/>
          </a:ln>
        </p:spPr>
      </p:pic>
      <p:sp>
        <p:nvSpPr>
          <p:cNvPr id="138" name="Rectangle 27"/>
          <p:cNvSpPr/>
          <p:nvPr/>
        </p:nvSpPr>
        <p:spPr>
          <a:xfrm>
            <a:off x="5287680" y="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39" name="Rectangle 29"/>
          <p:cNvSpPr/>
          <p:nvPr/>
        </p:nvSpPr>
        <p:spPr>
          <a:xfrm>
            <a:off x="5440680" y="646200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40" name="Rectangle 30"/>
          <p:cNvSpPr/>
          <p:nvPr/>
        </p:nvSpPr>
        <p:spPr>
          <a:xfrm>
            <a:off x="3547800" y="182880"/>
            <a:ext cx="5219280" cy="91260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50000"/>
              </a:lnSpc>
            </a:pPr>
            <a:r>
              <a:rPr b="1" lang="en-US" sz="3200" spc="-1" strike="noStrike">
                <a:solidFill>
                  <a:srgbClr val="ffff00"/>
                </a:solidFill>
                <a:latin typeface="Arial Black"/>
              </a:rPr>
              <a:t>METHODOLOGY</a:t>
            </a:r>
            <a:r>
              <a:rPr b="1" lang="en-US" sz="3600" spc="-1" strike="noStrike">
                <a:solidFill>
                  <a:srgbClr val="ffff00"/>
                </a:solidFill>
                <a:latin typeface="Arial Black"/>
              </a:rPr>
              <a:t> CONT’D</a:t>
            </a:r>
            <a:endParaRPr b="0" lang="en-US" sz="3600" spc="-1" strike="noStrike">
              <a:solidFill>
                <a:srgbClr val="ffffff"/>
              </a:solidFill>
              <a:latin typeface="Arial"/>
            </a:endParaRPr>
          </a:p>
        </p:txBody>
      </p:sp>
      <p:sp>
        <p:nvSpPr>
          <p:cNvPr id="141" name="Rectangle 34"/>
          <p:cNvSpPr/>
          <p:nvPr/>
        </p:nvSpPr>
        <p:spPr>
          <a:xfrm>
            <a:off x="426960" y="1428840"/>
            <a:ext cx="11183400" cy="46126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1" lang="en-GB" sz="2200" spc="-1" strike="noStrike">
                <a:solidFill>
                  <a:srgbClr val="ffff00"/>
                </a:solidFill>
                <a:latin typeface="Arial Black"/>
              </a:rPr>
              <a:t>6. ELIGIBILITY CRITERIA</a:t>
            </a:r>
            <a:endParaRPr b="0" lang="en-US" sz="2200" spc="-1" strike="noStrike">
              <a:solidFill>
                <a:srgbClr val="ffffff"/>
              </a:solidFill>
              <a:latin typeface="Arial"/>
            </a:endParaRPr>
          </a:p>
          <a:p>
            <a:pPr marL="457200" indent="-457200" algn="just" defTabSz="914400">
              <a:lnSpc>
                <a:spcPct val="150000"/>
              </a:lnSpc>
              <a:buClr>
                <a:srgbClr val="ffff00"/>
              </a:buClr>
              <a:buFont typeface="Calibri Light"/>
              <a:buAutoNum type="alphaLcParenR"/>
            </a:pPr>
            <a:r>
              <a:rPr b="1" lang="en-US" sz="2200" spc="-1" strike="noStrike">
                <a:solidFill>
                  <a:srgbClr val="ffff00"/>
                </a:solidFill>
                <a:latin typeface="Arial Black"/>
              </a:rPr>
              <a:t>THE PATIENT MUST BE REGISTERED IN NNRH OJO</a:t>
            </a:r>
            <a:endParaRPr b="0" lang="en-US" sz="2200" spc="-1" strike="noStrike">
              <a:solidFill>
                <a:srgbClr val="ffffff"/>
              </a:solidFill>
              <a:latin typeface="Arial"/>
            </a:endParaRPr>
          </a:p>
          <a:p>
            <a:pPr marL="457200" indent="-457200" algn="just" defTabSz="914400">
              <a:lnSpc>
                <a:spcPct val="150000"/>
              </a:lnSpc>
              <a:buClr>
                <a:srgbClr val="ffff00"/>
              </a:buClr>
              <a:buFont typeface="Calibri Light"/>
              <a:buAutoNum type="alphaLcParenR"/>
            </a:pPr>
            <a:r>
              <a:rPr b="1" lang="en-US" sz="2200" spc="-1" strike="noStrike">
                <a:solidFill>
                  <a:srgbClr val="ffff00"/>
                </a:solidFill>
                <a:latin typeface="Arial Black"/>
              </a:rPr>
              <a:t>THE PATIENTS MUST HAVE BEEN DIAGNOSED OF ANY FORM OF CHRONIC DISEASE</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rPr>
              <a:t>7. INSTRUMENT FOR DATA COLLECTION</a:t>
            </a: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rPr>
              <a:t>THE RESEARCH INSTRUMENT FOR THIS STUDY WILL BE A SELF-STRUCTURED, LOGICALLY PREPARED QUESTIONNAIRE.</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p:txBody>
      </p:sp>
    </p:spTree>
  </p:cSld>
  <mc:AlternateContent>
    <mc:Choice Requires="p14">
      <p:transition advTm="0" p14:dur="10"/>
    </mc:Choice>
    <mc:Fallback>
      <p:transition advTm="0"/>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Num" idx="49"/>
          </p:nvPr>
        </p:nvSpPr>
        <p:spPr>
          <a:xfrm>
            <a:off x="861012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400" spc="-1" strike="noStrike">
                <a:solidFill>
                  <a:srgbClr val="ffff00"/>
                </a:solidFill>
                <a:latin typeface="Arial Black"/>
              </a:defRPr>
            </a:lvl1pPr>
          </a:lstStyle>
          <a:p>
            <a:pPr indent="0" algn="r" defTabSz="914400">
              <a:lnSpc>
                <a:spcPct val="100000"/>
              </a:lnSpc>
              <a:buNone/>
              <a:tabLst>
                <a:tab algn="l" pos="0"/>
              </a:tabLst>
            </a:pPr>
            <a:fld id="{946BF943-AC17-42CA-BBD7-7894C7757E1B}" type="slidenum">
              <a:rPr b="0" lang="en-US" sz="2400" spc="-1" strike="noStrike">
                <a:solidFill>
                  <a:srgbClr val="ffff00"/>
                </a:solidFill>
                <a:latin typeface="Arial Black"/>
              </a:rPr>
              <a:t>&lt;number&gt;</a:t>
            </a:fld>
            <a:endParaRPr b="0" lang="en-US" sz="2400" spc="-1" strike="noStrike">
              <a:solidFill>
                <a:srgbClr val="ffffff"/>
              </a:solidFill>
              <a:latin typeface="Times New Roman"/>
            </a:endParaRPr>
          </a:p>
        </p:txBody>
      </p:sp>
      <p:pic>
        <p:nvPicPr>
          <p:cNvPr id="143" name="Picture 19" descr="H:\CRAB\NN Logo.gif"/>
          <p:cNvPicPr/>
          <p:nvPr/>
        </p:nvPicPr>
        <p:blipFill>
          <a:blip r:embed="rId1"/>
          <a:stretch/>
        </p:blipFill>
        <p:spPr>
          <a:xfrm>
            <a:off x="111960" y="152280"/>
            <a:ext cx="849600" cy="808560"/>
          </a:xfrm>
          <a:prstGeom prst="rect">
            <a:avLst/>
          </a:prstGeom>
          <a:ln w="0">
            <a:noFill/>
          </a:ln>
        </p:spPr>
      </p:pic>
      <p:pic>
        <p:nvPicPr>
          <p:cNvPr id="144" name="Picture 20" descr=""/>
          <p:cNvPicPr/>
          <p:nvPr/>
        </p:nvPicPr>
        <p:blipFill>
          <a:blip r:embed="rId2"/>
          <a:stretch/>
        </p:blipFill>
        <p:spPr>
          <a:xfrm>
            <a:off x="11185920" y="152280"/>
            <a:ext cx="849600" cy="808560"/>
          </a:xfrm>
          <a:prstGeom prst="rect">
            <a:avLst/>
          </a:prstGeom>
          <a:ln w="0">
            <a:noFill/>
          </a:ln>
        </p:spPr>
      </p:pic>
      <p:sp>
        <p:nvSpPr>
          <p:cNvPr id="145" name="Rectangle 27"/>
          <p:cNvSpPr/>
          <p:nvPr/>
        </p:nvSpPr>
        <p:spPr>
          <a:xfrm>
            <a:off x="5287680" y="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46" name="Rectangle 29"/>
          <p:cNvSpPr/>
          <p:nvPr/>
        </p:nvSpPr>
        <p:spPr>
          <a:xfrm>
            <a:off x="5440680" y="646200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47" name="Rectangle 30"/>
          <p:cNvSpPr/>
          <p:nvPr/>
        </p:nvSpPr>
        <p:spPr>
          <a:xfrm>
            <a:off x="3642480" y="182880"/>
            <a:ext cx="5030280" cy="91260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50000"/>
              </a:lnSpc>
            </a:pPr>
            <a:r>
              <a:rPr b="1" lang="en-US" sz="3200" spc="-1" strike="noStrike">
                <a:solidFill>
                  <a:srgbClr val="ffff00"/>
                </a:solidFill>
                <a:latin typeface="Arial Black"/>
              </a:rPr>
              <a:t>METHODOLOGY</a:t>
            </a:r>
            <a:r>
              <a:rPr b="1" lang="en-US" sz="3600" spc="-1" strike="noStrike">
                <a:solidFill>
                  <a:srgbClr val="ffff00"/>
                </a:solidFill>
                <a:latin typeface="Arial Black"/>
              </a:rPr>
              <a:t> </a:t>
            </a:r>
            <a:r>
              <a:rPr b="1" lang="en-US" sz="3200" spc="-1" strike="noStrike">
                <a:solidFill>
                  <a:srgbClr val="ffff00"/>
                </a:solidFill>
                <a:latin typeface="Arial Black"/>
              </a:rPr>
              <a:t>CONT’D</a:t>
            </a:r>
            <a:endParaRPr b="0" lang="en-US" sz="3200" spc="-1" strike="noStrike">
              <a:solidFill>
                <a:srgbClr val="ffffff"/>
              </a:solidFill>
              <a:latin typeface="Arial"/>
            </a:endParaRPr>
          </a:p>
        </p:txBody>
      </p:sp>
      <p:sp>
        <p:nvSpPr>
          <p:cNvPr id="148" name="Rectangle 34"/>
          <p:cNvSpPr/>
          <p:nvPr/>
        </p:nvSpPr>
        <p:spPr>
          <a:xfrm>
            <a:off x="24840" y="809640"/>
            <a:ext cx="12078720" cy="34408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endParaRPr b="1"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rPr>
              <a:t>8. VALIDITY OF THE INSTRUMENT</a:t>
            </a:r>
            <a:endParaRPr b="1"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ea typeface="Noto Sans CJK SC"/>
              </a:rPr>
              <a:t>A SELF-ADMINISTERED WELL-STRUCTURED QUESTIONNAIRE WILL BE UTILIZED TO OBTAIN DATA ON THE RESEARCH QUESTIONS FROM THE PATIENTS</a:t>
            </a:r>
            <a:endParaRPr b="1" lang="en-US" sz="2200" spc="-1" strike="noStrike">
              <a:solidFill>
                <a:srgbClr val="ffffff"/>
              </a:solidFill>
              <a:latin typeface="Arial"/>
            </a:endParaRPr>
          </a:p>
          <a:p>
            <a:pPr defTabSz="914400">
              <a:lnSpc>
                <a:spcPct val="100000"/>
              </a:lnSpc>
            </a:pPr>
            <a:endParaRPr b="1"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ea typeface="Noto Sans CJK SC"/>
              </a:rPr>
              <a:t>9. DATA ANALYSIS</a:t>
            </a:r>
            <a:endParaRPr b="1"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ea typeface="Noto Sans CJK SC"/>
              </a:rPr>
              <a:t>MICROSOFT EXCEL WOULD BE USED FOR DATA ENTRY. THE DATA WOULD BE PRESENTED USING DESCRIPTIVE STATISTICS IN FREQUENCY TABLES AND PERCENTAGES.</a:t>
            </a:r>
            <a:endParaRPr b="1" lang="en-US" sz="2200" spc="-1" strike="noStrike">
              <a:solidFill>
                <a:srgbClr val="ffffff"/>
              </a:solidFill>
              <a:latin typeface="Arial"/>
            </a:endParaRPr>
          </a:p>
        </p:txBody>
      </p:sp>
    </p:spTree>
  </p:cSld>
  <mc:AlternateContent>
    <mc:Choice Requires="p14">
      <p:transition advTm="0" p14:dur="10"/>
    </mc:Choice>
    <mc:Fallback>
      <p:transition advTm="0"/>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Num" idx="50"/>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000" spc="-1" strike="noStrike">
                <a:solidFill>
                  <a:srgbClr val="ffff00"/>
                </a:solidFill>
                <a:latin typeface="Arial Black"/>
              </a:defRPr>
            </a:lvl1pPr>
          </a:lstStyle>
          <a:p>
            <a:pPr indent="0" algn="r" defTabSz="914400">
              <a:lnSpc>
                <a:spcPct val="100000"/>
              </a:lnSpc>
              <a:buNone/>
              <a:tabLst>
                <a:tab algn="l" pos="0"/>
              </a:tabLst>
            </a:pPr>
            <a:r>
              <a:rPr b="0" lang="en-US" sz="2000" spc="-1" strike="noStrike">
                <a:solidFill>
                  <a:srgbClr val="ffff00"/>
                </a:solidFill>
                <a:latin typeface="Arial Black"/>
              </a:rPr>
              <a:t>19</a:t>
            </a:r>
            <a:endParaRPr b="0" lang="en-US" sz="2000" spc="-1" strike="noStrike">
              <a:solidFill>
                <a:srgbClr val="ffffff"/>
              </a:solidFill>
              <a:latin typeface="Times New Roman"/>
            </a:endParaRPr>
          </a:p>
        </p:txBody>
      </p:sp>
      <p:pic>
        <p:nvPicPr>
          <p:cNvPr id="150" name="Picture 13" descr="H:\CRAB\NN Logo.gif"/>
          <p:cNvPicPr/>
          <p:nvPr/>
        </p:nvPicPr>
        <p:blipFill>
          <a:blip r:embed="rId1"/>
          <a:stretch/>
        </p:blipFill>
        <p:spPr>
          <a:xfrm>
            <a:off x="98280" y="80640"/>
            <a:ext cx="849240" cy="808200"/>
          </a:xfrm>
          <a:prstGeom prst="rect">
            <a:avLst/>
          </a:prstGeom>
          <a:ln w="0">
            <a:noFill/>
          </a:ln>
        </p:spPr>
      </p:pic>
      <p:pic>
        <p:nvPicPr>
          <p:cNvPr id="151" name="Picture 14" descr=""/>
          <p:cNvPicPr/>
          <p:nvPr/>
        </p:nvPicPr>
        <p:blipFill>
          <a:blip r:embed="rId2"/>
          <a:stretch/>
        </p:blipFill>
        <p:spPr>
          <a:xfrm>
            <a:off x="11225520" y="80640"/>
            <a:ext cx="849240" cy="808200"/>
          </a:xfrm>
          <a:prstGeom prst="rect">
            <a:avLst/>
          </a:prstGeom>
          <a:ln w="0">
            <a:noFill/>
          </a:ln>
        </p:spPr>
      </p:pic>
      <p:sp>
        <p:nvSpPr>
          <p:cNvPr id="152" name="Rectangle 33"/>
          <p:cNvSpPr/>
          <p:nvPr/>
        </p:nvSpPr>
        <p:spPr>
          <a:xfrm>
            <a:off x="948600" y="2537640"/>
            <a:ext cx="10275840" cy="1979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endParaRPr b="0" lang="en-US" sz="1800" spc="-1" strike="noStrike">
              <a:solidFill>
                <a:srgbClr val="ffffff"/>
              </a:solidFill>
              <a:latin typeface="Arial"/>
            </a:endParaRPr>
          </a:p>
          <a:p>
            <a:pPr algn="ctr" defTabSz="914400">
              <a:lnSpc>
                <a:spcPct val="100000"/>
              </a:lnSpc>
            </a:pPr>
            <a:r>
              <a:rPr b="1" lang="en-US" sz="5400" spc="-1" strike="noStrike">
                <a:solidFill>
                  <a:srgbClr val="ffff00"/>
                </a:solidFill>
                <a:latin typeface="Arial Black"/>
                <a:ea typeface="Calibri"/>
              </a:rPr>
              <a:t>CONCLUSION</a:t>
            </a:r>
            <a:endParaRPr b="0" lang="en-US" sz="5400" spc="-1" strike="noStrike">
              <a:solidFill>
                <a:srgbClr val="ffffff"/>
              </a:solidFill>
              <a:latin typeface="Arial"/>
            </a:endParaRPr>
          </a:p>
          <a:p>
            <a:pPr marL="343080" indent="-343080" algn="just" defTabSz="914400">
              <a:lnSpc>
                <a:spcPct val="100000"/>
              </a:lnSpc>
              <a:tabLst>
                <a:tab algn="l" pos="0"/>
              </a:tabLst>
            </a:pPr>
            <a:endParaRPr b="0" lang="en-US" sz="3200" spc="-1" strike="noStrike">
              <a:solidFill>
                <a:srgbClr val="ffffff"/>
              </a:solidFill>
              <a:latin typeface="Arial"/>
            </a:endParaRPr>
          </a:p>
          <a:p>
            <a:pPr marL="343080" algn="just" defTabSz="914400">
              <a:lnSpc>
                <a:spcPct val="100000"/>
              </a:lnSpc>
              <a:tabLst>
                <a:tab algn="l" pos="0"/>
              </a:tabLst>
            </a:pPr>
            <a:endParaRPr b="0" lang="en-US" sz="2000" spc="-1" strike="noStrike">
              <a:solidFill>
                <a:srgbClr val="ffffff"/>
              </a:solidFill>
              <a:latin typeface="Arial"/>
            </a:endParaRPr>
          </a:p>
        </p:txBody>
      </p:sp>
      <p:sp>
        <p:nvSpPr>
          <p:cNvPr id="153" name="Rectangle 35"/>
          <p:cNvSpPr/>
          <p:nvPr/>
        </p:nvSpPr>
        <p:spPr>
          <a:xfrm>
            <a:off x="5320440" y="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54" name="Rectangle 36"/>
          <p:cNvSpPr/>
          <p:nvPr/>
        </p:nvSpPr>
        <p:spPr>
          <a:xfrm>
            <a:off x="5320440" y="6361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93" dur="indefinite" restart="never" nodeType="tmRoot">
          <p:childTnLst>
            <p:seq>
              <p:cTn id="94" dur="indefinite" nodeType="mainSeq">
                <p:childTnLst>
                  <p:par>
                    <p:cTn id="95" fill="hold">
                      <p:stCondLst>
                        <p:cond delay="indefinite"/>
                      </p:stCondLst>
                      <p:childTnLst>
                        <p:par>
                          <p:cTn id="96" fill="hold">
                            <p:stCondLst>
                              <p:cond delay="0"/>
                            </p:stCondLst>
                            <p:childTnLst>
                              <p:par>
                                <p:cTn id="97" nodeType="clickEffect" fill="hold" presetClass="entr" presetID="2" presetSubtype="4">
                                  <p:stCondLst>
                                    <p:cond delay="0"/>
                                  </p:stCondLst>
                                  <p:childTnLst>
                                    <p:set>
                                      <p:cBhvr>
                                        <p:cTn id="98" dur="1" fill="hold">
                                          <p:stCondLst>
                                            <p:cond delay="0"/>
                                          </p:stCondLst>
                                        </p:cTn>
                                        <p:tgtEl>
                                          <p:spTgt spid="152"/>
                                        </p:tgtEl>
                                        <p:attrNameLst>
                                          <p:attrName>style.visibility</p:attrName>
                                        </p:attrNameLst>
                                      </p:cBhvr>
                                      <p:to>
                                        <p:strVal val="visible"/>
                                      </p:to>
                                    </p:set>
                                    <p:anim calcmode="lin" valueType="num">
                                      <p:cBhvr additive="repl">
                                        <p:cTn id="99" dur="500" fill="hold"/>
                                        <p:tgtEl>
                                          <p:spTgt spid="152"/>
                                        </p:tgtEl>
                                        <p:attrNameLst>
                                          <p:attrName>ppt_x</p:attrName>
                                        </p:attrNameLst>
                                      </p:cBhvr>
                                      <p:tavLst>
                                        <p:tav tm="0">
                                          <p:val>
                                            <p:strVal val="#ppt_x"/>
                                          </p:val>
                                        </p:tav>
                                        <p:tav tm="100000">
                                          <p:val>
                                            <p:strVal val="#ppt_x"/>
                                          </p:val>
                                        </p:tav>
                                      </p:tavLst>
                                    </p:anim>
                                    <p:anim calcmode="lin" valueType="num">
                                      <p:cBhvr additive="repl">
                                        <p:cTn id="100" dur="500" fill="hold"/>
                                        <p:tgtEl>
                                          <p:spTgt spid="1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Num" idx="51"/>
          </p:nvPr>
        </p:nvSpPr>
        <p:spPr>
          <a:xfrm>
            <a:off x="861012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400" spc="-1" strike="noStrike">
                <a:solidFill>
                  <a:srgbClr val="ffff00"/>
                </a:solidFill>
                <a:latin typeface="Arial Black"/>
              </a:defRPr>
            </a:lvl1pPr>
          </a:lstStyle>
          <a:p>
            <a:pPr indent="0" algn="r" defTabSz="914400">
              <a:lnSpc>
                <a:spcPct val="100000"/>
              </a:lnSpc>
              <a:buNone/>
              <a:tabLst>
                <a:tab algn="l" pos="0"/>
              </a:tabLst>
            </a:pPr>
            <a:fld id="{7E42902B-1345-4037-9CDC-A93642B7F704}" type="slidenum">
              <a:rPr b="0" lang="en-US" sz="2400" spc="-1" strike="noStrike">
                <a:solidFill>
                  <a:srgbClr val="ffff00"/>
                </a:solidFill>
                <a:latin typeface="Arial Black"/>
              </a:rPr>
              <a:t>&lt;number&gt;</a:t>
            </a:fld>
            <a:endParaRPr b="0" lang="en-US" sz="2400" spc="-1" strike="noStrike">
              <a:solidFill>
                <a:srgbClr val="ffffff"/>
              </a:solidFill>
              <a:latin typeface="Times New Roman"/>
            </a:endParaRPr>
          </a:p>
        </p:txBody>
      </p:sp>
      <p:pic>
        <p:nvPicPr>
          <p:cNvPr id="156" name="Picture 9" descr="H:\CRAB\NN Logo.gif"/>
          <p:cNvPicPr/>
          <p:nvPr/>
        </p:nvPicPr>
        <p:blipFill>
          <a:blip r:embed="rId1"/>
          <a:stretch/>
        </p:blipFill>
        <p:spPr>
          <a:xfrm>
            <a:off x="111960" y="152280"/>
            <a:ext cx="849600" cy="808560"/>
          </a:xfrm>
          <a:prstGeom prst="rect">
            <a:avLst/>
          </a:prstGeom>
          <a:ln w="0">
            <a:noFill/>
          </a:ln>
        </p:spPr>
      </p:pic>
      <p:pic>
        <p:nvPicPr>
          <p:cNvPr id="157" name="Picture 10" descr=""/>
          <p:cNvPicPr/>
          <p:nvPr/>
        </p:nvPicPr>
        <p:blipFill>
          <a:blip r:embed="rId2"/>
          <a:stretch/>
        </p:blipFill>
        <p:spPr>
          <a:xfrm>
            <a:off x="11185920" y="152280"/>
            <a:ext cx="849600" cy="808560"/>
          </a:xfrm>
          <a:prstGeom prst="rect">
            <a:avLst/>
          </a:prstGeom>
          <a:ln w="0">
            <a:noFill/>
          </a:ln>
        </p:spPr>
      </p:pic>
      <p:sp>
        <p:nvSpPr>
          <p:cNvPr id="158" name="Rectangle 13"/>
          <p:cNvSpPr/>
          <p:nvPr/>
        </p:nvSpPr>
        <p:spPr>
          <a:xfrm>
            <a:off x="5287680" y="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59" name="Rectangle 15"/>
          <p:cNvSpPr/>
          <p:nvPr/>
        </p:nvSpPr>
        <p:spPr>
          <a:xfrm>
            <a:off x="5440680" y="646200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60" name="Rectangle 16"/>
          <p:cNvSpPr/>
          <p:nvPr/>
        </p:nvSpPr>
        <p:spPr>
          <a:xfrm>
            <a:off x="4509000" y="228600"/>
            <a:ext cx="2665440" cy="82116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50000"/>
              </a:lnSpc>
            </a:pPr>
            <a:r>
              <a:rPr b="1" lang="en-US" sz="3200" spc="-1" strike="noStrike">
                <a:solidFill>
                  <a:srgbClr val="ffff00"/>
                </a:solidFill>
                <a:latin typeface="Arial Black"/>
              </a:rPr>
              <a:t>REFERENCES</a:t>
            </a:r>
            <a:endParaRPr b="0" lang="en-US" sz="3200" spc="-1" strike="noStrike">
              <a:solidFill>
                <a:srgbClr val="ffffff"/>
              </a:solidFill>
              <a:latin typeface="Arial"/>
            </a:endParaRPr>
          </a:p>
        </p:txBody>
      </p:sp>
      <p:sp>
        <p:nvSpPr>
          <p:cNvPr id="161" name="Rectangle 25"/>
          <p:cNvSpPr/>
          <p:nvPr/>
        </p:nvSpPr>
        <p:spPr>
          <a:xfrm>
            <a:off x="24840" y="809640"/>
            <a:ext cx="12078720" cy="48142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endParaRPr b="1" lang="en-US" sz="2000" spc="-1" strike="noStrike">
              <a:solidFill>
                <a:srgbClr val="ffffff"/>
              </a:solidFill>
              <a:latin typeface="Arial"/>
            </a:endParaRPr>
          </a:p>
          <a:p>
            <a:pPr algn="just" defTabSz="914400">
              <a:lnSpc>
                <a:spcPct val="150000"/>
              </a:lnSpc>
            </a:pPr>
            <a:r>
              <a:rPr b="1" lang="en-US" sz="2000" spc="-1" strike="noStrike">
                <a:solidFill>
                  <a:srgbClr val="ffff00"/>
                </a:solidFill>
                <a:latin typeface="Arial Black"/>
              </a:rPr>
              <a:t>1. </a:t>
            </a:r>
            <a:r>
              <a:rPr b="1" lang="en-US" sz="2000" spc="-1" strike="noStrike">
                <a:solidFill>
                  <a:srgbClr val="ffff00"/>
                </a:solidFill>
                <a:latin typeface="Times New Roman"/>
                <a:ea typeface="Noto Sans CJK SC"/>
              </a:rPr>
              <a:t>CURKENDALL, S. M., THOMAS, N., BELL, K. F., JUNEAU, P. L., &amp; WEISS, A. J. (2013). PREDICTORS OF MEDICATION ADHERENCE IN PATIENTS WITH TYPE 2 DIABETES MELLITUS. </a:t>
            </a:r>
            <a:r>
              <a:rPr b="1" i="1" lang="en-US" sz="2000" spc="-1" strike="noStrike">
                <a:solidFill>
                  <a:srgbClr val="ffff00"/>
                </a:solidFill>
                <a:latin typeface="Times New Roman"/>
                <a:ea typeface="Noto Sans CJK SC"/>
              </a:rPr>
              <a:t>CURRENT MEDICAL RESEARCH AND OPINION</a:t>
            </a:r>
            <a:r>
              <a:rPr b="1" lang="en-US" sz="2000" spc="-1" strike="noStrike">
                <a:solidFill>
                  <a:srgbClr val="ffff00"/>
                </a:solidFill>
                <a:latin typeface="Times New Roman"/>
                <a:ea typeface="Noto Sans CJK SC"/>
              </a:rPr>
              <a:t>, </a:t>
            </a:r>
            <a:r>
              <a:rPr b="1" i="1" lang="en-US" sz="2000" spc="-1" strike="noStrike">
                <a:solidFill>
                  <a:srgbClr val="ffff00"/>
                </a:solidFill>
                <a:latin typeface="Times New Roman"/>
                <a:ea typeface="Noto Sans CJK SC"/>
              </a:rPr>
              <a:t>29</a:t>
            </a:r>
            <a:r>
              <a:rPr b="1" lang="en-US" sz="2000" spc="-1" strike="noStrike">
                <a:solidFill>
                  <a:srgbClr val="ffff00"/>
                </a:solidFill>
                <a:latin typeface="Times New Roman"/>
                <a:ea typeface="Noto Sans CJK SC"/>
              </a:rPr>
              <a:t>(10), 1275–1286. </a:t>
            </a:r>
            <a:endParaRPr b="1" lang="en-US" sz="2000" spc="-1" strike="noStrike">
              <a:solidFill>
                <a:srgbClr val="ffffff"/>
              </a:solidFill>
              <a:latin typeface="Arial"/>
            </a:endParaRPr>
          </a:p>
          <a:p>
            <a:pPr defTabSz="914400">
              <a:lnSpc>
                <a:spcPct val="100000"/>
              </a:lnSpc>
            </a:pPr>
            <a:endParaRPr b="1" lang="en-US" sz="2000" spc="-1" strike="noStrike">
              <a:solidFill>
                <a:srgbClr val="ffffff"/>
              </a:solidFill>
              <a:latin typeface="Arial"/>
            </a:endParaRPr>
          </a:p>
          <a:p>
            <a:pPr algn="just" defTabSz="914400">
              <a:lnSpc>
                <a:spcPct val="150000"/>
              </a:lnSpc>
            </a:pPr>
            <a:r>
              <a:rPr b="1" lang="en-US" sz="2000" spc="-1" strike="noStrike">
                <a:solidFill>
                  <a:srgbClr val="ffff00"/>
                </a:solidFill>
                <a:latin typeface="Arial Black"/>
                <a:ea typeface="Noto Sans CJK SC"/>
              </a:rPr>
              <a:t>2. </a:t>
            </a:r>
            <a:r>
              <a:rPr b="1" lang="en-US" sz="2000" spc="-1" strike="noStrike">
                <a:solidFill>
                  <a:srgbClr val="ffff00"/>
                </a:solidFill>
                <a:latin typeface="Times New Roman"/>
                <a:ea typeface="Noto Sans CJK SC"/>
              </a:rPr>
              <a:t>DIMATTEO, M. R., HASKARD-ZOLNIEREK, K. B., &amp; MARTIN, L. R. (2012). IMPROVING PATIENT ADHERENCE: A THREE-FACTOR MODEL TO GUIDE PRACTICE. </a:t>
            </a:r>
            <a:r>
              <a:rPr b="1" i="1" lang="en-US" sz="2000" spc="-1" strike="noStrike">
                <a:solidFill>
                  <a:srgbClr val="ffff00"/>
                </a:solidFill>
                <a:latin typeface="Times New Roman"/>
                <a:ea typeface="Noto Sans CJK SC"/>
              </a:rPr>
              <a:t>HEALTH PSYCHOLOGY REVIEW</a:t>
            </a:r>
            <a:r>
              <a:rPr b="1" lang="en-US" sz="2000" spc="-1" strike="noStrike">
                <a:solidFill>
                  <a:srgbClr val="ffff00"/>
                </a:solidFill>
                <a:latin typeface="Times New Roman"/>
                <a:ea typeface="Noto Sans CJK SC"/>
              </a:rPr>
              <a:t>, </a:t>
            </a:r>
            <a:r>
              <a:rPr b="1" i="1" lang="en-US" sz="2000" spc="-1" strike="noStrike">
                <a:solidFill>
                  <a:srgbClr val="ffff00"/>
                </a:solidFill>
                <a:latin typeface="Times New Roman"/>
                <a:ea typeface="Noto Sans CJK SC"/>
              </a:rPr>
              <a:t>6</a:t>
            </a:r>
            <a:r>
              <a:rPr b="1" lang="en-US" sz="2000" spc="-1" strike="noStrike">
                <a:solidFill>
                  <a:srgbClr val="ffff00"/>
                </a:solidFill>
                <a:latin typeface="Times New Roman"/>
                <a:ea typeface="Noto Sans CJK SC"/>
              </a:rPr>
              <a:t>(1), 74–91.</a:t>
            </a:r>
            <a:endParaRPr b="1" lang="en-US" sz="2000" spc="-1" strike="noStrike">
              <a:solidFill>
                <a:srgbClr val="ffffff"/>
              </a:solidFill>
              <a:latin typeface="Arial"/>
            </a:endParaRPr>
          </a:p>
          <a:p>
            <a:pPr algn="just" defTabSz="914400">
              <a:lnSpc>
                <a:spcPct val="150000"/>
              </a:lnSpc>
            </a:pPr>
            <a:r>
              <a:rPr b="1" lang="en-US" sz="2000" spc="-1" strike="noStrike">
                <a:solidFill>
                  <a:srgbClr val="ffff00"/>
                </a:solidFill>
                <a:latin typeface="Times New Roman"/>
                <a:ea typeface="Noto Sans CJK SC"/>
              </a:rPr>
              <a:t> </a:t>
            </a:r>
            <a:endParaRPr b="1" lang="en-US" sz="2000" spc="-1" strike="noStrike">
              <a:solidFill>
                <a:srgbClr val="ffffff"/>
              </a:solidFill>
              <a:latin typeface="Arial"/>
            </a:endParaRPr>
          </a:p>
          <a:p>
            <a:pPr algn="just" defTabSz="914400">
              <a:lnSpc>
                <a:spcPct val="150000"/>
              </a:lnSpc>
            </a:pPr>
            <a:r>
              <a:rPr b="1" lang="en-US" sz="2000" spc="-1" strike="noStrike">
                <a:solidFill>
                  <a:srgbClr val="ffff00"/>
                </a:solidFill>
                <a:latin typeface="Times New Roman"/>
                <a:ea typeface="Noto Sans CJK SC"/>
              </a:rPr>
              <a:t>3. CHRISTENSEN K, DOBLHAMMER G, RAU R, VAUPEL JW. AGEING POPULATIONS: THE CHALLENGES AHEAD. LANCET. 2019;374:1196–208.</a:t>
            </a:r>
            <a:endParaRPr b="1" lang="en-US" sz="2000" spc="-1" strike="noStrike">
              <a:solidFill>
                <a:srgbClr val="ffffff"/>
              </a:solidFill>
              <a:latin typeface="Arial"/>
            </a:endParaRPr>
          </a:p>
        </p:txBody>
      </p:sp>
    </p:spTree>
  </p:cSld>
  <mc:AlternateContent>
    <mc:Choice Requires="p14">
      <p:transition advTm="0" p14:dur="10"/>
    </mc:Choice>
    <mc:Fallback>
      <p:transition advTm="0"/>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Num" idx="52"/>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000" spc="-1" strike="noStrike">
                <a:solidFill>
                  <a:srgbClr val="ffff00"/>
                </a:solidFill>
                <a:latin typeface="Arial Black"/>
              </a:defRPr>
            </a:lvl1pPr>
          </a:lstStyle>
          <a:p>
            <a:pPr indent="0" algn="r" defTabSz="914400">
              <a:lnSpc>
                <a:spcPct val="100000"/>
              </a:lnSpc>
              <a:buNone/>
              <a:tabLst>
                <a:tab algn="l" pos="0"/>
              </a:tabLst>
            </a:pPr>
            <a:r>
              <a:rPr b="0" lang="en-US" sz="2000" spc="-1" strike="noStrike">
                <a:solidFill>
                  <a:srgbClr val="ffff00"/>
                </a:solidFill>
                <a:latin typeface="Arial Black"/>
              </a:rPr>
              <a:t>22</a:t>
            </a:r>
            <a:endParaRPr b="0" lang="en-US" sz="2000" spc="-1" strike="noStrike">
              <a:solidFill>
                <a:srgbClr val="ffffff"/>
              </a:solidFill>
              <a:latin typeface="Times New Roman"/>
            </a:endParaRPr>
          </a:p>
        </p:txBody>
      </p:sp>
      <p:pic>
        <p:nvPicPr>
          <p:cNvPr id="163" name="Picture 4" descr="H:\CRAB\NN Logo.gif"/>
          <p:cNvPicPr/>
          <p:nvPr/>
        </p:nvPicPr>
        <p:blipFill>
          <a:blip r:embed="rId1"/>
          <a:stretch/>
        </p:blipFill>
        <p:spPr>
          <a:xfrm>
            <a:off x="98280" y="80640"/>
            <a:ext cx="849240" cy="808200"/>
          </a:xfrm>
          <a:prstGeom prst="rect">
            <a:avLst/>
          </a:prstGeom>
          <a:ln w="0">
            <a:noFill/>
          </a:ln>
        </p:spPr>
      </p:pic>
      <p:pic>
        <p:nvPicPr>
          <p:cNvPr id="164" name="Picture 3" descr=""/>
          <p:cNvPicPr/>
          <p:nvPr/>
        </p:nvPicPr>
        <p:blipFill>
          <a:blip r:embed="rId2"/>
          <a:stretch/>
        </p:blipFill>
        <p:spPr>
          <a:xfrm>
            <a:off x="11225520" y="80640"/>
            <a:ext cx="849240" cy="808200"/>
          </a:xfrm>
          <a:prstGeom prst="rect">
            <a:avLst/>
          </a:prstGeom>
          <a:ln w="0">
            <a:noFill/>
          </a:ln>
        </p:spPr>
      </p:pic>
      <p:sp>
        <p:nvSpPr>
          <p:cNvPr id="165" name="Rectangle 4"/>
          <p:cNvSpPr/>
          <p:nvPr/>
        </p:nvSpPr>
        <p:spPr>
          <a:xfrm>
            <a:off x="1314000" y="343080"/>
            <a:ext cx="9657000" cy="4204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endParaRPr b="0" lang="en-US" sz="5400" spc="-1" strike="noStrike">
              <a:solidFill>
                <a:srgbClr val="ffffff"/>
              </a:solidFill>
              <a:latin typeface="Arial"/>
            </a:endParaRPr>
          </a:p>
          <a:p>
            <a:pPr algn="ctr" defTabSz="914400">
              <a:lnSpc>
                <a:spcPct val="100000"/>
              </a:lnSpc>
            </a:pPr>
            <a:endParaRPr b="0" lang="en-US" sz="5400" spc="-1" strike="noStrike">
              <a:solidFill>
                <a:srgbClr val="ffffff"/>
              </a:solidFill>
              <a:latin typeface="Arial"/>
            </a:endParaRPr>
          </a:p>
          <a:p>
            <a:pPr algn="ctr" defTabSz="914400">
              <a:lnSpc>
                <a:spcPct val="100000"/>
              </a:lnSpc>
            </a:pPr>
            <a:r>
              <a:rPr b="1" lang="en-US" sz="5400" spc="-1" strike="noStrike">
                <a:solidFill>
                  <a:srgbClr val="ffff00"/>
                </a:solidFill>
                <a:latin typeface="Arial Black"/>
              </a:rPr>
              <a:t>THANK YOU FOR YOUR RAPT ATTENTION</a:t>
            </a:r>
            <a:endParaRPr b="0" lang="en-US" sz="5400" spc="-1" strike="noStrike">
              <a:solidFill>
                <a:srgbClr val="ffffff"/>
              </a:solidFill>
              <a:latin typeface="Arial"/>
            </a:endParaRPr>
          </a:p>
          <a:p>
            <a:pPr algn="ctr" defTabSz="914400">
              <a:lnSpc>
                <a:spcPct val="100000"/>
              </a:lnSpc>
            </a:pPr>
            <a:endParaRPr b="0" lang="en-US" sz="5400" spc="-1" strike="noStrike">
              <a:solidFill>
                <a:srgbClr val="ffffff"/>
              </a:solidFill>
              <a:latin typeface="Arial"/>
            </a:endParaRPr>
          </a:p>
        </p:txBody>
      </p:sp>
      <p:sp>
        <p:nvSpPr>
          <p:cNvPr id="166" name="Rectangle 5"/>
          <p:cNvSpPr/>
          <p:nvPr/>
        </p:nvSpPr>
        <p:spPr>
          <a:xfrm>
            <a:off x="507276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67" name="Rectangle 6"/>
          <p:cNvSpPr/>
          <p:nvPr/>
        </p:nvSpPr>
        <p:spPr>
          <a:xfrm>
            <a:off x="5195160" y="63565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nodeType="clickEffect" fill="hold" presetClass="entr" presetID="2" presetSubtype="4">
                                  <p:stCondLst>
                                    <p:cond delay="0"/>
                                  </p:stCondLst>
                                  <p:childTnLst>
                                    <p:set>
                                      <p:cBhvr>
                                        <p:cTn id="106" dur="1" fill="hold">
                                          <p:stCondLst>
                                            <p:cond delay="0"/>
                                          </p:stCondLst>
                                        </p:cTn>
                                        <p:tgtEl>
                                          <p:spTgt spid="165">
                                            <p:txEl>
                                              <p:pRg st="2" end="2"/>
                                            </p:txEl>
                                          </p:spTgt>
                                        </p:tgtEl>
                                        <p:attrNameLst>
                                          <p:attrName>style.visibility</p:attrName>
                                        </p:attrNameLst>
                                      </p:cBhvr>
                                      <p:to>
                                        <p:strVal val="visible"/>
                                      </p:to>
                                    </p:set>
                                    <p:anim calcmode="lin" valueType="num">
                                      <p:cBhvr additive="repl">
                                        <p:cTn id="107" dur="500" fill="hold"/>
                                        <p:tgtEl>
                                          <p:spTgt spid="165">
                                            <p:txEl>
                                              <p:pRg st="2" end="2"/>
                                            </p:txEl>
                                          </p:spTgt>
                                        </p:tgtEl>
                                        <p:attrNameLst>
                                          <p:attrName>ppt_x</p:attrName>
                                        </p:attrNameLst>
                                      </p:cBhvr>
                                      <p:tavLst>
                                        <p:tav tm="0">
                                          <p:val>
                                            <p:strVal val="#ppt_x"/>
                                          </p:val>
                                        </p:tav>
                                        <p:tav tm="100000">
                                          <p:val>
                                            <p:strVal val="#ppt_x"/>
                                          </p:val>
                                        </p:tav>
                                      </p:tavLst>
                                    </p:anim>
                                    <p:anim calcmode="lin" valueType="num">
                                      <p:cBhvr additive="repl">
                                        <p:cTn id="108" dur="500" fill="hold"/>
                                        <p:tgtEl>
                                          <p:spTgt spid="16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4670</TotalTime>
  <Application>LibreOffice/24.2.7.2$Linux_X86_64 LibreOffice_project/420$Build-2</Application>
  <AppVersion>15.0000</AppVersion>
  <Words>735</Words>
  <Paragraphs>144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2019-07-10T09:19:54Z</dcterms:created>
  <dc:creator>patty</dc:creator>
  <dc:description/>
  <dc:language>en-US</dc:language>
  <cp:lastModifiedBy/>
  <dcterms:modified xsi:type="dcterms:W3CDTF">2024-12-12T05:16:00Z</dcterms:modified>
  <cp:revision>846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1</vt:i4>
  </property>
  <property fmtid="{D5CDD505-2E9C-101B-9397-08002B2CF9AE}" pid="4" name="PresentationFormat">
    <vt:lpwstr>Widescreen</vt:lpwstr>
  </property>
  <property fmtid="{D5CDD505-2E9C-101B-9397-08002B2CF9AE}" pid="5" name="Slides">
    <vt:i4>16</vt:i4>
  </property>
</Properties>
</file>