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gif" ContentType="image/gif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 to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ste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titl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3712B-45C8-4732-930B-AC5F47426A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AA0C80-2995-4644-B2AD-FD8F3D84C6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F07D19-6BCA-4F55-85A9-6CB0675F49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4EB84-CB75-476C-9B5E-DEC28BBCDA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2BE72-D8AF-4A52-9A7F-4FD2AE2C9E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995A78-09ED-4866-9398-FA909DA21C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AD20DE-D52F-419E-847E-F3BDC0C6CF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9973B4-FB0F-4266-B501-F416E1CB32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C95E2C-284A-495E-84A3-B5B37492BA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357188-008A-4192-A322-12F1F4A98C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4E5BA1-8F24-48F5-AA4B-A9E74B566F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7"/>
          <p:cNvSpPr/>
          <p:nvPr/>
        </p:nvSpPr>
        <p:spPr>
          <a:xfrm>
            <a:off x="-59040" y="865080"/>
            <a:ext cx="12191760" cy="54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1" lang="en-US" sz="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MANAGEMENT OF OESTEOARTHRITIS</a:t>
            </a:r>
            <a:endParaRPr b="1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BY </a:t>
            </a:r>
            <a:br>
              <a:rPr sz="2400"/>
            </a:b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SMMA AMOKE KC</a:t>
            </a:r>
            <a:endParaRPr b="1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M6369</a:t>
            </a:r>
            <a:endParaRPr b="1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1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DEPARTMENT OF PHARMACY TECHNICIAN </a:t>
            </a:r>
            <a:br>
              <a:rPr sz="2400"/>
            </a:b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NIGERIAN NAVY COLLEGE OF HEALTH SCIENCES OFFA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KWARA STATE       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1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JUN 25</a:t>
            </a:r>
            <a:br>
              <a:rPr sz="2000"/>
            </a:b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1729800" y="356400"/>
            <a:ext cx="8179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PROJECT DEFENCE PRESENTATION 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"/>
          <p:cNvSpPr/>
          <p:nvPr/>
        </p:nvSpPr>
        <p:spPr>
          <a:xfrm>
            <a:off x="5151960" y="254448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5151960" y="254448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8D7F07-55BE-44CD-BA77-FE8B630E642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4239720" y="2820960"/>
            <a:ext cx="42030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INTRODUCTION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0D0E59-DFD7-4527-9490-DA76C77D7DF7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5436720" y="325800"/>
            <a:ext cx="11588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AIM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64080" y="972000"/>
            <a:ext cx="1212732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/>
            <a:endParaRPr b="1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/>
            <a:endParaRPr b="1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/>
            <a:endParaRPr b="1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/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THE AIM OF THIS SEMINAR IS TO DISCUSS THE MANAGEMENT OF OESTEOARTHRITIS WITH A VIEW TO MAKING RECOMMENDATIONS.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F3047A-3B09-48DE-AC8B-B36EB34D0933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5052240" y="325800"/>
            <a:ext cx="1928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SCOPE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"/>
          <p:cNvSpPr/>
          <p:nvPr/>
        </p:nvSpPr>
        <p:spPr>
          <a:xfrm>
            <a:off x="112320" y="1064160"/>
            <a:ext cx="1219176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1. DEFINITION OF TERMS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2. EPIDEMIOLOGY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3. PATHOPHYSIOLOGY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4. CAUSES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5. RISK FACTORS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6. SYMPTOMS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7. DIAGNOSIS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  <a:ea typeface="Noto Sans CJK SC"/>
              </a:rPr>
              <a:t>8. MANAGEMENT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	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B0E4BD-A7BC-409C-AA2A-5E4FA01057B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5"/>
          <p:cNvSpPr/>
          <p:nvPr/>
        </p:nvSpPr>
        <p:spPr>
          <a:xfrm>
            <a:off x="5141520" y="2088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3521160" y="182880"/>
            <a:ext cx="5276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DEFINITION OF TERMS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112320" y="986040"/>
            <a:ext cx="11923920" cy="60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1.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OSTEOARTHRITIS (OA)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2.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CARTILAGE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3.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SYNOVIAL FLUID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4.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OSTEOPHYTES (BONE SPURS)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5.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CREPITUS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6.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SUBCHONDRAL BONE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7. 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	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el Black"/>
                <a:ea typeface="Noto Sans CJK SC"/>
              </a:rPr>
              <a:t>DEGENERATION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	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65BC8-CE99-43F7-9E40-9ABBBC513C3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5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4257000" y="86400"/>
            <a:ext cx="3803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EPIDEMIOLOGY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"/>
          <p:cNvSpPr/>
          <p:nvPr/>
        </p:nvSpPr>
        <p:spPr>
          <a:xfrm>
            <a:off x="111600" y="1485720"/>
            <a:ext cx="121917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200000"/>
              </a:lnSpc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.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46800" y="875880"/>
            <a:ext cx="1219176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THE OBJECTIVES OF THE STUDY ARE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63B056-1E75-4468-9379-CDD61DF1611D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3841560" y="93600"/>
            <a:ext cx="4636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PATHOPHYSIOLOGY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36000" y="1001880"/>
            <a:ext cx="12036240" cy="51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7C929F-589D-41D3-8A4A-FEA427F320A0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7"/>
          <p:cNvSpPr/>
          <p:nvPr/>
        </p:nvSpPr>
        <p:spPr>
          <a:xfrm>
            <a:off x="5211000" y="182880"/>
            <a:ext cx="189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CAUSES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2"/>
          <p:cNvSpPr/>
          <p:nvPr/>
        </p:nvSpPr>
        <p:spPr>
          <a:xfrm>
            <a:off x="112320" y="1104120"/>
            <a:ext cx="12079440" cy="17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E1914A-6259-442B-9098-43D8364D877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4487760" y="182880"/>
            <a:ext cx="3342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RISK FACTORS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25200" y="809640"/>
            <a:ext cx="1207944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A78A09-D99C-40A3-B6FA-05C9C7FF4A78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36000" y="929880"/>
            <a:ext cx="1203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ffff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3471120" y="45360"/>
            <a:ext cx="5376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SIGNS AND SYMPTOMS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Num" idx="4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A13558-F922-45C8-9824-49B8E97C9C52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Picture 1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2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1"/>
          <p:cNvSpPr/>
          <p:nvPr/>
        </p:nvSpPr>
        <p:spPr>
          <a:xfrm>
            <a:off x="5289480" y="0"/>
            <a:ext cx="152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5442480" y="6462000"/>
            <a:ext cx="152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36000" y="929880"/>
            <a:ext cx="1203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ffff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9"/>
          <p:cNvSpPr/>
          <p:nvPr/>
        </p:nvSpPr>
        <p:spPr>
          <a:xfrm>
            <a:off x="4786920" y="45360"/>
            <a:ext cx="2745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DIAGNOSIS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F9CE38-0D2F-4352-83B4-592D6F58D016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Picture 3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5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10"/>
          <p:cNvSpPr/>
          <p:nvPr/>
        </p:nvSpPr>
        <p:spPr>
          <a:xfrm>
            <a:off x="5289480" y="0"/>
            <a:ext cx="152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1"/>
          <p:cNvSpPr/>
          <p:nvPr/>
        </p:nvSpPr>
        <p:spPr>
          <a:xfrm>
            <a:off x="5442480" y="6462000"/>
            <a:ext cx="152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2"/>
          <p:cNvSpPr/>
          <p:nvPr/>
        </p:nvSpPr>
        <p:spPr>
          <a:xfrm>
            <a:off x="36000" y="929880"/>
            <a:ext cx="1203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ffff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3"/>
          <p:cNvSpPr/>
          <p:nvPr/>
        </p:nvSpPr>
        <p:spPr>
          <a:xfrm>
            <a:off x="4402440" y="45360"/>
            <a:ext cx="3515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MANAGEMENT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E3456B-2DC0-40A7-8564-9B3CED8E4AF1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7"/>
          <p:cNvSpPr/>
          <p:nvPr/>
        </p:nvSpPr>
        <p:spPr>
          <a:xfrm>
            <a:off x="4278240" y="2793240"/>
            <a:ext cx="36349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CONCLUSION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34900F-85C8-45B4-8CCA-E5F9916F25B4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1" name="Picture 4" descr="H:\CRAB\NN Logo.gif"/>
          <p:cNvPicPr/>
          <p:nvPr/>
        </p:nvPicPr>
        <p:blipFill>
          <a:blip r:embed="rId1"/>
          <a:stretch/>
        </p:blipFill>
        <p:spPr>
          <a:xfrm>
            <a:off x="64080" y="-1620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4" descr=""/>
          <p:cNvPicPr/>
          <p:nvPr/>
        </p:nvPicPr>
        <p:blipFill>
          <a:blip r:embed="rId2"/>
          <a:stretch/>
        </p:blipFill>
        <p:spPr>
          <a:xfrm>
            <a:off x="11186280" y="-1620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7"/>
          <p:cNvSpPr/>
          <p:nvPr/>
        </p:nvSpPr>
        <p:spPr>
          <a:xfrm>
            <a:off x="3334680" y="93600"/>
            <a:ext cx="564696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RECOMMENDATIONS 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36000" y="881640"/>
            <a:ext cx="12036240" cy="39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166958-B5B9-4A89-91C3-831E7CEE1115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7"/>
          <p:cNvSpPr/>
          <p:nvPr/>
        </p:nvSpPr>
        <p:spPr>
          <a:xfrm>
            <a:off x="4347720" y="182880"/>
            <a:ext cx="36212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sng">
                <a:solidFill>
                  <a:srgbClr val="ffff00"/>
                </a:solidFill>
                <a:effectLst/>
                <a:uFillTx/>
                <a:latin typeface="Arial Black"/>
              </a:rPr>
              <a:t>REFERENCES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2"/>
          <p:cNvSpPr/>
          <p:nvPr/>
        </p:nvSpPr>
        <p:spPr>
          <a:xfrm>
            <a:off x="36360" y="838080"/>
            <a:ext cx="11951640" cy="54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spcAft>
                <a:spcPts val="799"/>
              </a:spcAf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619FF8-DFEB-4E76-AE6D-0871AFFDA32B}" type="slidenum"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&lt;number&gt;</a:t>
            </a:fld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Picture 4" descr="H:\CRAB\NN Logo.gif"/>
          <p:cNvPicPr/>
          <p:nvPr/>
        </p:nvPicPr>
        <p:blipFill>
          <a:blip r:embed="rId1"/>
          <a:stretch/>
        </p:blipFill>
        <p:spPr>
          <a:xfrm>
            <a:off x="11232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4" descr=""/>
          <p:cNvPicPr/>
          <p:nvPr/>
        </p:nvPicPr>
        <p:blipFill>
          <a:blip r:embed="rId2"/>
          <a:stretch/>
        </p:blipFill>
        <p:spPr>
          <a:xfrm>
            <a:off x="11186280" y="152280"/>
            <a:ext cx="849960" cy="8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Rectangle 5"/>
          <p:cNvSpPr/>
          <p:nvPr/>
        </p:nvSpPr>
        <p:spPr>
          <a:xfrm>
            <a:off x="5141520" y="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6"/>
          <p:cNvSpPr/>
          <p:nvPr/>
        </p:nvSpPr>
        <p:spPr>
          <a:xfrm>
            <a:off x="5294520" y="6462000"/>
            <a:ext cx="1825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RESTRICTED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7"/>
          <p:cNvSpPr/>
          <p:nvPr/>
        </p:nvSpPr>
        <p:spPr>
          <a:xfrm>
            <a:off x="658080" y="2578680"/>
            <a:ext cx="107924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Arial Black"/>
              </a:rPr>
              <a:t>THANK YOU FOR YOUR RAPT ATTENTION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advTm="0" p14:dur="10"/>
    </mc:Choice>
    <mc:Fallback>
      <p:transition advTm="0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2622</TotalTime>
  <Application>LibreOffice/25.2.4.3$Linux_X86_64 LibreOffice_project/520$Build-3</Application>
  <AppVersion>15.0000</AppVersion>
  <Words>1956</Words>
  <Paragraphs>374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2022-12-14T22:22:41Z</dcterms:created>
  <dc:creator>User</dc:creator>
  <dc:description/>
  <dc:language>en-US</dc:language>
  <cp:lastModifiedBy/>
  <dcterms:modified xsi:type="dcterms:W3CDTF">2025-06-24T18:27:59Z</dcterms:modified>
  <cp:revision>311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