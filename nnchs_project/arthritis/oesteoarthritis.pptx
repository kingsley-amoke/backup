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1.gif" ContentType="image/gif"/>
  <Override PartName="/ppt/media/image2.jpeg" ContentType="image/jpe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media/image11.png" ContentType="image/png"/>
  <Override PartName="/ppt/media/image12.jpeg" ContentType="image/jpeg"/>
  <Override PartName="/ppt/media/image8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4120" cy="82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4120" cy="36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9680" cy="82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9680" cy="36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AEC5D7-3C31-44B9-8F3B-813419BBF5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50B241-A08A-4140-A316-5125E2608A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2F3873-7C37-4389-A64C-775CD68DDD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8680" cy="159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600" cy="487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8680" cy="38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7E9777-0370-42B4-A5A9-72B3E9D540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8680" cy="159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600" cy="487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8680" cy="38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B49EE0-45F4-4782-8A98-40B4219D2E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400" cy="23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EE8387-2F89-4543-90A4-7FDFC6807E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000" cy="43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9F3E3F-BD2A-4E47-9E46-C242101978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5480" cy="58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0640" cy="58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ED3909-D499-4D72-A018-93785F44F9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000" cy="43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F727D-E16C-439B-8D20-5B1066E391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000" cy="28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000" cy="149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769B21-FE57-4320-A31C-CBB24DE611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7880" cy="43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7880" cy="43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F8B5EA-C8E6-4594-9D96-EBE06371A5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gif"/><Relationship Id="rId3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gif"/><Relationship Id="rId3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7"/>
          <p:cNvSpPr/>
          <p:nvPr/>
        </p:nvSpPr>
        <p:spPr>
          <a:xfrm>
            <a:off x="-59040" y="865080"/>
            <a:ext cx="121885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MANAGEMENT OF OESTEOARTHRITIS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BY 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SMMA AMOKE KC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M6369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DEPARTMENT OF PHARMACY TECHNICIAN </a:t>
            </a: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NIGERIAN NAVY COLLEGE OF HEALTH SCIENCES OFFA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KWARA STATE     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JUN 25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1729800" y="356400"/>
            <a:ext cx="8176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SEMINAR PRESENTATION 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"/>
          <p:cNvSpPr/>
          <p:nvPr/>
        </p:nvSpPr>
        <p:spPr>
          <a:xfrm>
            <a:off x="5151960" y="2544480"/>
            <a:ext cx="1825200" cy="18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3203280" y="2517480"/>
            <a:ext cx="1825200" cy="18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F14FC9-4086-47FB-8E0B-0C6580050E21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4239720" y="2820960"/>
            <a:ext cx="41997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INTRODUCTION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901D10-7722-4795-8C0E-959E88962DE4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Picture 2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2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58"/>
          <p:cNvSpPr/>
          <p:nvPr/>
        </p:nvSpPr>
        <p:spPr>
          <a:xfrm>
            <a:off x="528876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59"/>
          <p:cNvSpPr/>
          <p:nvPr/>
        </p:nvSpPr>
        <p:spPr>
          <a:xfrm>
            <a:off x="544176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2667240" y="1143000"/>
            <a:ext cx="6932520" cy="460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EF852F-786B-4844-A949-83D7C7EAC6A1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0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5436720" y="325800"/>
            <a:ext cx="11556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AIM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64080" y="972000"/>
            <a:ext cx="121240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AIM OF THIS SEMINAR PRESENTATION  IS TO ACQUAINT THE AUDIENCE ON MANAGEMENT OF OSTEOARTHRITIS WITH A VIEW TO MAKING RECOMMENDATIONS.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A747FB-8D49-4F97-8661-3BDFFA38887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5052240" y="325800"/>
            <a:ext cx="19252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SCOPE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112320" y="1064160"/>
            <a:ext cx="121885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DEFINITION OF TERMS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EPIDEMIOLOGY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PATHOPHYSIOLOGY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CAUSES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SYMPTOMS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DIAGNOSIS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8. MANAGEMENT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25787B-8D01-4520-A666-44A0A3B50E5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Rectangle 5"/>
          <p:cNvSpPr/>
          <p:nvPr/>
        </p:nvSpPr>
        <p:spPr>
          <a:xfrm>
            <a:off x="5141520" y="2088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3521160" y="182880"/>
            <a:ext cx="5276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DEFINITION OF TERMS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8"/>
          <p:cNvSpPr/>
          <p:nvPr/>
        </p:nvSpPr>
        <p:spPr>
          <a:xfrm>
            <a:off x="112320" y="986040"/>
            <a:ext cx="11920680" cy="62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OSTEOARTHRITIS (OA)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CARTILAGE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SYNOVIAL FLUID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OSTEOPHYTES (BONE SPURS)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CREPITUS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6.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SUBCHONDRAL BONE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7.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DEGENERATION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Noto Sans CJK SC"/>
              </a:rPr>
              <a:t>	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03554E-3902-4892-9F06-9A7F437ECD1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4257000" y="86400"/>
            <a:ext cx="3803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EPIDEMIOLOGY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154440" y="1143000"/>
            <a:ext cx="1218852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AS OF 2019, THE GLOBAL CASES OF THE KNEE AND HIP OA WERE APPROXIMATELY 364.6 MILLION AND 33 MILLION, RESPECTIVELY, WITH AN ESTIMATED ANNUAL INCREASE RATE OF 0.3% FOR BOTH TYPES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OVERALL PREVALENCE OF OSTEOARTHRITIS IN NIGERIA WAS LOWER THAN THE GLOBAL AVERAGE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ESTIMATED INCREASE IN CASES OF OA IN  NIGERIA FROM 1999 TO 2019 WAS BETWEEN 100 AND 150%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B8CF9A-0D66-4F2C-9E41-BBBE054C1679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3781440" y="93600"/>
            <a:ext cx="47563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36000" y="1145520"/>
            <a:ext cx="12033000" cy="50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IN HEALTHY JOINTS, TWO BONES ARTICULATE WITH ONE ANOTHER SEPARATED BY SHOCK-ABSORBING CARTILAGE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WHEN JOINTS ARE SUBJECTED TO LARGE LOADS OR IMPACT, THE CARTILAGE AND BONE MAY BE DAMAGED.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NUMEROUS REPAIR MECHANISMS ATTEMPT TO RESTORE NORMAL FUNCTION WITHIN THE DAMAGED JOINT TO ENSURE THE JOINT CONTINUES TO DISSIPATE LOAD CORRECTLY.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81DC45-0CD8-4BAE-8C5C-C2CD6A30044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Picture 2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2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angle 54"/>
          <p:cNvSpPr/>
          <p:nvPr/>
        </p:nvSpPr>
        <p:spPr>
          <a:xfrm>
            <a:off x="528876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5"/>
          <p:cNvSpPr/>
          <p:nvPr/>
        </p:nvSpPr>
        <p:spPr>
          <a:xfrm>
            <a:off x="544176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6"/>
          <p:cNvSpPr/>
          <p:nvPr/>
        </p:nvSpPr>
        <p:spPr>
          <a:xfrm>
            <a:off x="2819520" y="93600"/>
            <a:ext cx="6681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57"/>
          <p:cNvSpPr/>
          <p:nvPr/>
        </p:nvSpPr>
        <p:spPr>
          <a:xfrm>
            <a:off x="36000" y="1001880"/>
            <a:ext cx="6821280" cy="49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THIS RESULTS IN A CYCLE OF BIOMECHANICAL AND BIOCHEMICAL DEGENERATION, WHERE THE SHOCK-ABSORBING CARTILAGE IS PROGRESSIVELY DESTROYED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THIS EXPOSES THE BONE TO GREATER LOAD AND LEADING TO BONE DAMAGE (BONE MARROW LESIONS)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6966720" y="1143000"/>
            <a:ext cx="4691160" cy="42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8B4E28-5F4A-46E0-AA6E-7EE05561403A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Picture 3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3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78"/>
          <p:cNvSpPr/>
          <p:nvPr/>
        </p:nvSpPr>
        <p:spPr>
          <a:xfrm>
            <a:off x="5288400" y="0"/>
            <a:ext cx="15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79"/>
          <p:cNvSpPr/>
          <p:nvPr/>
        </p:nvSpPr>
        <p:spPr>
          <a:xfrm>
            <a:off x="5441400" y="6462000"/>
            <a:ext cx="15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80"/>
          <p:cNvSpPr/>
          <p:nvPr/>
        </p:nvSpPr>
        <p:spPr>
          <a:xfrm>
            <a:off x="2820240" y="93600"/>
            <a:ext cx="6681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81"/>
          <p:cNvSpPr/>
          <p:nvPr/>
        </p:nvSpPr>
        <p:spPr>
          <a:xfrm>
            <a:off x="36000" y="1145520"/>
            <a:ext cx="1203300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1878120" y="1371600"/>
            <a:ext cx="8179560" cy="42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Num" idx="4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129F4A-D16F-42B1-A4FB-F4FD25414E0F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5211000" y="182880"/>
            <a:ext cx="189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CAUSES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112320" y="1104120"/>
            <a:ext cx="120762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OSTEOARTHRITIS CAN AFFECT WEIGHT-BEARING AND NON-WEIGHT-BEARING JOINTS, AND MAY INVOLVE SINGLE OR MULTIPLE JOINTS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THE EXACT ETIOLOGY OF OSTEOARTHRITIS IS UNKNOWN HOWEVER THERE ARE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B6512D-D5D3-47DD-B0DA-B7965117ACEA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4487760" y="182880"/>
            <a:ext cx="3342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RISK FACTORS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38160" y="1144800"/>
            <a:ext cx="1207620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TRAUMA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OCCUPATION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EXERCISE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GENDER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GENETICS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OVERWEIGHT AND OBESITY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8. DIET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9. BONE DENSITY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E7DADA-3701-4DC3-956F-2E6EE3484C1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36000" y="1143000"/>
            <a:ext cx="1203300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PAIN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STIFFNESS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TENDERNESS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LOSS OF FLEXIBILITY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GRATING SENSATION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BONE SPURS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SWELLING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3471120" y="45360"/>
            <a:ext cx="5376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SIGNS AND SYMPTOMS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72"/>
          <p:cNvSpPr/>
          <p:nvPr/>
        </p:nvSpPr>
        <p:spPr>
          <a:xfrm>
            <a:off x="5257800" y="5259240"/>
            <a:ext cx="6628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AN IMAGE SHOWING THE SIGNS AND SYMPTOMS OF OA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6400800" y="1143000"/>
            <a:ext cx="4919760" cy="38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7F235-9AA8-4959-AE23-DCD40CCF160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Picture 1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2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ectangle 1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36000" y="929880"/>
            <a:ext cx="1203300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DIAGNOSIS OF OSTEOARTHRITIS IS BASED ON SEVERAL FACTORS SUCH AS: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HISTORY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SYMPTOMS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LABORATORY TESTS TO RULE OUT OTHER DISEASES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IMAGING TESTS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9"/>
          <p:cNvSpPr/>
          <p:nvPr/>
        </p:nvSpPr>
        <p:spPr>
          <a:xfrm>
            <a:off x="4786920" y="45360"/>
            <a:ext cx="2745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DIAGNOSIS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2"/>
          <p:cNvSpPr/>
          <p:nvPr/>
        </p:nvSpPr>
        <p:spPr>
          <a:xfrm>
            <a:off x="0" y="1371600"/>
            <a:ext cx="1203300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OSTEOARTHRITIS IS MANAGED SYMPTOMATICALLY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THERE IS NO PHARMACOLOGICAL AGENT CAPABLE OF RETARDING THE PROGRESSION OF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TREATMENT IS FOCUSED ON RELIEF OF PAIN,  MAINTENANCE OF QUALITY OF LIFE, AND PRESERVATION OF FUNCTIONAL INDEPENDENCE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MANAGEMENT OF OA IS DIVIDED INTO NON PHARMACOLOGICAL, PHARMACOLOGICAL AND SURGICAL PROCEDURES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F14759-EB9D-4303-BBF2-5D86825404C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" name="Picture 3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1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3"/>
          <p:cNvSpPr/>
          <p:nvPr/>
        </p:nvSpPr>
        <p:spPr>
          <a:xfrm>
            <a:off x="4402440" y="45360"/>
            <a:ext cx="3515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D307A7-EA72-4CAB-B04B-A2BCC40616F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Picture 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1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1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6"/>
          <p:cNvSpPr/>
          <p:nvPr/>
        </p:nvSpPr>
        <p:spPr>
          <a:xfrm>
            <a:off x="81360" y="1371600"/>
            <a:ext cx="120330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WEIGHT MANAGEMENT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EXERCISE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MASSAGE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HEAT AND COLD THERAPY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PATIENT EDUCATION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7"/>
          <p:cNvSpPr/>
          <p:nvPr/>
        </p:nvSpPr>
        <p:spPr>
          <a:xfrm>
            <a:off x="1410840" y="45360"/>
            <a:ext cx="9502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NON-PHARMACOLOGICAL 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 idx="4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610512-CADD-4A22-89A9-4E9FD415661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5" name="Picture 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1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0"/>
          <p:cNvSpPr/>
          <p:nvPr/>
        </p:nvSpPr>
        <p:spPr>
          <a:xfrm>
            <a:off x="80640" y="1168200"/>
            <a:ext cx="120330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ACETAMINOPHEN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NON-STEROIDAL ANTI-INFLAMMATORY AGENTS (NSAIDS)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 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1"/>
          <p:cNvSpPr/>
          <p:nvPr/>
        </p:nvSpPr>
        <p:spPr>
          <a:xfrm>
            <a:off x="2035800" y="45360"/>
            <a:ext cx="8251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453DDA-2AE3-4560-BB0C-5B30E368785F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" name="Picture 1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1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Rectangle 22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24"/>
          <p:cNvSpPr/>
          <p:nvPr/>
        </p:nvSpPr>
        <p:spPr>
          <a:xfrm>
            <a:off x="36000" y="929880"/>
            <a:ext cx="1203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ACETAMINOPHEN (PARACETAMOL)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5"/>
          <p:cNvSpPr/>
          <p:nvPr/>
        </p:nvSpPr>
        <p:spPr>
          <a:xfrm>
            <a:off x="904680" y="1728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3"/>
          <a:stretch/>
        </p:blipFill>
        <p:spPr>
          <a:xfrm>
            <a:off x="685800" y="1828800"/>
            <a:ext cx="10971360" cy="434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261B0D-BEA0-4827-9578-6561C989B092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Picture 18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19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Rectangle 3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40"/>
          <p:cNvSpPr/>
          <p:nvPr/>
        </p:nvSpPr>
        <p:spPr>
          <a:xfrm>
            <a:off x="36000" y="929880"/>
            <a:ext cx="12033000" cy="45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 </a:t>
            </a: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ACETAMINOPHEN (PARACETAMOL)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THIS IS THE FIRST LINE OF DRUG THERAPY IN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MOA: ACETAMINOPHEN'S EXACT MECHANISM OF ACTION HAS NOT BEEN FULLY ESTABLISHED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HEPATOTOXICITY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DOSAGE: 3g-4g DAILY IN DIVIDED DOSES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41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Num" idx="5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DA90F2-109C-4268-9410-E8A52A75F9D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7" name="Picture 1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1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Rectangle 26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27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28"/>
          <p:cNvSpPr/>
          <p:nvPr/>
        </p:nvSpPr>
        <p:spPr>
          <a:xfrm>
            <a:off x="36000" y="929880"/>
            <a:ext cx="1203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NON-STEROIDAL ANTI-INFLAMMATORY AGENTS (NSAIDS)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29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3"/>
          <a:stretch/>
        </p:blipFill>
        <p:spPr>
          <a:xfrm>
            <a:off x="1828800" y="1828800"/>
            <a:ext cx="8914680" cy="38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85"/>
          <p:cNvSpPr/>
          <p:nvPr/>
        </p:nvSpPr>
        <p:spPr>
          <a:xfrm>
            <a:off x="2286000" y="5777640"/>
            <a:ext cx="9975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PACK OF DICLOFENAL INJECTIONS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D36688-9DB0-408B-ACF7-60D67F8F2B2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Picture 2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2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Rectangle 42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43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44"/>
          <p:cNvSpPr/>
          <p:nvPr/>
        </p:nvSpPr>
        <p:spPr>
          <a:xfrm>
            <a:off x="36000" y="929880"/>
            <a:ext cx="12033000" cy="45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 </a:t>
            </a: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NON-STEROIDAL ANTI-INFLAMMATORY AGENTS (NSAIDS)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EXAMPLES: IBUPROFEN, NAPROXEN, DICLOFENAC, CELECOXIB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MOA: THEY INHIBIT COX-1 AND COX-2 ENZYMES WHICH ARE INVOLVED IN PROSTAGLANDIN SYNTHESIS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SIDE EFFECTS: PEPTIC ULCER, NEPHROTOXICITY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CAUTION: CO-PRESCRIPTION OF PROTON PUMP INHIBITORS (PPIS) IS ADVISED FOR HIGH-RISK PATIENTS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5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A3F054-9B83-4403-9A6F-CE502532EA5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" name="Picture 1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1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3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3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32"/>
          <p:cNvSpPr/>
          <p:nvPr/>
        </p:nvSpPr>
        <p:spPr>
          <a:xfrm>
            <a:off x="36000" y="929880"/>
            <a:ext cx="1203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3"/>
          <a:stretch/>
        </p:blipFill>
        <p:spPr>
          <a:xfrm>
            <a:off x="1600200" y="1828800"/>
            <a:ext cx="9371160" cy="41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Rectangle 84"/>
          <p:cNvSpPr/>
          <p:nvPr/>
        </p:nvSpPr>
        <p:spPr>
          <a:xfrm>
            <a:off x="2971800" y="6006240"/>
            <a:ext cx="6400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AN ASPIRIN CREAM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Num" idx="5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9DB6B5-A92A-4C53-BFD7-F1E347FF16F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2" name="Picture 2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2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5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5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52"/>
          <p:cNvSpPr/>
          <p:nvPr/>
        </p:nvSpPr>
        <p:spPr>
          <a:xfrm>
            <a:off x="36000" y="929880"/>
            <a:ext cx="1203300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TOPICAL AGENTS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TOPICAL TREATMENTS ARE USEFUL FOR LOCALIZED OA PAIN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THEY ARE SAFER ALTERNATIVE FOR ELDERLY PATIENTS OR THOSE WITH SYSTEMIC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CAPSAICIN CREAM, DICLOFENAC GEL, ASPIRIN CREAMS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SKIN IRRITATION, BURNING SENSATION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5.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CAUTION: PREFERRED IN OLDER ADULTS OR THOSE WITH CONTRAINDICATIONS TO ORAL NSAIDS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5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Num" idx="56"/>
          </p:nvPr>
        </p:nvSpPr>
        <p:spPr>
          <a:xfrm>
            <a:off x="8915400" y="6400800"/>
            <a:ext cx="24346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39DECD-626E-4493-99BA-F56357D9F59C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9" name="Picture 1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1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Rectangle 3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3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36"/>
          <p:cNvSpPr/>
          <p:nvPr/>
        </p:nvSpPr>
        <p:spPr>
          <a:xfrm>
            <a:off x="36000" y="686880"/>
            <a:ext cx="1203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7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3"/>
          <a:stretch/>
        </p:blipFill>
        <p:spPr>
          <a:xfrm>
            <a:off x="2781720" y="1600200"/>
            <a:ext cx="7503840" cy="43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83"/>
          <p:cNvSpPr/>
          <p:nvPr/>
        </p:nvSpPr>
        <p:spPr>
          <a:xfrm>
            <a:off x="3053880" y="6006240"/>
            <a:ext cx="8375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BOTTLE OF CODEINE PHOSPHATE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082BBB-0982-4F54-B766-C7760568780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8" name="Picture 2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2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Rectangle 46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47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48"/>
          <p:cNvSpPr/>
          <p:nvPr/>
        </p:nvSpPr>
        <p:spPr>
          <a:xfrm>
            <a:off x="36000" y="929880"/>
            <a:ext cx="12033000" cy="50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OPIOID ANALGESICS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TRAMADOL, CODEINE, MORPHINE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MOA: BIND TO OPIOID RECEPTORS IN THE CENTRAL NERVOUS SYSTEM TO BLOCK PAIN SIGNALS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SIDE EFFECTS: CONSTIPATION, DEPENDENCE, ADDICTION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CAUTION: THEY SHOULD BE USED ONLY WHEN ABSOLUTELY NECESSARY, AT THE LOWEST EFFECTIVE DOSE AND FOR THE SHORTEST POSSIBLE DURATION, UNDER CLOSE SUPERVISION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49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Num" idx="5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9E78F2-0D29-4EA9-AFC0-8F8B9B9D17E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Picture 30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Picture 31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Rectangle 60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61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62"/>
          <p:cNvSpPr/>
          <p:nvPr/>
        </p:nvSpPr>
        <p:spPr>
          <a:xfrm>
            <a:off x="36000" y="929880"/>
            <a:ext cx="12033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63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3"/>
          <a:stretch/>
        </p:blipFill>
        <p:spPr>
          <a:xfrm>
            <a:off x="2514600" y="1828800"/>
            <a:ext cx="7314120" cy="41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Rectangle 82"/>
          <p:cNvSpPr/>
          <p:nvPr/>
        </p:nvSpPr>
        <p:spPr>
          <a:xfrm>
            <a:off x="1828800" y="5943600"/>
            <a:ext cx="9975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A VIAL OF METHYLPREDNISOLONE INJECTION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D79AA4-AA06-42C8-8F80-A3CD66949DC2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4" name="Picture 32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33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Rectangle 64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65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66"/>
          <p:cNvSpPr/>
          <p:nvPr/>
        </p:nvSpPr>
        <p:spPr>
          <a:xfrm>
            <a:off x="36000" y="929880"/>
            <a:ext cx="12033000" cy="45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EXAMPLES: METHYLPREDNISOLONE, HYDROCORTISOL, TRIAMCINOLONE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MOA: THE BIND TO INTRA-CELLULAR STEROID RECEPTORS TO BRING ABOUT ANTI-INFLAMMATORY AND IMMUNOSUSUPPRESIVEPPRESIVE EFFECT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SIDE EFFECTS: PAIN AT THE SITE OF INJECTION,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CAUTION: SHOULD NOT BE USED FOR IMMUNO-COMPROMISED PATIENTS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67"/>
          <p:cNvSpPr/>
          <p:nvPr/>
        </p:nvSpPr>
        <p:spPr>
          <a:xfrm>
            <a:off x="1013400" y="4536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Num" idx="60"/>
          </p:nvPr>
        </p:nvSpPr>
        <p:spPr>
          <a:xfrm>
            <a:off x="10515600" y="6356520"/>
            <a:ext cx="8344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24B0F4-9FD5-45F9-B0F0-538599B6CCA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Picture 36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37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Rectangle 73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74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75"/>
          <p:cNvSpPr/>
          <p:nvPr/>
        </p:nvSpPr>
        <p:spPr>
          <a:xfrm>
            <a:off x="82080" y="914400"/>
            <a:ext cx="12033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32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STEROID INJECTIONS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76"/>
          <p:cNvSpPr/>
          <p:nvPr/>
        </p:nvSpPr>
        <p:spPr>
          <a:xfrm>
            <a:off x="1013400" y="0"/>
            <a:ext cx="10296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PHARMACOLOGICAL MANAGEMENT (CONTD)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3"/>
          <a:stretch/>
        </p:blipFill>
        <p:spPr>
          <a:xfrm>
            <a:off x="2971800" y="1600200"/>
            <a:ext cx="7052400" cy="41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Rectangle 77"/>
          <p:cNvSpPr/>
          <p:nvPr/>
        </p:nvSpPr>
        <p:spPr>
          <a:xfrm>
            <a:off x="1828800" y="5943600"/>
            <a:ext cx="9975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000" strike="noStrike" u="sng">
                <a:solidFill>
                  <a:srgbClr val="ffff00"/>
                </a:solidFill>
                <a:effectLst/>
                <a:uFillTx/>
                <a:latin typeface="Ariel Black"/>
              </a:rPr>
              <a:t>AN IMAGE SHOWING THE SITE OF ADMINISTRATION OF STEROID INJECTIONS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Num" idx="6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D294B9-DAAB-463C-9212-76FA8A20E5CA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0" name="Picture 3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3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Rectangle 68"/>
          <p:cNvSpPr/>
          <p:nvPr/>
        </p:nvSpPr>
        <p:spPr>
          <a:xfrm>
            <a:off x="5289480" y="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9"/>
          <p:cNvSpPr/>
          <p:nvPr/>
        </p:nvSpPr>
        <p:spPr>
          <a:xfrm>
            <a:off x="5442480" y="6462000"/>
            <a:ext cx="152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70"/>
          <p:cNvSpPr/>
          <p:nvPr/>
        </p:nvSpPr>
        <p:spPr>
          <a:xfrm>
            <a:off x="36000" y="929880"/>
            <a:ext cx="12033000" cy="44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REPLACEMENT SURGERY (ARTHROPLASTY)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FUSION SURGERY (ARTHRODESIS)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OSTEOTOMY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JOINT REVISION SURGERY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71"/>
          <p:cNvSpPr/>
          <p:nvPr/>
        </p:nvSpPr>
        <p:spPr>
          <a:xfrm>
            <a:off x="3384000" y="45360"/>
            <a:ext cx="555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SURGICAL PROCEDURES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2E9D03-EB79-401A-B8EA-92D719225FC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7"/>
          <p:cNvSpPr/>
          <p:nvPr/>
        </p:nvSpPr>
        <p:spPr>
          <a:xfrm>
            <a:off x="4278240" y="2793240"/>
            <a:ext cx="3631680" cy="83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CONCLUSION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578DE4-3CF9-44CB-88D6-8C1236DAE33F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3" name="Picture 4" descr=""/>
          <p:cNvPicPr/>
          <p:nvPr/>
        </p:nvPicPr>
        <p:blipFill>
          <a:blip r:embed="rId1"/>
          <a:stretch/>
        </p:blipFill>
        <p:spPr>
          <a:xfrm>
            <a:off x="11186280" y="-1620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7"/>
          <p:cNvSpPr/>
          <p:nvPr/>
        </p:nvSpPr>
        <p:spPr>
          <a:xfrm>
            <a:off x="3334680" y="93600"/>
            <a:ext cx="5643720" cy="83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RECOMMENDATIONS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2"/>
          <p:cNvSpPr/>
          <p:nvPr/>
        </p:nvSpPr>
        <p:spPr>
          <a:xfrm>
            <a:off x="81360" y="1006920"/>
            <a:ext cx="1203300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CNS SHOULD ENSURE THAT SCREENING FOR OSTEOARTHRITIS IS CARRIED OUT DURING RECRUITMENT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COMMANDANT SHOULD DIRECT THE MOIC TO CREATE ROUTINE AWARENESS ON ARTHRITIS ESPECIALLY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HOD PHARMACY DEPARTMENT SHOULD CONTINUE TO PROVIDE POTENT ANALGESICS FOR THE MANAGEMENT OF OSTEOARTHRITIS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CATERING OFFICER SHOULD CONTINUE TO PROVIDE BALANCE DIET IN ORDER TO REDUCE BINGE EATING AMONG STUDENTS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8" name="Picture 42" descr="H:\CRAB\NN Logo.gif"/>
          <p:cNvPicPr/>
          <p:nvPr/>
        </p:nvPicPr>
        <p:blipFill>
          <a:blip r:embed="rId2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6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573DCD-99CF-4B04-A38C-4FC3B255DF5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Picture 41" descr=""/>
          <p:cNvPicPr/>
          <p:nvPr/>
        </p:nvPicPr>
        <p:blipFill>
          <a:blip r:embed="rId1"/>
          <a:stretch/>
        </p:blipFill>
        <p:spPr>
          <a:xfrm>
            <a:off x="11186280" y="-1620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Rectangle 86"/>
          <p:cNvSpPr/>
          <p:nvPr/>
        </p:nvSpPr>
        <p:spPr>
          <a:xfrm>
            <a:off x="5288400" y="0"/>
            <a:ext cx="15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87"/>
          <p:cNvSpPr/>
          <p:nvPr/>
        </p:nvSpPr>
        <p:spPr>
          <a:xfrm>
            <a:off x="5441400" y="6462000"/>
            <a:ext cx="15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88"/>
          <p:cNvSpPr/>
          <p:nvPr/>
        </p:nvSpPr>
        <p:spPr>
          <a:xfrm>
            <a:off x="4612680" y="93600"/>
            <a:ext cx="3090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REFERENCES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89"/>
          <p:cNvSpPr/>
          <p:nvPr/>
        </p:nvSpPr>
        <p:spPr>
          <a:xfrm>
            <a:off x="81360" y="1006920"/>
            <a:ext cx="1203300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1.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Lawrence RC and Helmick CG. Estimates of the prevalence of arthritis and selected musculoskeletal disorders in the United States. Arthritis and rheumatism. 1998;41(5):778-799.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2.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Hawker GA. Osteoarthritis is a serious disease. Clinical and experimental rheumatology. 2019;37(Suppl 120):3-6. 3.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3.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Culliford D. Future projections of total hip and knee arthroplasty in the UK: results from the UK Clinical Practice Research Datalink. Osteoarthritis and cartilage.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4.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Veronese N. Osteoarthritis and mortality: A prospective cohort study and systematic review with meta-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analysis. Seminars in arthritis and rheumatism. 2016;46(2):160-167.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Picture 40" descr="H:\CRAB\NN Logo.gif"/>
          <p:cNvPicPr/>
          <p:nvPr/>
        </p:nvPicPr>
        <p:blipFill>
          <a:blip r:embed="rId2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0141BF-C012-4B71-8EB5-1239B20F949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672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Rectangle 5"/>
          <p:cNvSpPr/>
          <p:nvPr/>
        </p:nvSpPr>
        <p:spPr>
          <a:xfrm>
            <a:off x="5141520" y="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6"/>
          <p:cNvSpPr/>
          <p:nvPr/>
        </p:nvSpPr>
        <p:spPr>
          <a:xfrm>
            <a:off x="5294520" y="6462000"/>
            <a:ext cx="18226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7"/>
          <p:cNvSpPr/>
          <p:nvPr/>
        </p:nvSpPr>
        <p:spPr>
          <a:xfrm>
            <a:off x="1378440" y="2578680"/>
            <a:ext cx="93484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THANK YOU FOR YOUR RAPT ATTENTION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8765</TotalTime>
  <Application>LibreOffice/25.2.4.3$Linux_X86_64 LibreOffice_project/520$Build-3</Application>
  <AppVersion>15.0000</AppVersion>
  <Words>1956</Words>
  <Paragraphs>374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2022-12-14T22:22:41Z</dcterms:created>
  <dc:creator>User</dc:creator>
  <dc:description/>
  <dc:language>en-US</dc:language>
  <cp:lastModifiedBy/>
  <dcterms:modified xsi:type="dcterms:W3CDTF">2025-07-11T20:56:12Z</dcterms:modified>
  <cp:revision>440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